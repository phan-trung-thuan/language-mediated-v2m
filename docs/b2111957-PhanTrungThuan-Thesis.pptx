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8"/>
  </p:notesMasterIdLst>
  <p:sldIdLst>
    <p:sldId id="256" r:id="rId2"/>
    <p:sldId id="265" r:id="rId3"/>
    <p:sldId id="259" r:id="rId4"/>
    <p:sldId id="271" r:id="rId5"/>
    <p:sldId id="297" r:id="rId6"/>
    <p:sldId id="275" r:id="rId7"/>
    <p:sldId id="283" r:id="rId8"/>
    <p:sldId id="285" r:id="rId9"/>
    <p:sldId id="286" r:id="rId10"/>
    <p:sldId id="287" r:id="rId11"/>
    <p:sldId id="298" r:id="rId12"/>
    <p:sldId id="296" r:id="rId13"/>
    <p:sldId id="299" r:id="rId14"/>
    <p:sldId id="300" r:id="rId15"/>
    <p:sldId id="272" r:id="rId16"/>
    <p:sldId id="301" r:id="rId17"/>
    <p:sldId id="302" r:id="rId18"/>
    <p:sldId id="261" r:id="rId19"/>
    <p:sldId id="263" r:id="rId20"/>
    <p:sldId id="288" r:id="rId21"/>
    <p:sldId id="269" r:id="rId22"/>
    <p:sldId id="266" r:id="rId23"/>
    <p:sldId id="267" r:id="rId24"/>
    <p:sldId id="268" r:id="rId25"/>
    <p:sldId id="295" r:id="rId26"/>
    <p:sldId id="273" r:id="rId27"/>
  </p:sldIdLst>
  <p:sldSz cx="12192000" cy="6858000"/>
  <p:notesSz cx="6858000" cy="9144000"/>
  <p:embeddedFontLst>
    <p:embeddedFont>
      <p:font typeface="Barlow" panose="00000500000000000000" pitchFamily="2" charset="0"/>
      <p:regular r:id="rId29"/>
      <p:bold r:id="rId30"/>
      <p:italic r:id="rId31"/>
      <p:boldItalic r:id="rId32"/>
    </p:embeddedFont>
    <p:embeddedFont>
      <p:font typeface="Cambria Math" panose="02040503050406030204" pitchFamily="18" charset="0"/>
      <p:regular r:id="rId33"/>
    </p:embeddedFont>
    <p:embeddedFont>
      <p:font typeface="K2D" panose="020B0604020202020204" charset="-34"/>
      <p:regular r:id="rId34"/>
      <p:bold r:id="rId35"/>
      <p:italic r:id="rId36"/>
      <p:boldItalic r:id="rId37"/>
    </p:embeddedFont>
    <p:embeddedFont>
      <p:font typeface="Readex Pro" panose="020B0604020202020204" charset="-78"/>
      <p:regular r:id="rId38"/>
      <p:bold r:id="rId3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uỳnh Như" initials="authorId_464682342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FEF"/>
    <a:srgbClr val="3660AC"/>
    <a:srgbClr val="678CCF"/>
    <a:srgbClr val="8AA7DA"/>
    <a:srgbClr val="FFFFFF"/>
    <a:srgbClr val="000000"/>
    <a:srgbClr val="FF0000"/>
    <a:srgbClr val="CCFFFF"/>
    <a:srgbClr val="1F5CAA"/>
    <a:srgbClr val="27AC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31" autoAdjust="0"/>
    <p:restoredTop sz="94660"/>
  </p:normalViewPr>
  <p:slideViewPr>
    <p:cSldViewPr snapToGrid="0">
      <p:cViewPr varScale="1">
        <p:scale>
          <a:sx n="63" d="100"/>
          <a:sy n="63" d="100"/>
        </p:scale>
        <p:origin x="884" y="5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To support retrieval methods, I designed a data pipeline with carefully chosen chunking and metadata. </a:t>
            </a:r>
          </a:p>
          <a:p>
            <a:r>
              <a:rPr lang="en-US"/>
              <a:t>First, I collect and clean data from trusted medical websites about STDs. </a:t>
            </a:r>
          </a:p>
          <a:p>
            <a:r>
              <a:rPr lang="en-US"/>
              <a:t>Then, I split the documents into chunks using a strategy that balances length and </a:t>
            </a:r>
          </a:p>
          <a:p>
            <a:r>
              <a:rPr lang="en-US"/>
              <a:t>semantic coherence, for example by paragraph or section. </a:t>
            </a:r>
          </a:p>
          <a:p>
            <a:r>
              <a:rPr lang="en-US"/>
              <a:t>Each chunk is stored with metadata such as source, language, topic, and section </a:t>
            </a:r>
          </a:p>
          <a:p>
            <a:r>
              <a:rPr lang="en-US"/>
              <a:t>heading. </a:t>
            </a:r>
          </a:p>
          <a:p>
            <a:r>
              <a:rPr lang="en-US"/>
              <a:t>These metadata fields are used for filtering and better retrieval, for example, </a:t>
            </a:r>
          </a:p>
          <a:p>
            <a:r>
              <a:rPr lang="en-US"/>
              <a:t>focusing on prevention, symptoms, or treatment guidelines. </a:t>
            </a:r>
          </a:p>
          <a:p>
            <a:r>
              <a:rPr lang="en-US"/>
              <a:t>Finally, I build BM25 indexes for lexical search and vector indexes in FAISS for </a:t>
            </a:r>
          </a:p>
          <a:p>
            <a:r>
              <a:rPr lang="en-US"/>
              <a:t>semantic search over these chunks 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en-US"/>
              <a:t>Data about medical articles will be recorded in CSV files, and these files are first split into</a:t>
            </a:r>
          </a:p>
          <a:p>
            <a:r>
              <a:rPr lang="en-US" altLang="en-US"/>
              <a:t>chunks of data – each chunk is a small paragraph with its own metadata.</a:t>
            </a:r>
          </a:p>
          <a:p>
            <a:r>
              <a:rPr lang="en-US" altLang="en-US"/>
              <a:t>The chunks are then indexed in two ways.</a:t>
            </a:r>
          </a:p>
          <a:p>
            <a:r>
              <a:rPr lang="en-US" altLang="en-US"/>
              <a:t>First, the BM25 retriever builds a classic keyword index over these chunks, so it can</a:t>
            </a:r>
          </a:p>
          <a:p>
            <a:r>
              <a:rPr lang="en-US" altLang="en-US"/>
              <a:t>quickly match exact terms like “chlamydia” or “condom use”.</a:t>
            </a:r>
          </a:p>
          <a:p>
            <a:r>
              <a:rPr lang="en-US" altLang="en-US"/>
              <a:t>At the same time, the chunks are converted into embedding vectors and stored in the</a:t>
            </a:r>
          </a:p>
          <a:p>
            <a:r>
              <a:rPr lang="en-US" altLang="en-US"/>
              <a:t>FAISS vector store.</a:t>
            </a:r>
          </a:p>
          <a:p>
            <a:r>
              <a:rPr lang="en-US" altLang="en-US"/>
              <a:t>When a user asks a question, the system doesn’t let the LLM answer alone.</a:t>
            </a:r>
          </a:p>
          <a:p>
            <a:r>
              <a:rPr lang="en-US" altLang="en-US"/>
              <a:t>Instead, it sends the query to the retrieval layer.</a:t>
            </a:r>
          </a:p>
          <a:p>
            <a:r>
              <a:rPr lang="en-US" altLang="en-US"/>
              <a:t>Using the nearest-neighbor search over the FAISS store, combined with the BM25</a:t>
            </a:r>
          </a:p>
          <a:p>
            <a:r>
              <a:rPr lang="en-US" altLang="en-US"/>
              <a:t>signal, the system finds the most relevant chunks from the knowledge base.</a:t>
            </a:r>
          </a:p>
          <a:p>
            <a:r>
              <a:rPr lang="en-US" altLang="en-US"/>
              <a:t>These retrieved chunks are then fed back into the LLM, which uses them as grounded</a:t>
            </a:r>
          </a:p>
          <a:p>
            <a:r>
              <a:rPr lang="en-US" altLang="en-US"/>
              <a:t>context to generate a safer and more accurate answer for the user.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en-US"/>
              <a:t>To merge the results from BM25 and FAISS, I apply a hybrid fusion method based</a:t>
            </a:r>
          </a:p>
          <a:p>
            <a:r>
              <a:rPr lang="en-US" altLang="en-US"/>
              <a:t>on Reciprocal Rank Fusion, or RRF.</a:t>
            </a:r>
          </a:p>
          <a:p>
            <a:r>
              <a:rPr lang="en-US" altLang="en-US"/>
              <a:t>The idea is to look at the rank of each document in each ranking list and sum them</a:t>
            </a:r>
          </a:p>
          <a:p>
            <a:r>
              <a:rPr lang="en-US" altLang="en-US"/>
              <a:t>using the formula:</a:t>
            </a:r>
          </a:p>
          <a:p>
            <a:r>
              <a:rPr lang="en-US" altLang="en-US"/>
              <a:t>score_RRF = Σ 1 / (k + rank</a:t>
            </a:r>
            <a:r>
              <a:rPr lang="" altLang="en-US"/>
              <a:t>ᵢ</a:t>
            </a:r>
            <a:r>
              <a:rPr lang="en-US" altLang="en-US"/>
              <a:t>) -&gt; “score R-R-F equals the sum over i of one over k</a:t>
            </a:r>
          </a:p>
          <a:p>
            <a:r>
              <a:rPr lang="en-US" altLang="en-US"/>
              <a:t>plus rank sub i.”</a:t>
            </a:r>
          </a:p>
          <a:p>
            <a:r>
              <a:rPr lang="en-US" altLang="en-US"/>
              <a:t>Here, documents that are highly ranked in both BM25 and FAISS will get a higher</a:t>
            </a:r>
          </a:p>
          <a:p>
            <a:r>
              <a:rPr lang="en-US" altLang="en-US"/>
              <a:t>final score.</a:t>
            </a:r>
          </a:p>
          <a:p>
            <a:r>
              <a:rPr lang="en-US" altLang="en-US"/>
              <a:t>This approach prioritizes consensus between the two retrieval methods and avoids</a:t>
            </a:r>
          </a:p>
          <a:p>
            <a:r>
              <a:rPr lang="en-US" altLang="en-US"/>
              <a:t>problems with different score scales.</a:t>
            </a:r>
          </a:p>
          <a:p>
            <a:r>
              <a:rPr lang="en-US" altLang="en-US"/>
              <a:t>In practice, this hybrid strategy helps the chatbot retrieve more relevant and robust</a:t>
            </a:r>
          </a:p>
          <a:p>
            <a:r>
              <a:rPr lang="en-US" altLang="en-US"/>
              <a:t>passages, especially for noisy or ambiguous user questions.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en-US"/>
              <a:t>Besides the standard hybrid RAG, I also explore GraphRAG.</a:t>
            </a:r>
          </a:p>
          <a:p>
            <a:r>
              <a:rPr lang="en-US" altLang="en-US"/>
              <a:t>The main idea of GraphRAG is to represent the knowledge base as a graph, where</a:t>
            </a:r>
          </a:p>
          <a:p>
            <a:r>
              <a:rPr lang="en-US" altLang="en-US"/>
              <a:t>nodes can be entities or chunks, and edges represent relationships such as “is related</a:t>
            </a:r>
          </a:p>
          <a:p>
            <a:r>
              <a:rPr lang="en-US" altLang="en-US"/>
              <a:t>to”, “explains”, or “belongs to the same topic”.</a:t>
            </a:r>
          </a:p>
          <a:p>
            <a:r>
              <a:rPr lang="en-US" altLang="en-US"/>
              <a:t>When answering a question, the system can first identify relevant nodes and then</a:t>
            </a:r>
          </a:p>
          <a:p>
            <a:r>
              <a:rPr lang="en-US" altLang="en-US"/>
              <a:t>expand along the graph, aggregating context from connected clusters instead of</a:t>
            </a:r>
          </a:p>
          <a:p>
            <a:r>
              <a:rPr lang="en-US" altLang="en-US"/>
              <a:t>treating every chunk independently.</a:t>
            </a:r>
          </a:p>
          <a:p>
            <a:r>
              <a:rPr lang="en-US" altLang="en-US"/>
              <a:t>This helps the chatbot generate answers that are not only locally relevant, but also</a:t>
            </a:r>
          </a:p>
          <a:p>
            <a:r>
              <a:rPr lang="en-US" altLang="en-US"/>
              <a:t>globally coherent, especially for multi-step or high-level questions like prevention</a:t>
            </a:r>
          </a:p>
          <a:p>
            <a:r>
              <a:rPr lang="en-US" altLang="en-US"/>
              <a:t>strategies or comparing different STDs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14FA6-EDF8-4261-4C12-112FE5F50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732176-0228-AB40-4826-7D99BD9283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F1A205-1D00-21DB-A8F8-3B4AAB61799C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en-US"/>
              <a:t>This slide presents the overall architecture of the proposed Hybrid RAG chatbot system.</a:t>
            </a:r>
          </a:p>
          <a:p>
            <a:endParaRPr lang="en-US" altLang="en-US"/>
          </a:p>
          <a:p>
            <a:r>
              <a:rPr lang="en-US" altLang="en-US"/>
              <a:t>First, the interaction starts from the user query on the web interface.</a:t>
            </a:r>
          </a:p>
          <a:p>
            <a:r>
              <a:rPr lang="en-US" altLang="en-US"/>
              <a:t>Each query, together with previous messages, is stored in the local chat history, allowing the system to maintain conversation context across turns.</a:t>
            </a:r>
          </a:p>
          <a:p>
            <a:endParaRPr lang="en-US" altLang="en-US"/>
          </a:p>
          <a:p>
            <a:r>
              <a:rPr lang="en-US" altLang="en-US"/>
              <a:t>The query is then sent to the backend implemented using FastAPI, which acts as the central controller of the system.</a:t>
            </a:r>
          </a:p>
          <a:p>
            <a:endParaRPr lang="en-US" altLang="en-US"/>
          </a:p>
          <a:p>
            <a:r>
              <a:rPr lang="en-US" altLang="en-US"/>
              <a:t>Inside the backend, the system performs authentication and session management, followed by safety and scope filtering.</a:t>
            </a:r>
          </a:p>
          <a:p>
            <a:r>
              <a:rPr lang="en-US" altLang="en-US"/>
              <a:t>Scope filtering restricts retrieval to allowed domains, such as STI-related content, specific languages, or predefined sections like prevention or treatment.</a:t>
            </a:r>
          </a:p>
          <a:p>
            <a:r>
              <a:rPr lang="en-US" altLang="en-US"/>
              <a:t>This step helps ensure both information safety and retrieval precision.</a:t>
            </a:r>
          </a:p>
          <a:p>
            <a:endParaRPr lang="en-US" altLang="en-US"/>
          </a:p>
          <a:p>
            <a:r>
              <a:rPr lang="en-US" altLang="en-US"/>
              <a:t>Next, the filtered query is passed to the hybrid retrieval module.</a:t>
            </a:r>
          </a:p>
          <a:p>
            <a:r>
              <a:rPr lang="en-US" altLang="en-US"/>
              <a:t>At this stage, the query is processed in two parallel ways:</a:t>
            </a:r>
          </a:p>
          <a:p>
            <a:endParaRPr lang="en-US" altLang="en-US"/>
          </a:p>
          <a:p>
            <a:r>
              <a:rPr lang="en-US" altLang="en-US"/>
              <a:t>A BM25 index performs lexical retrieval to capture exact keyword matches.</a:t>
            </a:r>
          </a:p>
          <a:p>
            <a:endParaRPr lang="en-US" altLang="en-US"/>
          </a:p>
          <a:p>
            <a:r>
              <a:rPr lang="en-US" altLang="en-US"/>
              <a:t>In parallel, the query is converted into an embedding using the text-embedding-3-small model, with L2 normalization, and searched against a FAISS vector index using inner-product similarity.</a:t>
            </a:r>
          </a:p>
          <a:p>
            <a:endParaRPr lang="en-US" altLang="en-US"/>
          </a:p>
          <a:p>
            <a:r>
              <a:rPr lang="en-US" altLang="en-US"/>
              <a:t>The results from BM25 and FAISS are then merged using Reciprocal Rank Fusion (RRF) to produce a final top-k ranked list of relevant chunks.</a:t>
            </a:r>
          </a:p>
          <a:p>
            <a:endParaRPr lang="en-US" altLang="en-US"/>
          </a:p>
          <a:p>
            <a:r>
              <a:rPr lang="en-US" altLang="en-US"/>
              <a:t>In addition, the architecture supports an optional GraphRAG module, which can further expand retrieval by traversing relationships between entities and documents, providing more global and structured context.</a:t>
            </a:r>
          </a:p>
          <a:p>
            <a:endParaRPr lang="en-US" altLang="en-US"/>
          </a:p>
          <a:p>
            <a:r>
              <a:rPr lang="en-US" altLang="en-US"/>
              <a:t>Finally, the retrieved context, together with the conversation memory, is sent to the LLM.</a:t>
            </a:r>
          </a:p>
          <a:p>
            <a:r>
              <a:rPr lang="en-US" altLang="en-US"/>
              <a:t>The LLM generates a grounded and safety-aware answer, which is returned to the user and stored back into the chat history for future turns.</a:t>
            </a:r>
          </a:p>
        </p:txBody>
      </p:sp>
    </p:spTree>
    <p:extLst>
      <p:ext uri="{BB962C8B-B14F-4D97-AF65-F5344CB8AC3E}">
        <p14:creationId xmlns:p14="http://schemas.microsoft.com/office/powerpoint/2010/main" val="9664966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en-US"/>
              <a:t>This slide presents the overall architecture of the proposed Hybrid RAG chatbot system.</a:t>
            </a:r>
          </a:p>
          <a:p>
            <a:endParaRPr lang="en-US" altLang="en-US"/>
          </a:p>
          <a:p>
            <a:r>
              <a:rPr lang="en-US" altLang="en-US"/>
              <a:t>First, the interaction starts from the user query on the web interface.</a:t>
            </a:r>
          </a:p>
          <a:p>
            <a:r>
              <a:rPr lang="en-US" altLang="en-US"/>
              <a:t>Each query, together with previous messages, is stored in the local chat history, allowing the system to maintain conversation context across turns.</a:t>
            </a:r>
          </a:p>
          <a:p>
            <a:endParaRPr lang="en-US" altLang="en-US"/>
          </a:p>
          <a:p>
            <a:r>
              <a:rPr lang="en-US" altLang="en-US"/>
              <a:t>The query is then sent to the backend implemented using FastAPI, which acts as the central controller of the system.</a:t>
            </a:r>
          </a:p>
          <a:p>
            <a:endParaRPr lang="en-US" altLang="en-US"/>
          </a:p>
          <a:p>
            <a:r>
              <a:rPr lang="en-US" altLang="en-US"/>
              <a:t>Inside the backend, the system performs authentication and session management, followed by safety and scope filtering.</a:t>
            </a:r>
          </a:p>
          <a:p>
            <a:r>
              <a:rPr lang="en-US" altLang="en-US"/>
              <a:t>Scope filtering restricts retrieval to allowed domains, such as STI-related content, specific languages, or predefined sections like prevention or treatment.</a:t>
            </a:r>
          </a:p>
          <a:p>
            <a:r>
              <a:rPr lang="en-US" altLang="en-US"/>
              <a:t>This step helps ensure both information safety and retrieval precision.</a:t>
            </a:r>
          </a:p>
          <a:p>
            <a:endParaRPr lang="en-US" altLang="en-US"/>
          </a:p>
          <a:p>
            <a:r>
              <a:rPr lang="en-US" altLang="en-US"/>
              <a:t>Next, the filtered query is passed to the hybrid retrieval module.</a:t>
            </a:r>
          </a:p>
          <a:p>
            <a:r>
              <a:rPr lang="en-US" altLang="en-US"/>
              <a:t>At this stage, the query is processed in two parallel ways:</a:t>
            </a:r>
          </a:p>
          <a:p>
            <a:endParaRPr lang="en-US" altLang="en-US"/>
          </a:p>
          <a:p>
            <a:r>
              <a:rPr lang="en-US" altLang="en-US"/>
              <a:t>A BM25 index performs lexical retrieval to capture exact keyword matches.</a:t>
            </a:r>
          </a:p>
          <a:p>
            <a:endParaRPr lang="en-US" altLang="en-US"/>
          </a:p>
          <a:p>
            <a:r>
              <a:rPr lang="en-US" altLang="en-US"/>
              <a:t>In parallel, the query is converted into an embedding using the text-embedding-3-small model, with L2 normalization, and searched against a FAISS vector index using inner-product similarity.</a:t>
            </a:r>
          </a:p>
          <a:p>
            <a:endParaRPr lang="en-US" altLang="en-US"/>
          </a:p>
          <a:p>
            <a:r>
              <a:rPr lang="en-US" altLang="en-US"/>
              <a:t>The results from BM25 and FAISS are then merged using Reciprocal Rank Fusion (RRF) to produce a final top-k ranked list of relevant chunks.</a:t>
            </a:r>
          </a:p>
          <a:p>
            <a:endParaRPr lang="en-US" altLang="en-US"/>
          </a:p>
          <a:p>
            <a:r>
              <a:rPr lang="en-US" altLang="en-US"/>
              <a:t>In addition, the architecture supports an optional GraphRAG module, which can further expand retrieval by traversing relationships between entities and documents, providing more global and structured context.</a:t>
            </a:r>
          </a:p>
          <a:p>
            <a:endParaRPr lang="en-US" altLang="en-US"/>
          </a:p>
          <a:p>
            <a:r>
              <a:rPr lang="en-US" altLang="en-US"/>
              <a:t>Finally, the retrieved context, together with the conversation memory, is sent to the LLM.</a:t>
            </a:r>
          </a:p>
          <a:p>
            <a:r>
              <a:rPr lang="en-US" altLang="en-US"/>
              <a:t>The LLM generates a grounded and safety-aware answer, which is returned to the user and stored back into the chat history for future turns.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FB011-A812-157D-0A1B-2FD5F6205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D32E98-250F-3023-4A58-F40F47C2D4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DA6E48-1B50-8DBB-F846-AF654E76104C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en-US"/>
              <a:t>This slide presents the overall architecture of the proposed Hybrid RAG chatbot system.</a:t>
            </a:r>
          </a:p>
          <a:p>
            <a:endParaRPr lang="en-US" altLang="en-US"/>
          </a:p>
          <a:p>
            <a:r>
              <a:rPr lang="en-US" altLang="en-US"/>
              <a:t>First, the interaction starts from the user query on the web interface.</a:t>
            </a:r>
          </a:p>
          <a:p>
            <a:r>
              <a:rPr lang="en-US" altLang="en-US"/>
              <a:t>Each query, together with previous messages, is stored in the local chat history, allowing the system to maintain conversation context across turns.</a:t>
            </a:r>
          </a:p>
          <a:p>
            <a:endParaRPr lang="en-US" altLang="en-US"/>
          </a:p>
          <a:p>
            <a:r>
              <a:rPr lang="en-US" altLang="en-US"/>
              <a:t>The query is then sent to the backend implemented using FastAPI, which acts as the central controller of the system.</a:t>
            </a:r>
          </a:p>
          <a:p>
            <a:endParaRPr lang="en-US" altLang="en-US"/>
          </a:p>
          <a:p>
            <a:r>
              <a:rPr lang="en-US" altLang="en-US"/>
              <a:t>Inside the backend, the system performs authentication and session management, followed by safety and scope filtering.</a:t>
            </a:r>
          </a:p>
          <a:p>
            <a:r>
              <a:rPr lang="en-US" altLang="en-US"/>
              <a:t>Scope filtering restricts retrieval to allowed domains, such as STI-related content, specific languages, or predefined sections like prevention or treatment.</a:t>
            </a:r>
          </a:p>
          <a:p>
            <a:r>
              <a:rPr lang="en-US" altLang="en-US"/>
              <a:t>This step helps ensure both information safety and retrieval precision.</a:t>
            </a:r>
          </a:p>
          <a:p>
            <a:endParaRPr lang="en-US" altLang="en-US"/>
          </a:p>
          <a:p>
            <a:r>
              <a:rPr lang="en-US" altLang="en-US"/>
              <a:t>Next, the filtered query is passed to the hybrid retrieval module.</a:t>
            </a:r>
          </a:p>
          <a:p>
            <a:r>
              <a:rPr lang="en-US" altLang="en-US"/>
              <a:t>At this stage, the query is processed in two parallel ways:</a:t>
            </a:r>
          </a:p>
          <a:p>
            <a:endParaRPr lang="en-US" altLang="en-US"/>
          </a:p>
          <a:p>
            <a:r>
              <a:rPr lang="en-US" altLang="en-US"/>
              <a:t>A BM25 index performs lexical retrieval to capture exact keyword matches.</a:t>
            </a:r>
          </a:p>
          <a:p>
            <a:endParaRPr lang="en-US" altLang="en-US"/>
          </a:p>
          <a:p>
            <a:r>
              <a:rPr lang="en-US" altLang="en-US"/>
              <a:t>In parallel, the query is converted into an embedding using the text-embedding-3-small model, with L2 normalization, and searched against a FAISS vector index using inner-product similarity.</a:t>
            </a:r>
          </a:p>
          <a:p>
            <a:endParaRPr lang="en-US" altLang="en-US"/>
          </a:p>
          <a:p>
            <a:r>
              <a:rPr lang="en-US" altLang="en-US"/>
              <a:t>The results from BM25 and FAISS are then merged using Reciprocal Rank Fusion (RRF) to produce a final top-k ranked list of relevant chunks.</a:t>
            </a:r>
          </a:p>
          <a:p>
            <a:endParaRPr lang="en-US" altLang="en-US"/>
          </a:p>
          <a:p>
            <a:r>
              <a:rPr lang="en-US" altLang="en-US"/>
              <a:t>In addition, the architecture supports an optional GraphRAG module, which can further expand retrieval by traversing relationships between entities and documents, providing more global and structured context.</a:t>
            </a:r>
          </a:p>
          <a:p>
            <a:endParaRPr lang="en-US" altLang="en-US"/>
          </a:p>
          <a:p>
            <a:r>
              <a:rPr lang="en-US" altLang="en-US"/>
              <a:t>Finally, the retrieved context, together with the conversation memory, is sent to the LLM.</a:t>
            </a:r>
          </a:p>
          <a:p>
            <a:r>
              <a:rPr lang="en-US" altLang="en-US"/>
              <a:t>The LLM generates a grounded and safety-aware answer, which is returned to the user and stored back into the chat history for future turns.</a:t>
            </a:r>
          </a:p>
        </p:txBody>
      </p:sp>
    </p:spTree>
    <p:extLst>
      <p:ext uri="{BB962C8B-B14F-4D97-AF65-F5344CB8AC3E}">
        <p14:creationId xmlns:p14="http://schemas.microsoft.com/office/powerpoint/2010/main" val="22768163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76373-DEA1-07BA-D962-D4A88E7A3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C75092-8BDF-9926-7C9D-859682F5E3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C262A2-A63D-5564-FC19-D84FD93BB51E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en-US"/>
              <a:t>This slide presents the overall architecture of the proposed Hybrid RAG chatbot system.</a:t>
            </a:r>
          </a:p>
          <a:p>
            <a:endParaRPr lang="en-US" altLang="en-US"/>
          </a:p>
          <a:p>
            <a:r>
              <a:rPr lang="en-US" altLang="en-US"/>
              <a:t>First, the interaction starts from the user query on the web interface.</a:t>
            </a:r>
          </a:p>
          <a:p>
            <a:r>
              <a:rPr lang="en-US" altLang="en-US"/>
              <a:t>Each query, together with previous messages, is stored in the local chat history, allowing the system to maintain conversation context across turns.</a:t>
            </a:r>
          </a:p>
          <a:p>
            <a:endParaRPr lang="en-US" altLang="en-US"/>
          </a:p>
          <a:p>
            <a:r>
              <a:rPr lang="en-US" altLang="en-US"/>
              <a:t>The query is then sent to the backend implemented using FastAPI, which acts as the central controller of the system.</a:t>
            </a:r>
          </a:p>
          <a:p>
            <a:endParaRPr lang="en-US" altLang="en-US"/>
          </a:p>
          <a:p>
            <a:r>
              <a:rPr lang="en-US" altLang="en-US"/>
              <a:t>Inside the backend, the system performs authentication and session management, followed by safety and scope filtering.</a:t>
            </a:r>
          </a:p>
          <a:p>
            <a:r>
              <a:rPr lang="en-US" altLang="en-US"/>
              <a:t>Scope filtering restricts retrieval to allowed domains, such as STI-related content, specific languages, or predefined sections like prevention or treatment.</a:t>
            </a:r>
          </a:p>
          <a:p>
            <a:r>
              <a:rPr lang="en-US" altLang="en-US"/>
              <a:t>This step helps ensure both information safety and retrieval precision.</a:t>
            </a:r>
          </a:p>
          <a:p>
            <a:endParaRPr lang="en-US" altLang="en-US"/>
          </a:p>
          <a:p>
            <a:r>
              <a:rPr lang="en-US" altLang="en-US"/>
              <a:t>Next, the filtered query is passed to the hybrid retrieval module.</a:t>
            </a:r>
          </a:p>
          <a:p>
            <a:r>
              <a:rPr lang="en-US" altLang="en-US"/>
              <a:t>At this stage, the query is processed in two parallel ways:</a:t>
            </a:r>
          </a:p>
          <a:p>
            <a:endParaRPr lang="en-US" altLang="en-US"/>
          </a:p>
          <a:p>
            <a:r>
              <a:rPr lang="en-US" altLang="en-US"/>
              <a:t>A BM25 index performs lexical retrieval to capture exact keyword matches.</a:t>
            </a:r>
          </a:p>
          <a:p>
            <a:endParaRPr lang="en-US" altLang="en-US"/>
          </a:p>
          <a:p>
            <a:r>
              <a:rPr lang="en-US" altLang="en-US"/>
              <a:t>In parallel, the query is converted into an embedding using the text-embedding-3-small model, with L2 normalization, and searched against a FAISS vector index using inner-product similarity.</a:t>
            </a:r>
          </a:p>
          <a:p>
            <a:endParaRPr lang="en-US" altLang="en-US"/>
          </a:p>
          <a:p>
            <a:r>
              <a:rPr lang="en-US" altLang="en-US"/>
              <a:t>The results from BM25 and FAISS are then merged using Reciprocal Rank Fusion (RRF) to produce a final top-k ranked list of relevant chunks.</a:t>
            </a:r>
          </a:p>
          <a:p>
            <a:endParaRPr lang="en-US" altLang="en-US"/>
          </a:p>
          <a:p>
            <a:r>
              <a:rPr lang="en-US" altLang="en-US"/>
              <a:t>In addition, the architecture supports an optional GraphRAG module, which can further expand retrieval by traversing relationships between entities and documents, providing more global and structured context.</a:t>
            </a:r>
          </a:p>
          <a:p>
            <a:endParaRPr lang="en-US" altLang="en-US"/>
          </a:p>
          <a:p>
            <a:r>
              <a:rPr lang="en-US" altLang="en-US"/>
              <a:t>Finally, the retrieved context, together with the conversation memory, is sent to the LLM.</a:t>
            </a:r>
          </a:p>
          <a:p>
            <a:r>
              <a:rPr lang="en-US" altLang="en-US"/>
              <a:t>The LLM generates a grounded and safety-aware answer, which is returned to the user and stored back into the chat history for future turns.</a:t>
            </a:r>
          </a:p>
        </p:txBody>
      </p:sp>
    </p:spTree>
    <p:extLst>
      <p:ext uri="{BB962C8B-B14F-4D97-AF65-F5344CB8AC3E}">
        <p14:creationId xmlns:p14="http://schemas.microsoft.com/office/powerpoint/2010/main" val="41240121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en-US"/>
              <a:t>To conclude, my thesis makes three main contributions.</a:t>
            </a:r>
          </a:p>
          <a:p>
            <a:r>
              <a:rPr lang="en-US" altLang="en-US"/>
              <a:t>First, it builds a bilingual STI chatbot that can answer sensitive questions in both</a:t>
            </a:r>
          </a:p>
          <a:p>
            <a:r>
              <a:rPr lang="en-US" altLang="en-US"/>
              <a:t>Vietnamese and English, using a carefully curated medical knowledge base as its main</a:t>
            </a:r>
          </a:p>
          <a:p>
            <a:r>
              <a:rPr lang="en-US" altLang="en-US"/>
              <a:t>source of truth.</a:t>
            </a:r>
          </a:p>
          <a:p>
            <a:r>
              <a:rPr lang="en-US" altLang="en-US"/>
              <a:t>Second, on the retrieval side, it designs and experimentally compares several strategies</a:t>
            </a:r>
          </a:p>
          <a:p>
            <a:r>
              <a:rPr lang="en-US" altLang="en-US"/>
              <a:t>— BM25 for lexical search, FAISS for semantic search, and a hybrid BM25 + FAISS</a:t>
            </a:r>
          </a:p>
          <a:p>
            <a:r>
              <a:rPr lang="en-US" altLang="en-US"/>
              <a:t>pipeline with RRF fusion.</a:t>
            </a:r>
          </a:p>
          <a:p>
            <a:r>
              <a:rPr lang="en-US" altLang="en-US"/>
              <a:t>The results show that the hybrid setup retrieves more relevant passages and helps the</a:t>
            </a:r>
          </a:p>
          <a:p>
            <a:r>
              <a:rPr lang="en-US" altLang="en-US"/>
              <a:t>model answer more accurately than using BM25 or FAISS alone.</a:t>
            </a:r>
          </a:p>
          <a:p>
            <a:r>
              <a:rPr lang="en-US" altLang="en-US"/>
              <a:t>Third, it implements a complete end-to-end system with a FastAPI backend, a MySQL</a:t>
            </a:r>
          </a:p>
          <a:p>
            <a:r>
              <a:rPr lang="en-US" altLang="en-US"/>
              <a:t>database, JWT-based authentication and a custom web interface, so the chatbot can actually</a:t>
            </a:r>
          </a:p>
          <a:p>
            <a:r>
              <a:rPr lang="en-US" altLang="en-US"/>
              <a:t>be deployed and extended in practice.</a:t>
            </a:r>
          </a:p>
          <a:p>
            <a:r>
              <a:rPr lang="en-US" altLang="en-US"/>
              <a:t>For future work, I would like to:</a:t>
            </a:r>
          </a:p>
          <a:p>
            <a:r>
              <a:rPr lang="en-US" altLang="en-US"/>
              <a:t>– Enrich the dataset with more local and up-to-date medical sources.</a:t>
            </a:r>
          </a:p>
          <a:p>
            <a:r>
              <a:rPr lang="en-US" altLang="en-US"/>
              <a:t>– Add stronger safety filters and clearer disclaimers to further reduce potential risks for</a:t>
            </a:r>
          </a:p>
          <a:p>
            <a:r>
              <a:rPr lang="en-US" altLang="en-US"/>
              <a:t>users.</a:t>
            </a:r>
          </a:p>
          <a:p>
            <a:r>
              <a:rPr lang="en-US" altLang="en-US"/>
              <a:t>– And implement the planned GraphRAG-style extension and evaluate the system using</a:t>
            </a:r>
          </a:p>
          <a:p>
            <a:r>
              <a:rPr lang="en-US" altLang="en-US"/>
              <a:t>standardized benchmarks or together with medical experts.</a:t>
            </a:r>
          </a:p>
          <a:p>
            <a:r>
              <a:rPr lang="en-US" altLang="en-US"/>
              <a:t>Overall, I hope this system is a small but meaningful step toward safer and more</a:t>
            </a:r>
          </a:p>
          <a:p>
            <a:r>
              <a:rPr lang="en-US" altLang="en-US"/>
              <a:t>accessible sexual-health education for young people.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FF3F6-AE37-BBBC-9FAA-73ABB8166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F1BE48-4078-9D41-52AA-A7F2032095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F15970-C7D7-57A5-111F-A813E0687142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en-US"/>
              <a:t>This slide presents the overall architecture of the proposed Hybrid RAG chatbot system.</a:t>
            </a:r>
          </a:p>
          <a:p>
            <a:endParaRPr lang="en-US" altLang="en-US"/>
          </a:p>
          <a:p>
            <a:r>
              <a:rPr lang="en-US" altLang="en-US"/>
              <a:t>First, the interaction starts from the user query on the web interface.</a:t>
            </a:r>
          </a:p>
          <a:p>
            <a:r>
              <a:rPr lang="en-US" altLang="en-US"/>
              <a:t>Each query, together with previous messages, is stored in the local chat history, allowing the system to maintain conversation context across turns.</a:t>
            </a:r>
          </a:p>
          <a:p>
            <a:endParaRPr lang="en-US" altLang="en-US"/>
          </a:p>
          <a:p>
            <a:r>
              <a:rPr lang="en-US" altLang="en-US"/>
              <a:t>The query is then sent to the backend implemented using FastAPI, which acts as the central controller of the system.</a:t>
            </a:r>
          </a:p>
          <a:p>
            <a:endParaRPr lang="en-US" altLang="en-US"/>
          </a:p>
          <a:p>
            <a:r>
              <a:rPr lang="en-US" altLang="en-US"/>
              <a:t>Inside the backend, the system performs authentication and session management, followed by safety and scope filtering.</a:t>
            </a:r>
          </a:p>
          <a:p>
            <a:r>
              <a:rPr lang="en-US" altLang="en-US"/>
              <a:t>Scope filtering restricts retrieval to allowed domains, such as STI-related content, specific languages, or predefined sections like prevention or treatment.</a:t>
            </a:r>
          </a:p>
          <a:p>
            <a:r>
              <a:rPr lang="en-US" altLang="en-US"/>
              <a:t>This step helps ensure both information safety and retrieval precision.</a:t>
            </a:r>
          </a:p>
          <a:p>
            <a:endParaRPr lang="en-US" altLang="en-US"/>
          </a:p>
          <a:p>
            <a:r>
              <a:rPr lang="en-US" altLang="en-US"/>
              <a:t>Next, the filtered query is passed to the hybrid retrieval module.</a:t>
            </a:r>
          </a:p>
          <a:p>
            <a:r>
              <a:rPr lang="en-US" altLang="en-US"/>
              <a:t>At this stage, the query is processed in two parallel ways:</a:t>
            </a:r>
          </a:p>
          <a:p>
            <a:endParaRPr lang="en-US" altLang="en-US"/>
          </a:p>
          <a:p>
            <a:r>
              <a:rPr lang="en-US" altLang="en-US"/>
              <a:t>A BM25 index performs lexical retrieval to capture exact keyword matches.</a:t>
            </a:r>
          </a:p>
          <a:p>
            <a:endParaRPr lang="en-US" altLang="en-US"/>
          </a:p>
          <a:p>
            <a:r>
              <a:rPr lang="en-US" altLang="en-US"/>
              <a:t>In parallel, the query is converted into an embedding using the text-embedding-3-small model, with L2 normalization, and searched against a FAISS vector index using inner-product similarity.</a:t>
            </a:r>
          </a:p>
          <a:p>
            <a:endParaRPr lang="en-US" altLang="en-US"/>
          </a:p>
          <a:p>
            <a:r>
              <a:rPr lang="en-US" altLang="en-US"/>
              <a:t>The results from BM25 and FAISS are then merged using Reciprocal Rank Fusion (RRF) to produce a final top-k ranked list of relevant chunks.</a:t>
            </a:r>
          </a:p>
          <a:p>
            <a:endParaRPr lang="en-US" altLang="en-US"/>
          </a:p>
          <a:p>
            <a:r>
              <a:rPr lang="en-US" altLang="en-US"/>
              <a:t>In addition, the architecture supports an optional GraphRAG module, which can further expand retrieval by traversing relationships between entities and documents, providing more global and structured context.</a:t>
            </a:r>
          </a:p>
          <a:p>
            <a:endParaRPr lang="en-US" altLang="en-US"/>
          </a:p>
          <a:p>
            <a:r>
              <a:rPr lang="en-US" altLang="en-US"/>
              <a:t>Finally, the retrieved context, together with the conversation memory, is sent to the LLM.</a:t>
            </a:r>
          </a:p>
          <a:p>
            <a:r>
              <a:rPr lang="en-US" altLang="en-US"/>
              <a:t>The LLM generates a grounded and safety-aware answer, which is returned to the user and stored back into the chat history for future turns.</a:t>
            </a:r>
          </a:p>
        </p:txBody>
      </p:sp>
    </p:spTree>
    <p:extLst>
      <p:ext uri="{BB962C8B-B14F-4D97-AF65-F5344CB8AC3E}">
        <p14:creationId xmlns:p14="http://schemas.microsoft.com/office/powerpoint/2010/main" val="4758248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0CAA1-6CDD-CFBD-363D-FD6C9D755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32DC72-91D0-201E-D5E6-6724EC9CEC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97224F-21B7-6F2A-D432-B1261D914408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en-US"/>
              <a:t>This slide presents the overall architecture of the proposed Hybrid RAG chatbot system.</a:t>
            </a:r>
          </a:p>
          <a:p>
            <a:endParaRPr lang="en-US" altLang="en-US"/>
          </a:p>
          <a:p>
            <a:r>
              <a:rPr lang="en-US" altLang="en-US"/>
              <a:t>First, the interaction starts from the user query on the web interface.</a:t>
            </a:r>
          </a:p>
          <a:p>
            <a:r>
              <a:rPr lang="en-US" altLang="en-US"/>
              <a:t>Each query, together with previous messages, is stored in the local chat history, allowing the system to maintain conversation context across turns.</a:t>
            </a:r>
          </a:p>
          <a:p>
            <a:endParaRPr lang="en-US" altLang="en-US"/>
          </a:p>
          <a:p>
            <a:r>
              <a:rPr lang="en-US" altLang="en-US"/>
              <a:t>The query is then sent to the backend implemented using FastAPI, which acts as the central controller of the system.</a:t>
            </a:r>
          </a:p>
          <a:p>
            <a:endParaRPr lang="en-US" altLang="en-US"/>
          </a:p>
          <a:p>
            <a:r>
              <a:rPr lang="en-US" altLang="en-US"/>
              <a:t>Inside the backend, the system performs authentication and session management, followed by safety and scope filtering.</a:t>
            </a:r>
          </a:p>
          <a:p>
            <a:r>
              <a:rPr lang="en-US" altLang="en-US"/>
              <a:t>Scope filtering restricts retrieval to allowed domains, such as STI-related content, specific languages, or predefined sections like prevention or treatment.</a:t>
            </a:r>
          </a:p>
          <a:p>
            <a:r>
              <a:rPr lang="en-US" altLang="en-US"/>
              <a:t>This step helps ensure both information safety and retrieval precision.</a:t>
            </a:r>
          </a:p>
          <a:p>
            <a:endParaRPr lang="en-US" altLang="en-US"/>
          </a:p>
          <a:p>
            <a:r>
              <a:rPr lang="en-US" altLang="en-US"/>
              <a:t>Next, the filtered query is passed to the hybrid retrieval module.</a:t>
            </a:r>
          </a:p>
          <a:p>
            <a:r>
              <a:rPr lang="en-US" altLang="en-US"/>
              <a:t>At this stage, the query is processed in two parallel ways:</a:t>
            </a:r>
          </a:p>
          <a:p>
            <a:endParaRPr lang="en-US" altLang="en-US"/>
          </a:p>
          <a:p>
            <a:r>
              <a:rPr lang="en-US" altLang="en-US"/>
              <a:t>A BM25 index performs lexical retrieval to capture exact keyword matches.</a:t>
            </a:r>
          </a:p>
          <a:p>
            <a:endParaRPr lang="en-US" altLang="en-US"/>
          </a:p>
          <a:p>
            <a:r>
              <a:rPr lang="en-US" altLang="en-US"/>
              <a:t>In parallel, the query is converted into an embedding using the text-embedding-3-small model, with L2 normalization, and searched against a FAISS vector index using inner-product similarity.</a:t>
            </a:r>
          </a:p>
          <a:p>
            <a:endParaRPr lang="en-US" altLang="en-US"/>
          </a:p>
          <a:p>
            <a:r>
              <a:rPr lang="en-US" altLang="en-US"/>
              <a:t>The results from BM25 and FAISS are then merged using Reciprocal Rank Fusion (RRF) to produce a final top-k ranked list of relevant chunks.</a:t>
            </a:r>
          </a:p>
          <a:p>
            <a:endParaRPr lang="en-US" altLang="en-US"/>
          </a:p>
          <a:p>
            <a:r>
              <a:rPr lang="en-US" altLang="en-US"/>
              <a:t>In addition, the architecture supports an optional GraphRAG module, which can further expand retrieval by traversing relationships between entities and documents, providing more global and structured context.</a:t>
            </a:r>
          </a:p>
          <a:p>
            <a:endParaRPr lang="en-US" altLang="en-US"/>
          </a:p>
          <a:p>
            <a:r>
              <a:rPr lang="en-US" altLang="en-US"/>
              <a:t>Finally, the retrieved context, together with the conversation memory, is sent to the LLM.</a:t>
            </a:r>
          </a:p>
          <a:p>
            <a:r>
              <a:rPr lang="en-US" altLang="en-US"/>
              <a:t>The LLM generates a grounded and safety-aware answer, which is returned to the user and stored back into the chat history for future turns.</a:t>
            </a:r>
          </a:p>
        </p:txBody>
      </p:sp>
    </p:spTree>
    <p:extLst>
      <p:ext uri="{BB962C8B-B14F-4D97-AF65-F5344CB8AC3E}">
        <p14:creationId xmlns:p14="http://schemas.microsoft.com/office/powerpoint/2010/main" val="5379045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1F5CA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ctrTitle" hasCustomPrompt="1"/>
          </p:nvPr>
        </p:nvSpPr>
        <p:spPr>
          <a:xfrm>
            <a:off x="493144" y="2008231"/>
            <a:ext cx="11205713" cy="1855310"/>
          </a:xfrm>
        </p:spPr>
        <p:txBody>
          <a:bodyPr anchor="b" anchorCtr="0">
            <a:normAutofit/>
          </a:bodyPr>
          <a:lstStyle>
            <a:lvl1pPr algn="ctr">
              <a:lnSpc>
                <a:spcPct val="100000"/>
              </a:lnSpc>
              <a:defRPr sz="4400" b="1" baseline="0">
                <a:solidFill>
                  <a:schemeClr val="bg1"/>
                </a:solidFill>
                <a:latin typeface="K2D" panose="00000500000000000000" pitchFamily="2" charset="-34"/>
                <a:cs typeface="K2D" panose="00000500000000000000" pitchFamily="2" charset="-34"/>
              </a:defRPr>
            </a:lvl1pPr>
          </a:lstStyle>
          <a:p>
            <a:r>
              <a:rPr lang="en-US"/>
              <a:t>TIÊU ĐỀ CHÍNH</a:t>
            </a:r>
            <a:endParaRPr lang="en-US" dirty="0"/>
          </a:p>
        </p:txBody>
      </p:sp>
      <p:sp>
        <p:nvSpPr>
          <p:cNvPr id="2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3144" y="3863542"/>
            <a:ext cx="11205713" cy="1036706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3200" baseline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Tiêu đề phụ</a:t>
            </a:r>
            <a:endParaRPr lang="en-US" dirty="0"/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565071" y="682737"/>
            <a:ext cx="1061859" cy="1062060"/>
          </a:xfrm>
          <a:prstGeom prst="rect">
            <a:avLst/>
          </a:prstGeom>
        </p:spPr>
      </p:pic>
      <p:sp>
        <p:nvSpPr>
          <p:cNvPr id="22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93144" y="4924425"/>
            <a:ext cx="11205713" cy="492125"/>
          </a:xfrm>
        </p:spPr>
        <p:txBody>
          <a:bodyPr>
            <a:noAutofit/>
          </a:bodyPr>
          <a:lstStyle>
            <a:lvl1pPr marL="0" indent="0" algn="ctr">
              <a:buNone/>
              <a:defRPr sz="2000" b="0" baseline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  <a:latin typeface="Barlow" panose="00000500000000000000" pitchFamily="2" charset="0"/>
              </a:defRPr>
            </a:lvl2pPr>
            <a:lvl3pPr marL="914400" indent="0">
              <a:buNone/>
              <a:defRPr sz="1200">
                <a:solidFill>
                  <a:schemeClr val="bg1"/>
                </a:solidFill>
                <a:latin typeface="Barlow" panose="00000500000000000000" pitchFamily="2" charset="0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5pPr>
          </a:lstStyle>
          <a:p>
            <a:pPr lvl="0"/>
            <a:r>
              <a:rPr lang="en-US"/>
              <a:t>Tên tác giả hoặc ngày tháng</a:t>
            </a:r>
            <a:endParaRPr lang="en-US" dirty="0"/>
          </a:p>
        </p:txBody>
      </p:sp>
      <p:sp>
        <p:nvSpPr>
          <p:cNvPr id="25" name="Rectangle 24"/>
          <p:cNvSpPr/>
          <p:nvPr userDrawn="1"/>
        </p:nvSpPr>
        <p:spPr>
          <a:xfrm>
            <a:off x="4998720" y="4782423"/>
            <a:ext cx="2194560" cy="27432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grpSp>
        <p:nvGrpSpPr>
          <p:cNvPr id="7" name="Group 6"/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2" name="Rectangle: Rounded Corners 1"/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: Rounded Corners 4"/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/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85036" y="6478829"/>
            <a:ext cx="9326880" cy="118101"/>
          </a:xfrm>
          <a:prstGeom prst="rect">
            <a:avLst/>
          </a:prstGeom>
        </p:spPr>
      </p:pic>
      <p:sp>
        <p:nvSpPr>
          <p:cNvPr id="9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27AC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4" name="TextBox 13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chemeClr val="bg1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chemeClr val="bg1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6" name="TextBox 15"/>
          <p:cNvSpPr txBox="1"/>
          <p:nvPr userDrawn="1"/>
        </p:nvSpPr>
        <p:spPr>
          <a:xfrm>
            <a:off x="10529596" y="6467840"/>
            <a:ext cx="14830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17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1/27/2026</a:t>
            </a:fld>
            <a:endParaRPr lang="en-US"/>
          </a:p>
        </p:txBody>
      </p:sp>
      <p:sp>
        <p:nvSpPr>
          <p:cNvPr id="1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8" dur="1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0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ctrTitle" hasCustomPrompt="1"/>
          </p:nvPr>
        </p:nvSpPr>
        <p:spPr>
          <a:xfrm>
            <a:off x="493144" y="2008231"/>
            <a:ext cx="11205713" cy="1855310"/>
          </a:xfrm>
        </p:spPr>
        <p:txBody>
          <a:bodyPr anchor="b" anchorCtr="0">
            <a:normAutofit/>
          </a:bodyPr>
          <a:lstStyle>
            <a:lvl1pPr algn="ctr">
              <a:lnSpc>
                <a:spcPct val="100000"/>
              </a:lnSpc>
              <a:defRPr sz="4400" b="1" baseline="0">
                <a:solidFill>
                  <a:srgbClr val="0070C0"/>
                </a:solidFill>
                <a:latin typeface="K2D" panose="00000500000000000000" pitchFamily="2" charset="-34"/>
                <a:cs typeface="K2D" panose="00000500000000000000" pitchFamily="2" charset="-34"/>
              </a:defRPr>
            </a:lvl1pPr>
          </a:lstStyle>
          <a:p>
            <a:r>
              <a:rPr lang="en-US"/>
              <a:t>TIÊU ĐỀ CHÍNH</a:t>
            </a:r>
            <a:endParaRPr lang="en-US" dirty="0"/>
          </a:p>
        </p:txBody>
      </p:sp>
      <p:sp>
        <p:nvSpPr>
          <p:cNvPr id="2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3144" y="3863542"/>
            <a:ext cx="11205713" cy="1036706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3200" baseline="0">
                <a:solidFill>
                  <a:srgbClr val="0070C0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Tiêu đề phụ</a:t>
            </a:r>
            <a:endParaRPr lang="en-US" dirty="0"/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565071" y="682679"/>
            <a:ext cx="1061859" cy="1062177"/>
          </a:xfrm>
          <a:prstGeom prst="rect">
            <a:avLst/>
          </a:prstGeom>
        </p:spPr>
      </p:pic>
      <p:sp>
        <p:nvSpPr>
          <p:cNvPr id="22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93144" y="4924425"/>
            <a:ext cx="11205713" cy="492125"/>
          </a:xfrm>
        </p:spPr>
        <p:txBody>
          <a:bodyPr>
            <a:noAutofit/>
          </a:bodyPr>
          <a:lstStyle>
            <a:lvl1pPr marL="0" indent="0" algn="ctr">
              <a:buNone/>
              <a:defRPr sz="2000" b="0" baseline="0">
                <a:solidFill>
                  <a:srgbClr val="00AFEF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  <a:latin typeface="Barlow" panose="00000500000000000000" pitchFamily="2" charset="0"/>
              </a:defRPr>
            </a:lvl2pPr>
            <a:lvl3pPr marL="914400" indent="0">
              <a:buNone/>
              <a:defRPr sz="1200">
                <a:solidFill>
                  <a:schemeClr val="bg1"/>
                </a:solidFill>
                <a:latin typeface="Barlow" panose="00000500000000000000" pitchFamily="2" charset="0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5pPr>
          </a:lstStyle>
          <a:p>
            <a:pPr lvl="0"/>
            <a:r>
              <a:rPr lang="en-US"/>
              <a:t>Tên tác giả hoặc ngày tháng</a:t>
            </a:r>
            <a:endParaRPr lang="en-US" dirty="0"/>
          </a:p>
        </p:txBody>
      </p:sp>
      <p:sp>
        <p:nvSpPr>
          <p:cNvPr id="25" name="Rectangle 24"/>
          <p:cNvSpPr/>
          <p:nvPr userDrawn="1"/>
        </p:nvSpPr>
        <p:spPr>
          <a:xfrm>
            <a:off x="4998720" y="4782423"/>
            <a:ext cx="2194560" cy="27432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/>
          <p:cNvSpPr txBox="1"/>
          <p:nvPr userDrawn="1"/>
        </p:nvSpPr>
        <p:spPr>
          <a:xfrm>
            <a:off x="10529591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1/27/2026</a:t>
            </a:fld>
            <a:endParaRPr lang="en-US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8" dur="1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0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no logo">
    <p:bg>
      <p:bgPr>
        <a:solidFill>
          <a:srgbClr val="1F5CA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ctrTitle" hasCustomPrompt="1"/>
          </p:nvPr>
        </p:nvSpPr>
        <p:spPr>
          <a:xfrm>
            <a:off x="493144" y="686872"/>
            <a:ext cx="11205713" cy="2200204"/>
          </a:xfrm>
        </p:spPr>
        <p:txBody>
          <a:bodyPr anchor="b" anchorCtr="0">
            <a:normAutofit/>
          </a:bodyPr>
          <a:lstStyle>
            <a:lvl1pPr algn="ctr">
              <a:lnSpc>
                <a:spcPct val="100000"/>
              </a:lnSpc>
              <a:defRPr sz="4400" b="1" baseline="0">
                <a:solidFill>
                  <a:schemeClr val="bg1"/>
                </a:solidFill>
                <a:latin typeface="K2D" panose="00000500000000000000" pitchFamily="2" charset="-34"/>
                <a:cs typeface="K2D" panose="00000500000000000000" pitchFamily="2" charset="-34"/>
              </a:defRPr>
            </a:lvl1pPr>
          </a:lstStyle>
          <a:p>
            <a:r>
              <a:rPr lang="en-US"/>
              <a:t>TIÊU ĐỀ CHÍNH</a:t>
            </a:r>
            <a:endParaRPr lang="en-US" dirty="0"/>
          </a:p>
        </p:txBody>
      </p:sp>
      <p:sp>
        <p:nvSpPr>
          <p:cNvPr id="2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3144" y="2887077"/>
            <a:ext cx="11205713" cy="1036706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3200" baseline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Tiêu đề phụ</a:t>
            </a:r>
            <a:endParaRPr lang="en-US" dirty="0"/>
          </a:p>
        </p:txBody>
      </p:sp>
      <p:sp>
        <p:nvSpPr>
          <p:cNvPr id="22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93144" y="3947960"/>
            <a:ext cx="11205713" cy="492125"/>
          </a:xfrm>
        </p:spPr>
        <p:txBody>
          <a:bodyPr>
            <a:noAutofit/>
          </a:bodyPr>
          <a:lstStyle>
            <a:lvl1pPr marL="0" indent="0" algn="ctr">
              <a:buNone/>
              <a:defRPr sz="2000" b="0" baseline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  <a:latin typeface="Barlow" panose="00000500000000000000" pitchFamily="2" charset="0"/>
              </a:defRPr>
            </a:lvl2pPr>
            <a:lvl3pPr marL="914400" indent="0">
              <a:buNone/>
              <a:defRPr sz="1200">
                <a:solidFill>
                  <a:schemeClr val="bg1"/>
                </a:solidFill>
                <a:latin typeface="Barlow" panose="00000500000000000000" pitchFamily="2" charset="0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5pPr>
          </a:lstStyle>
          <a:p>
            <a:pPr lvl="0"/>
            <a:r>
              <a:rPr lang="en-US"/>
              <a:t>Tên tác giả hoặc ngày tháng</a:t>
            </a:r>
            <a:endParaRPr lang="en-US" dirty="0"/>
          </a:p>
        </p:txBody>
      </p:sp>
      <p:sp>
        <p:nvSpPr>
          <p:cNvPr id="25" name="Rectangle 24"/>
          <p:cNvSpPr/>
          <p:nvPr userDrawn="1"/>
        </p:nvSpPr>
        <p:spPr>
          <a:xfrm>
            <a:off x="4998720" y="3805958"/>
            <a:ext cx="2194560" cy="27432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grpSp>
        <p:nvGrpSpPr>
          <p:cNvPr id="2" name="Group 1"/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4" name="Rectangle: Rounded Corners 3"/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: Rounded Corners 9"/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: Rounded Corners 10"/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85036" y="6478829"/>
            <a:ext cx="9326880" cy="118101"/>
          </a:xfrm>
          <a:prstGeom prst="rect">
            <a:avLst/>
          </a:prstGeom>
        </p:spPr>
      </p:pic>
      <p:sp>
        <p:nvSpPr>
          <p:cNvPr id="5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27AC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7" name="Group 6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chemeClr val="bg1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chemeClr val="bg1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27" name="TextBox 26"/>
          <p:cNvSpPr txBox="1"/>
          <p:nvPr userDrawn="1"/>
        </p:nvSpPr>
        <p:spPr>
          <a:xfrm>
            <a:off x="10529596" y="6467840"/>
            <a:ext cx="14830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28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1/27/2026</a:t>
            </a:fld>
            <a:endParaRPr lang="en-US"/>
          </a:p>
        </p:txBody>
      </p:sp>
      <p:sp>
        <p:nvSpPr>
          <p:cNvPr id="2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8" dur="1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0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hite P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1443567" y="1773238"/>
            <a:ext cx="10029565" cy="1655762"/>
          </a:xfrm>
        </p:spPr>
        <p:txBody>
          <a:bodyPr anchor="b" anchorCtr="0">
            <a:noAutofit/>
          </a:bodyPr>
          <a:lstStyle>
            <a:lvl1pPr algn="l">
              <a:defRPr sz="4000" b="1" baseline="0">
                <a:solidFill>
                  <a:srgbClr val="1F5CA9"/>
                </a:solidFill>
                <a:latin typeface="K2D" panose="00000500000000000000" pitchFamily="2" charset="-34"/>
              </a:defRPr>
            </a:lvl1pPr>
          </a:lstStyle>
          <a:p>
            <a:r>
              <a:rPr lang="en-US"/>
              <a:t>Tiêu đề chính</a:t>
            </a:r>
            <a:endParaRPr lang="en-US" dirty="0"/>
          </a:p>
        </p:txBody>
      </p:sp>
      <p:sp>
        <p:nvSpPr>
          <p:cNvPr id="18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1443566" y="3428999"/>
            <a:ext cx="10029565" cy="796491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3200" baseline="0">
                <a:solidFill>
                  <a:srgbClr val="00AFEF"/>
                </a:solidFill>
                <a:latin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Tiêu đề phụ</a:t>
            </a:r>
            <a:endParaRPr lang="en-US" dirty="0"/>
          </a:p>
        </p:txBody>
      </p:sp>
      <p:pic>
        <p:nvPicPr>
          <p:cNvPr id="30" name="Picture 2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466" y="2942152"/>
            <a:ext cx="292100" cy="2921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1/27/2026</a:t>
            </a:fld>
            <a:endParaRPr 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lue Background"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ctrTitle" hasCustomPrompt="1"/>
          </p:nvPr>
        </p:nvSpPr>
        <p:spPr>
          <a:xfrm>
            <a:off x="1443567" y="1773238"/>
            <a:ext cx="10029565" cy="1655762"/>
          </a:xfrm>
        </p:spPr>
        <p:txBody>
          <a:bodyPr anchor="b" anchorCtr="0">
            <a:noAutofit/>
          </a:bodyPr>
          <a:lstStyle>
            <a:lvl1pPr algn="l">
              <a:defRPr sz="4000" b="1" baseline="0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r>
              <a:rPr lang="en-US"/>
              <a:t>Tiêu đề chính</a:t>
            </a:r>
            <a:endParaRPr lang="en-US" dirty="0"/>
          </a:p>
        </p:txBody>
      </p:sp>
      <p:sp>
        <p:nvSpPr>
          <p:cNvPr id="2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443566" y="3428999"/>
            <a:ext cx="10029565" cy="796491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3200" baseline="0">
                <a:solidFill>
                  <a:schemeClr val="bg1"/>
                </a:solidFill>
                <a:latin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Tiêu đề phụ</a:t>
            </a:r>
            <a:endParaRPr lang="en-US" dirty="0"/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066" y="2914650"/>
            <a:ext cx="364657" cy="364657"/>
          </a:xfrm>
          <a:prstGeom prst="rect">
            <a:avLst/>
          </a:prstGeom>
        </p:spPr>
      </p:pic>
      <p:grpSp>
        <p:nvGrpSpPr>
          <p:cNvPr id="2" name="Group 1"/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3" name="Rectangle: Rounded Corners 2"/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: Rounded Corners 3"/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: Rounded Corners 4"/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99612" y="6488270"/>
            <a:ext cx="9336024" cy="118110"/>
          </a:xfrm>
          <a:prstGeom prst="rect">
            <a:avLst/>
          </a:prstGeom>
        </p:spPr>
      </p:pic>
      <p:sp>
        <p:nvSpPr>
          <p:cNvPr id="7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11577955" y="6548263"/>
            <a:ext cx="340536" cy="17037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0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2" name="TextBox 11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chemeClr val="bg1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chemeClr val="bg1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4" name="TextBox 13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22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1/27/2026</a:t>
            </a:fld>
            <a:endParaRPr lang="en-US"/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152005"/>
            <a:ext cx="10515600" cy="1325563"/>
          </a:xfrm>
        </p:spPr>
        <p:txBody>
          <a:bodyPr>
            <a:normAutofit/>
          </a:bodyPr>
          <a:lstStyle>
            <a:lvl1pPr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 algn="just">
              <a:lnSpc>
                <a:spcPct val="100000"/>
              </a:lnSpc>
              <a:spcBef>
                <a:spcPts val="1200"/>
              </a:spcBef>
              <a:buNone/>
              <a:defRPr sz="2400">
                <a:latin typeface="Readex Pro" pitchFamily="2" charset="-78"/>
                <a:cs typeface="Readex Pro" pitchFamily="2" charset="-78"/>
              </a:defRPr>
            </a:lvl1pPr>
            <a:lvl2pPr marL="457200" indent="0" algn="just">
              <a:lnSpc>
                <a:spcPct val="100000"/>
              </a:lnSpc>
              <a:buNone/>
              <a:defRPr sz="2400">
                <a:latin typeface="Readex Pro" pitchFamily="2" charset="-78"/>
                <a:cs typeface="Readex Pro" pitchFamily="2" charset="-78"/>
              </a:defRPr>
            </a:lvl2pPr>
            <a:lvl3pPr marL="914400" indent="0" algn="just">
              <a:lnSpc>
                <a:spcPct val="100000"/>
              </a:lnSpc>
              <a:buNone/>
              <a:defRPr sz="2000">
                <a:latin typeface="Readex Pro" pitchFamily="2" charset="-78"/>
                <a:cs typeface="Readex Pro" pitchFamily="2" charset="-78"/>
              </a:defRPr>
            </a:lvl3pPr>
            <a:lvl4pPr marL="1371600" indent="0" algn="just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4pPr>
            <a:lvl5pPr marL="1828800" indent="0" algn="just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56757"/>
            <a:ext cx="292100" cy="2921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4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7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9" name="TextBox 8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1/27/2026</a:t>
            </a:fld>
            <a:endParaRPr lang="en-US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152005"/>
            <a:ext cx="10515600" cy="1325563"/>
          </a:xfrm>
        </p:spPr>
        <p:txBody>
          <a:bodyPr>
            <a:normAutofit/>
          </a:bodyPr>
          <a:lstStyle>
            <a:lvl1pPr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 algn="just">
              <a:lnSpc>
                <a:spcPct val="100000"/>
              </a:lnSpc>
              <a:spcBef>
                <a:spcPts val="1200"/>
              </a:spcBef>
              <a:buNone/>
              <a:defRPr sz="2400">
                <a:latin typeface="Readex Pro" pitchFamily="2" charset="-78"/>
                <a:cs typeface="Readex Pro" pitchFamily="2" charset="-78"/>
              </a:defRPr>
            </a:lvl1pPr>
            <a:lvl2pPr marL="457200" indent="0" algn="just">
              <a:lnSpc>
                <a:spcPct val="100000"/>
              </a:lnSpc>
              <a:buNone/>
              <a:defRPr sz="2400">
                <a:latin typeface="Readex Pro" pitchFamily="2" charset="-78"/>
                <a:cs typeface="Readex Pro" pitchFamily="2" charset="-78"/>
              </a:defRPr>
            </a:lvl2pPr>
            <a:lvl3pPr marL="914400" indent="0" algn="just">
              <a:lnSpc>
                <a:spcPct val="100000"/>
              </a:lnSpc>
              <a:buNone/>
              <a:defRPr sz="2000">
                <a:latin typeface="Readex Pro" pitchFamily="2" charset="-78"/>
                <a:cs typeface="Readex Pro" pitchFamily="2" charset="-78"/>
              </a:defRPr>
            </a:lvl3pPr>
            <a:lvl4pPr marL="1371600" indent="0" algn="just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4pPr>
            <a:lvl5pPr marL="1828800" indent="0" algn="just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>
            <a:alphaModFix amt="85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56757"/>
            <a:ext cx="292100" cy="2921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4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7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9" name="TextBox 8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4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1/27/2026</a:t>
            </a:fld>
            <a:endParaRPr lang="en-US"/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eft - Placeholder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2">
            <a:alphaModFix amt="85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sp>
        <p:nvSpPr>
          <p:cNvPr id="16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514350" y="1125114"/>
            <a:ext cx="4467226" cy="1655762"/>
          </a:xfrm>
        </p:spPr>
        <p:txBody>
          <a:bodyPr anchor="b" anchorCtr="0">
            <a:noAutofit/>
          </a:bodyPr>
          <a:lstStyle>
            <a:lvl1pPr algn="l"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8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514348" y="2885650"/>
            <a:ext cx="4467229" cy="2244548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 </a:t>
            </a:r>
            <a:endParaRPr lang="en-US" dirty="0"/>
          </a:p>
        </p:txBody>
      </p:sp>
      <p:sp>
        <p:nvSpPr>
          <p:cNvPr id="19" name="Content Placeholder 9"/>
          <p:cNvSpPr>
            <a:spLocks noGrp="1"/>
          </p:cNvSpPr>
          <p:nvPr userDrawn="1">
            <p:ph sz="quarter" idx="12" hasCustomPrompt="1"/>
          </p:nvPr>
        </p:nvSpPr>
        <p:spPr>
          <a:xfrm>
            <a:off x="5667375" y="1125114"/>
            <a:ext cx="5381626" cy="3952875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1/27/2026</a:t>
            </a:fld>
            <a:endParaRPr 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ceholder Left - Title Righ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sp>
        <p:nvSpPr>
          <p:cNvPr id="16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6737350" y="1332588"/>
            <a:ext cx="4467226" cy="1655762"/>
          </a:xfrm>
        </p:spPr>
        <p:txBody>
          <a:bodyPr anchor="b" anchorCtr="0">
            <a:noAutofit/>
          </a:bodyPr>
          <a:lstStyle>
            <a:lvl1pPr algn="l"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8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6737348" y="3093124"/>
            <a:ext cx="4467229" cy="2192339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19" name="Content Placeholder 9"/>
          <p:cNvSpPr>
            <a:spLocks noGrp="1"/>
          </p:cNvSpPr>
          <p:nvPr userDrawn="1">
            <p:ph sz="quarter" idx="12" hasCustomPrompt="1"/>
          </p:nvPr>
        </p:nvSpPr>
        <p:spPr>
          <a:xfrm>
            <a:off x="624706" y="1332588"/>
            <a:ext cx="5381626" cy="3952875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1/27/2026</a:t>
            </a:fld>
            <a:endParaRPr 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4787900" cy="6858000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16" name="Title 1"/>
          <p:cNvSpPr>
            <a:spLocks noGrp="1"/>
          </p:cNvSpPr>
          <p:nvPr>
            <p:ph type="ctrTitle" hasCustomPrompt="1"/>
          </p:nvPr>
        </p:nvSpPr>
        <p:spPr>
          <a:xfrm>
            <a:off x="5626100" y="1109534"/>
            <a:ext cx="5959476" cy="1655762"/>
          </a:xfrm>
        </p:spPr>
        <p:txBody>
          <a:bodyPr anchor="b" anchorCtr="0">
            <a:noAutofit/>
          </a:bodyPr>
          <a:lstStyle>
            <a:lvl1pPr algn="l"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626098" y="2870070"/>
            <a:ext cx="5959480" cy="2502381"/>
          </a:xfrm>
        </p:spPr>
        <p:txBody>
          <a:bodyPr anchor="t" anchorCtr="0">
            <a:noAutofit/>
          </a:bodyPr>
          <a:lstStyle>
            <a:lvl1pPr marL="0" indent="0" algn="just">
              <a:lnSpc>
                <a:spcPct val="100000"/>
              </a:lnSpc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17" name="Rectangle 16"/>
          <p:cNvSpPr/>
          <p:nvPr userDrawn="1"/>
        </p:nvSpPr>
        <p:spPr>
          <a:xfrm>
            <a:off x="4787899" y="0"/>
            <a:ext cx="116779" cy="6858000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5106" y="241300"/>
            <a:ext cx="292100" cy="29210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7" name="Group 6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0" name="TextBox 9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2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1/27/2026</a:t>
            </a:fld>
            <a:endParaRPr lang="en-US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/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2700000">
            <a:off x="781863" y="1310095"/>
            <a:ext cx="3916148" cy="3910374"/>
          </a:xfrm>
          <a:prstGeom prst="rect">
            <a:avLst/>
          </a:prstGeom>
        </p:spPr>
      </p:pic>
      <p:sp>
        <p:nvSpPr>
          <p:cNvPr id="16" name="Title 1"/>
          <p:cNvSpPr>
            <a:spLocks noGrp="1"/>
          </p:cNvSpPr>
          <p:nvPr>
            <p:ph type="ctrTitle" hasCustomPrompt="1"/>
          </p:nvPr>
        </p:nvSpPr>
        <p:spPr>
          <a:xfrm>
            <a:off x="5575300" y="769938"/>
            <a:ext cx="5959476" cy="1655762"/>
          </a:xfrm>
        </p:spPr>
        <p:txBody>
          <a:bodyPr anchor="b" anchorCtr="0">
            <a:noAutofit/>
          </a:bodyPr>
          <a:lstStyle>
            <a:lvl1pPr algn="l"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575298" y="2530474"/>
            <a:ext cx="5959480" cy="3550350"/>
          </a:xfrm>
        </p:spPr>
        <p:txBody>
          <a:bodyPr anchor="t" anchorCtr="0">
            <a:noAutofit/>
          </a:bodyPr>
          <a:lstStyle>
            <a:lvl1pPr marL="0" indent="0" algn="just">
              <a:lnSpc>
                <a:spcPct val="100000"/>
              </a:lnSpc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3" name="Picture Placeholder 22"/>
          <p:cNvSpPr>
            <a:spLocks noGrp="1"/>
          </p:cNvSpPr>
          <p:nvPr>
            <p:ph type="pic" sz="quarter" idx="12" hasCustomPrompt="1"/>
          </p:nvPr>
        </p:nvSpPr>
        <p:spPr>
          <a:xfrm>
            <a:off x="438976" y="127568"/>
            <a:ext cx="2971800" cy="2971800"/>
          </a:xfrm>
          <a:prstGeom prst="diamond">
            <a:avLst/>
          </a:prstGeom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24" name="Picture Placeholder 22"/>
          <p:cNvSpPr>
            <a:spLocks noGrp="1"/>
          </p:cNvSpPr>
          <p:nvPr>
            <p:ph type="pic" sz="quarter" idx="13" hasCustomPrompt="1"/>
          </p:nvPr>
        </p:nvSpPr>
        <p:spPr>
          <a:xfrm>
            <a:off x="438976" y="3365543"/>
            <a:ext cx="2971800" cy="2971800"/>
          </a:xfrm>
          <a:prstGeom prst="diamond">
            <a:avLst/>
          </a:prstGeom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25" name="Picture Placeholder 22"/>
          <p:cNvSpPr>
            <a:spLocks noGrp="1"/>
          </p:cNvSpPr>
          <p:nvPr>
            <p:ph type="pic" sz="quarter" idx="14" hasCustomPrompt="1"/>
          </p:nvPr>
        </p:nvSpPr>
        <p:spPr>
          <a:xfrm>
            <a:off x="2032811" y="1752381"/>
            <a:ext cx="2971800" cy="2971800"/>
          </a:xfrm>
          <a:prstGeom prst="diamond">
            <a:avLst/>
          </a:prstGeom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Chèn ảnh</a:t>
            </a:r>
          </a:p>
        </p:txBody>
      </p:sp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2776" y="2393663"/>
            <a:ext cx="1716960" cy="1717475"/>
          </a:xfrm>
          <a:prstGeom prst="rect">
            <a:avLst/>
          </a:prstGeom>
        </p:spPr>
      </p:pic>
      <p:sp>
        <p:nvSpPr>
          <p:cNvPr id="2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1/27/2026</a:t>
            </a:fld>
            <a:endParaRPr 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 userDrawn="1"/>
        </p:nvGrpSpPr>
        <p:grpSpPr>
          <a:xfrm>
            <a:off x="170156" y="134614"/>
            <a:ext cx="3918888" cy="6192390"/>
            <a:chOff x="125766" y="134614"/>
            <a:chExt cx="3918888" cy="6192390"/>
          </a:xfrm>
        </p:grpSpPr>
        <p:sp>
          <p:nvSpPr>
            <p:cNvPr id="16" name="Rectangle 15"/>
            <p:cNvSpPr/>
            <p:nvPr userDrawn="1"/>
          </p:nvSpPr>
          <p:spPr>
            <a:xfrm>
              <a:off x="125766" y="134614"/>
              <a:ext cx="3918888" cy="6192390"/>
            </a:xfrm>
            <a:prstGeom prst="rect">
              <a:avLst/>
            </a:prstGeom>
            <a:solidFill>
              <a:srgbClr val="1F5C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125766" y="134614"/>
              <a:ext cx="3918888" cy="54884"/>
            </a:xfrm>
            <a:prstGeom prst="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23332" y="2190750"/>
            <a:ext cx="3335867" cy="3761528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 b="0" i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23333" y="481807"/>
            <a:ext cx="3335866" cy="1570038"/>
          </a:xfrm>
        </p:spPr>
        <p:txBody>
          <a:bodyPr anchor="b" anchorCtr="0">
            <a:noAutofit/>
          </a:bodyPr>
          <a:lstStyle>
            <a:lvl1pPr algn="l">
              <a:defRPr sz="2800"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2" hasCustomPrompt="1"/>
          </p:nvPr>
        </p:nvSpPr>
        <p:spPr>
          <a:xfrm>
            <a:off x="4210050" y="1233577"/>
            <a:ext cx="7685088" cy="4882552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7565" y="285479"/>
            <a:ext cx="457200" cy="45720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4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7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9" name="TextBox 8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2" name="TextBox 11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4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1/27/2026</a:t>
            </a:fld>
            <a:endParaRPr lang="en-US"/>
          </a:p>
        </p:txBody>
      </p:sp>
      <p:sp>
        <p:nvSpPr>
          <p:cNvPr id="1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To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152386" y="134613"/>
            <a:ext cx="11887228" cy="2275212"/>
            <a:chOff x="125766" y="134611"/>
            <a:chExt cx="3918888" cy="6192393"/>
          </a:xfrm>
        </p:grpSpPr>
        <p:sp>
          <p:nvSpPr>
            <p:cNvPr id="8" name="Rectangle 7"/>
            <p:cNvSpPr/>
            <p:nvPr userDrawn="1"/>
          </p:nvSpPr>
          <p:spPr>
            <a:xfrm>
              <a:off x="125766" y="134614"/>
              <a:ext cx="3918888" cy="6192390"/>
            </a:xfrm>
            <a:prstGeom prst="rect">
              <a:avLst/>
            </a:prstGeom>
            <a:solidFill>
              <a:srgbClr val="1F5C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0" name="Rectangle 19"/>
            <p:cNvSpPr/>
            <p:nvPr userDrawn="1"/>
          </p:nvSpPr>
          <p:spPr>
            <a:xfrm>
              <a:off x="125766" y="134611"/>
              <a:ext cx="3918888" cy="124432"/>
            </a:xfrm>
            <a:prstGeom prst="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191250" y="465934"/>
            <a:ext cx="5229225" cy="1634339"/>
          </a:xfrm>
        </p:spPr>
        <p:txBody>
          <a:bodyPr wrap="square">
            <a:noAutofit/>
          </a:bodyPr>
          <a:lstStyle>
            <a:lvl1pPr marL="0" indent="0" algn="l">
              <a:lnSpc>
                <a:spcPct val="150000"/>
              </a:lnSpc>
              <a:buNone/>
              <a:defRPr sz="1600" b="0" i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24705" y="3223632"/>
            <a:ext cx="4928369" cy="1420849"/>
          </a:xfrm>
        </p:spPr>
        <p:txBody>
          <a:bodyPr anchor="b" anchorCtr="0">
            <a:noAutofit/>
          </a:bodyPr>
          <a:lstStyle>
            <a:lvl1pPr algn="l">
              <a:defRPr sz="2800" b="1">
                <a:solidFill>
                  <a:srgbClr val="1F5CA9"/>
                </a:solidFill>
                <a:latin typeface="K2D" panose="00000500000000000000" pitchFamily="2" charset="-34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2" hasCustomPrompt="1"/>
          </p:nvPr>
        </p:nvSpPr>
        <p:spPr>
          <a:xfrm>
            <a:off x="625089" y="438150"/>
            <a:ext cx="4927600" cy="2619375"/>
          </a:xfrm>
          <a:solidFill>
            <a:schemeClr val="bg1"/>
          </a:solidFill>
          <a:ln w="38100">
            <a:noFill/>
            <a:miter lim="800000"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19" name="Rectangle 18"/>
          <p:cNvSpPr/>
          <p:nvPr userDrawn="1"/>
        </p:nvSpPr>
        <p:spPr>
          <a:xfrm>
            <a:off x="624706" y="3062972"/>
            <a:ext cx="4927984" cy="88554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2">
            <a:alphaModFix amt="85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9466" y="2644402"/>
            <a:ext cx="3453753" cy="3402396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815" y="2177429"/>
            <a:ext cx="457200" cy="45720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5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0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2" name="TextBox 11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4" name="TextBox 13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6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1/27/2026</a:t>
            </a:fld>
            <a:endParaRPr lang="en-US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Botto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152386" y="3979538"/>
            <a:ext cx="11887228" cy="2275212"/>
            <a:chOff x="125766" y="134611"/>
            <a:chExt cx="3918888" cy="6192393"/>
          </a:xfrm>
        </p:grpSpPr>
        <p:sp>
          <p:nvSpPr>
            <p:cNvPr id="8" name="Rectangle 7"/>
            <p:cNvSpPr/>
            <p:nvPr userDrawn="1"/>
          </p:nvSpPr>
          <p:spPr>
            <a:xfrm>
              <a:off x="125766" y="134614"/>
              <a:ext cx="3918888" cy="6192390"/>
            </a:xfrm>
            <a:prstGeom prst="rect">
              <a:avLst/>
            </a:prstGeom>
            <a:solidFill>
              <a:srgbClr val="1F5C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0" name="Rectangle 19"/>
            <p:cNvSpPr/>
            <p:nvPr userDrawn="1"/>
          </p:nvSpPr>
          <p:spPr>
            <a:xfrm>
              <a:off x="125766" y="134611"/>
              <a:ext cx="3918888" cy="124432"/>
            </a:xfrm>
            <a:prstGeom prst="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41485" y="4229011"/>
            <a:ext cx="5229225" cy="1634339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600" b="0" i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569891" y="811935"/>
            <a:ext cx="5229225" cy="1420849"/>
          </a:xfrm>
        </p:spPr>
        <p:txBody>
          <a:bodyPr anchor="b" anchorCtr="0">
            <a:noAutofit/>
          </a:bodyPr>
          <a:lstStyle>
            <a:lvl1pPr algn="l">
              <a:defRPr sz="2800" b="1">
                <a:solidFill>
                  <a:srgbClr val="1F5CA9"/>
                </a:solidFill>
                <a:latin typeface="K2D" panose="00000500000000000000" pitchFamily="2" charset="-34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2" hasCustomPrompt="1"/>
          </p:nvPr>
        </p:nvSpPr>
        <p:spPr>
          <a:xfrm>
            <a:off x="6720704" y="2860675"/>
            <a:ext cx="4927600" cy="2619375"/>
          </a:xfrm>
          <a:solidFill>
            <a:schemeClr val="bg1"/>
          </a:solidFill>
          <a:ln w="38100">
            <a:noFill/>
            <a:miter lim="800000"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19" name="Rectangle 18"/>
          <p:cNvSpPr/>
          <p:nvPr userDrawn="1"/>
        </p:nvSpPr>
        <p:spPr>
          <a:xfrm>
            <a:off x="6720704" y="2772120"/>
            <a:ext cx="4928369" cy="88554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2">
            <a:alphaModFix amt="85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3842" y="373388"/>
            <a:ext cx="3453753" cy="3402396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22467" y="3759764"/>
            <a:ext cx="457200" cy="45720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5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0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2" name="TextBox 11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4" name="TextBox 13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6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1/27/2026</a:t>
            </a:fld>
            <a:endParaRPr lang="en-US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r Inform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2580549"/>
            <a:ext cx="12192000" cy="107901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501972" y="3856819"/>
            <a:ext cx="7445428" cy="2304603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 b="0" i="0">
                <a:solidFill>
                  <a:srgbClr val="000000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Các thông tin cá nhân có liên quan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503437" y="2747660"/>
            <a:ext cx="7443963" cy="904404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1" baseline="0" dirty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Nhấn vào để chỉnh sửa tên</a:t>
            </a:r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2584938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Ảnh bìa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2" hasCustomPrompt="1"/>
          </p:nvPr>
        </p:nvSpPr>
        <p:spPr>
          <a:xfrm>
            <a:off x="664144" y="1144291"/>
            <a:ext cx="2601302" cy="2606040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bg1"/>
            </a:solidFill>
            <a:miter lim="800000"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Avatar</a:t>
            </a:r>
          </a:p>
        </p:txBody>
      </p:sp>
      <p:sp>
        <p:nvSpPr>
          <p:cNvPr id="19" name="Rectangle 18"/>
          <p:cNvSpPr/>
          <p:nvPr userDrawn="1"/>
        </p:nvSpPr>
        <p:spPr>
          <a:xfrm>
            <a:off x="3631224" y="3726827"/>
            <a:ext cx="1820007" cy="45719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4" hasCustomPrompt="1"/>
          </p:nvPr>
        </p:nvSpPr>
        <p:spPr>
          <a:xfrm>
            <a:off x="10348756" y="4679980"/>
            <a:ext cx="1574800" cy="1589422"/>
          </a:xfrm>
        </p:spPr>
        <p:txBody>
          <a:bodyPr anchor="ctr" anchorCtr="1"/>
          <a:lstStyle>
            <a:lvl1pPr marL="0" indent="0">
              <a:buNone/>
              <a:defRPr baseline="0">
                <a:latin typeface="K2D" panose="00000500000000000000" pitchFamily="2" charset="-34"/>
              </a:defRPr>
            </a:lvl1pPr>
          </a:lstStyle>
          <a:p>
            <a:r>
              <a:rPr lang="en-US"/>
              <a:t>Mã QR</a:t>
            </a:r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2" cstate="print">
            <a:alphaModFix amt="85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9319" y="3749686"/>
            <a:ext cx="2513362" cy="2475989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9872" y="3047462"/>
            <a:ext cx="292100" cy="292100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4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7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1" name="TextBox 10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4" name="TextBox 13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6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1/27/2026</a:t>
            </a:fld>
            <a:endParaRPr lang="en-US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93886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600" b="1" baseline="0" dirty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Tiêu đề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9" y="1919678"/>
            <a:ext cx="5046661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800" b="1" kern="1200" dirty="0" smtClean="0">
                <a:solidFill>
                  <a:srgbClr val="00AFEF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Tiêu đề phụ 1</a:t>
            </a:r>
            <a:endParaRPr lang="en-US" dirty="0"/>
          </a:p>
        </p:txBody>
      </p:sp>
      <p:sp>
        <p:nvSpPr>
          <p:cNvPr id="15" name="Content Placeholder 9"/>
          <p:cNvSpPr>
            <a:spLocks noGrp="1"/>
          </p:cNvSpPr>
          <p:nvPr>
            <p:ph sz="quarter" idx="12" hasCustomPrompt="1"/>
          </p:nvPr>
        </p:nvSpPr>
        <p:spPr>
          <a:xfrm>
            <a:off x="839788" y="3006726"/>
            <a:ext cx="5046662" cy="3109402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4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4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2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6308727" y="1919678"/>
            <a:ext cx="5046661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800" b="1" kern="1200" dirty="0" smtClean="0">
                <a:solidFill>
                  <a:srgbClr val="00AFEF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Tiêu đề phụ 2</a:t>
            </a:r>
            <a:endParaRPr lang="en-US" dirty="0"/>
          </a:p>
        </p:txBody>
      </p:sp>
      <p:sp>
        <p:nvSpPr>
          <p:cNvPr id="23" name="Content Placeholder 9"/>
          <p:cNvSpPr>
            <a:spLocks noGrp="1"/>
          </p:cNvSpPr>
          <p:nvPr>
            <p:ph sz="quarter" idx="14" hasCustomPrompt="1"/>
          </p:nvPr>
        </p:nvSpPr>
        <p:spPr>
          <a:xfrm>
            <a:off x="6308726" y="3006726"/>
            <a:ext cx="5046662" cy="3109402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4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4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32" name="Picture 3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88507"/>
            <a:ext cx="292100" cy="292100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4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7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9" name="TextBox 8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1/27/2026</a:t>
            </a:fld>
            <a:endParaRPr lang="en-US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741487" y="465301"/>
            <a:ext cx="3657600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400" b="0" i="0" kern="1200" baseline="0" dirty="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  <a:endParaRPr lang="en-US" dirty="0"/>
          </a:p>
        </p:txBody>
      </p:sp>
      <p:sp>
        <p:nvSpPr>
          <p:cNvPr id="17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4678998" y="465301"/>
            <a:ext cx="3571623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>
              <a:buNone/>
              <a:defRPr lang="en-US" sz="2400" baseline="0" smtClean="0"/>
            </a:lvl1pPr>
          </a:lstStyle>
          <a:p>
            <a:pPr lvl="0" algn="ctr"/>
            <a:r>
              <a:rPr lang="en-US"/>
              <a:t>Chèn ảnh</a:t>
            </a:r>
          </a:p>
        </p:txBody>
      </p:sp>
      <p:sp>
        <p:nvSpPr>
          <p:cNvPr id="18" name="Picture Placeholder 5"/>
          <p:cNvSpPr>
            <a:spLocks noGrp="1"/>
          </p:cNvSpPr>
          <p:nvPr>
            <p:ph type="pic" sz="quarter" idx="15" hasCustomPrompt="1"/>
          </p:nvPr>
        </p:nvSpPr>
        <p:spPr>
          <a:xfrm>
            <a:off x="8530533" y="474155"/>
            <a:ext cx="2743200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>
              <a:buNone/>
              <a:defRPr lang="en-US" sz="2400" baseline="0" smtClean="0"/>
            </a:lvl1pPr>
          </a:lstStyle>
          <a:p>
            <a:pPr lvl="0" algn="ctr"/>
            <a:r>
              <a:rPr lang="en-US"/>
              <a:t>Chèn ảnh</a:t>
            </a:r>
          </a:p>
        </p:txBody>
      </p:sp>
      <p:sp>
        <p:nvSpPr>
          <p:cNvPr id="20" name="Picture Placeholder 7"/>
          <p:cNvSpPr>
            <a:spLocks noGrp="1"/>
          </p:cNvSpPr>
          <p:nvPr>
            <p:ph type="pic" sz="quarter" idx="14" hasCustomPrompt="1"/>
          </p:nvPr>
        </p:nvSpPr>
        <p:spPr>
          <a:xfrm>
            <a:off x="7484734" y="3450874"/>
            <a:ext cx="3788999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>
              <a:buNone/>
              <a:defRPr lang="en-US" sz="2400" baseline="0" smtClean="0"/>
            </a:lvl1pPr>
          </a:lstStyle>
          <a:p>
            <a:pPr lvl="0" algn="ctr"/>
            <a:r>
              <a:rPr lang="en-US"/>
              <a:t>Chèn ảnh</a:t>
            </a:r>
          </a:p>
        </p:txBody>
      </p:sp>
      <p:sp>
        <p:nvSpPr>
          <p:cNvPr id="21" name="Picture Placeholder 8"/>
          <p:cNvSpPr>
            <a:spLocks noGrp="1"/>
          </p:cNvSpPr>
          <p:nvPr>
            <p:ph type="pic" sz="quarter" idx="16" hasCustomPrompt="1"/>
          </p:nvPr>
        </p:nvSpPr>
        <p:spPr>
          <a:xfrm>
            <a:off x="741485" y="3450874"/>
            <a:ext cx="6477000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>
              <a:buNone/>
              <a:defRPr lang="en-US" sz="2400" baseline="0" smtClean="0"/>
            </a:lvl1pPr>
          </a:lstStyle>
          <a:p>
            <a:pPr lvl="0" algn="ctr"/>
            <a:r>
              <a:rPr lang="en-US"/>
              <a:t>Chèn ảnh</a:t>
            </a: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2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1/27/2026</a:t>
            </a:fld>
            <a:endParaRPr lang="en-US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6"/>
          <p:cNvCxnSpPr/>
          <p:nvPr userDrawn="1"/>
        </p:nvCxnSpPr>
        <p:spPr>
          <a:xfrm>
            <a:off x="6096000" y="1162050"/>
            <a:ext cx="0" cy="4753154"/>
          </a:xfrm>
          <a:prstGeom prst="line">
            <a:avLst/>
          </a:prstGeom>
          <a:ln w="57150" cap="rnd">
            <a:solidFill>
              <a:srgbClr val="00AFEF">
                <a:alpha val="25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Picture Placeholder 4"/>
          <p:cNvSpPr>
            <a:spLocks noGrp="1"/>
          </p:cNvSpPr>
          <p:nvPr>
            <p:ph type="pic" sz="quarter" idx="13" hasCustomPrompt="1"/>
          </p:nvPr>
        </p:nvSpPr>
        <p:spPr>
          <a:xfrm>
            <a:off x="897765" y="1162050"/>
            <a:ext cx="4697377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lang="en-US" sz="2000" kern="1200" baseline="0" dirty="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19" name="Picture Placeholder 4"/>
          <p:cNvSpPr>
            <a:spLocks noGrp="1"/>
          </p:cNvSpPr>
          <p:nvPr>
            <p:ph type="pic" sz="quarter" idx="14" hasCustomPrompt="1"/>
          </p:nvPr>
        </p:nvSpPr>
        <p:spPr>
          <a:xfrm>
            <a:off x="6597297" y="1162050"/>
            <a:ext cx="4697377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lang="en-US" sz="2000" kern="1200" baseline="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22" name="Text Placeholder 20"/>
          <p:cNvSpPr>
            <a:spLocks noGrp="1"/>
          </p:cNvSpPr>
          <p:nvPr>
            <p:ph type="body" sz="quarter" idx="16" hasCustomPrompt="1"/>
          </p:nvPr>
        </p:nvSpPr>
        <p:spPr>
          <a:xfrm>
            <a:off x="898361" y="3302000"/>
            <a:ext cx="4695748" cy="26130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3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6597892" y="3302000"/>
            <a:ext cx="4695748" cy="26130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5" name="Rectangle 24"/>
          <p:cNvSpPr/>
          <p:nvPr userDrawn="1"/>
        </p:nvSpPr>
        <p:spPr>
          <a:xfrm flipH="1" flipV="1">
            <a:off x="898257" y="3126125"/>
            <a:ext cx="4692825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26" name="Rectangle 25"/>
          <p:cNvSpPr/>
          <p:nvPr userDrawn="1"/>
        </p:nvSpPr>
        <p:spPr>
          <a:xfrm flipH="1" flipV="1">
            <a:off x="6597788" y="3126125"/>
            <a:ext cx="4692825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1/27/2026</a:t>
            </a:fld>
            <a:endParaRPr 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329375" y="1162050"/>
            <a:ext cx="3368256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2000" baseline="0">
                <a:latin typeface="Readex Pro" pitchFamily="2" charset="-78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4038600" y="1162050"/>
            <a:ext cx="0" cy="4753154"/>
          </a:xfrm>
          <a:prstGeom prst="line">
            <a:avLst/>
          </a:prstGeom>
          <a:ln w="57150" cap="rnd">
            <a:solidFill>
              <a:srgbClr val="00AFEF">
                <a:alpha val="25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 userDrawn="1"/>
        </p:nvCxnSpPr>
        <p:spPr>
          <a:xfrm>
            <a:off x="8086459" y="1162050"/>
            <a:ext cx="0" cy="4753154"/>
          </a:xfrm>
          <a:prstGeom prst="line">
            <a:avLst/>
          </a:prstGeom>
          <a:ln w="57150" cap="rnd">
            <a:solidFill>
              <a:srgbClr val="00AFEF">
                <a:alpha val="25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Picture Placeholder 4"/>
          <p:cNvSpPr>
            <a:spLocks noGrp="1"/>
          </p:cNvSpPr>
          <p:nvPr>
            <p:ph type="pic" sz="quarter" idx="13" hasCustomPrompt="1"/>
          </p:nvPr>
        </p:nvSpPr>
        <p:spPr>
          <a:xfrm>
            <a:off x="4378402" y="1162050"/>
            <a:ext cx="3368256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lang="en-US" sz="2000" kern="1200" baseline="0" dirty="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19" name="Picture Placeholder 4"/>
          <p:cNvSpPr>
            <a:spLocks noGrp="1"/>
          </p:cNvSpPr>
          <p:nvPr>
            <p:ph type="pic" sz="quarter" idx="14" hasCustomPrompt="1"/>
          </p:nvPr>
        </p:nvSpPr>
        <p:spPr>
          <a:xfrm>
            <a:off x="8426261" y="1162050"/>
            <a:ext cx="3368256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lang="en-US" sz="2000" kern="1200" baseline="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5" hasCustomPrompt="1"/>
          </p:nvPr>
        </p:nvSpPr>
        <p:spPr>
          <a:xfrm>
            <a:off x="329912" y="3302000"/>
            <a:ext cx="3367088" cy="261302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lnSpc>
                <a:spcPct val="100000"/>
              </a:lnSpc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lnSpc>
                <a:spcPct val="100000"/>
              </a:lnSpc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lnSpc>
                <a:spcPct val="100000"/>
              </a:lnSpc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lnSpc>
                <a:spcPct val="100000"/>
              </a:lnSpc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2" name="Text Placeholder 20"/>
          <p:cNvSpPr>
            <a:spLocks noGrp="1"/>
          </p:cNvSpPr>
          <p:nvPr>
            <p:ph type="body" sz="quarter" idx="16" hasCustomPrompt="1"/>
          </p:nvPr>
        </p:nvSpPr>
        <p:spPr>
          <a:xfrm>
            <a:off x="4378402" y="3302000"/>
            <a:ext cx="3367088" cy="26130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3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8426260" y="3302000"/>
            <a:ext cx="3367088" cy="26130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4" name="Rectangle 23"/>
          <p:cNvSpPr/>
          <p:nvPr userDrawn="1"/>
        </p:nvSpPr>
        <p:spPr>
          <a:xfrm flipH="1" flipV="1">
            <a:off x="329374" y="3126125"/>
            <a:ext cx="3364992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25" name="Rectangle 24"/>
          <p:cNvSpPr/>
          <p:nvPr userDrawn="1"/>
        </p:nvSpPr>
        <p:spPr>
          <a:xfrm flipH="1" flipV="1">
            <a:off x="4377232" y="3126125"/>
            <a:ext cx="3364992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26" name="Rectangle 25"/>
          <p:cNvSpPr/>
          <p:nvPr userDrawn="1"/>
        </p:nvSpPr>
        <p:spPr>
          <a:xfrm flipH="1" flipV="1">
            <a:off x="8425090" y="3126125"/>
            <a:ext cx="3364992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9" name="TextBox 8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1/27/2026</a:t>
            </a:fld>
            <a:endParaRPr lang="en-US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9"/>
          <p:cNvSpPr>
            <a:spLocks noGrp="1"/>
          </p:cNvSpPr>
          <p:nvPr>
            <p:ph sz="quarter" idx="12" hasCustomPrompt="1"/>
          </p:nvPr>
        </p:nvSpPr>
        <p:spPr>
          <a:xfrm rot="5400000">
            <a:off x="4113213" y="-1449386"/>
            <a:ext cx="3965573" cy="10515600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17" name="Title 1"/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93886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1" baseline="0" dirty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Tiêu đề</a:t>
            </a:r>
            <a:endParaRPr lang="en-US" dirty="0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88507"/>
            <a:ext cx="292100" cy="29210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1/27/2026</a:t>
            </a:fld>
            <a:endParaRPr 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 lang="en-US" sz="3200" b="1" kern="1200" smtClean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3" name="Content Placeholder 9"/>
          <p:cNvSpPr>
            <a:spLocks noGrp="1"/>
          </p:cNvSpPr>
          <p:nvPr>
            <p:ph sz="quarter" idx="12" hasCustomPrompt="1"/>
          </p:nvPr>
        </p:nvSpPr>
        <p:spPr>
          <a:xfrm rot="5400000">
            <a:off x="1875631" y="-672303"/>
            <a:ext cx="5811837" cy="7886700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1981" y="51983"/>
            <a:ext cx="292100" cy="2921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3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7" name="Group 6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0" name="TextBox 9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2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1/27/2026</a:t>
            </a:fld>
            <a:endParaRPr lang="en-US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25583"/>
            <a:ext cx="10515600" cy="978408"/>
          </a:xfrm>
        </p:spPr>
        <p:txBody>
          <a:bodyPr/>
          <a:lstStyle>
            <a:lvl1pPr>
              <a:defRPr lang="en-US" sz="3200" b="1" kern="1200" baseline="0" smtClean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>
            <a:alphaModFix amt="85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56757"/>
            <a:ext cx="292100" cy="2921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3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7" name="Group 6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0" name="TextBox 9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2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1/27/2026</a:t>
            </a:fld>
            <a:endParaRPr lang="en-US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alphaModFix amt="85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2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1/27/2026</a:t>
            </a:fld>
            <a:endParaRPr lang="en-US"/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Blue 1">
    <p:bg>
      <p:bgPr>
        <a:solidFill>
          <a:srgbClr val="1F5C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sp>
        <p:nvSpPr>
          <p:cNvPr id="13" name="Rectangle 12"/>
          <p:cNvSpPr/>
          <p:nvPr userDrawn="1"/>
        </p:nvSpPr>
        <p:spPr>
          <a:xfrm>
            <a:off x="135235" y="6474525"/>
            <a:ext cx="544432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05437" y="6454898"/>
            <a:ext cx="544432" cy="365125"/>
            <a:chOff x="119712" y="6454898"/>
            <a:chExt cx="544432" cy="365125"/>
          </a:xfrm>
        </p:grpSpPr>
        <p:sp>
          <p:nvSpPr>
            <p:cNvPr id="20" name="Rectangle 19"/>
            <p:cNvSpPr/>
            <p:nvPr userDrawn="1"/>
          </p:nvSpPr>
          <p:spPr>
            <a:xfrm>
              <a:off x="119712" y="6488235"/>
              <a:ext cx="544432" cy="298450"/>
            </a:xfrm>
            <a:prstGeom prst="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1" name="Slide Number Placeholder 5"/>
            <p:cNvSpPr txBox="1"/>
            <p:nvPr userDrawn="1"/>
          </p:nvSpPr>
          <p:spPr>
            <a:xfrm>
              <a:off x="159150" y="6454898"/>
              <a:ext cx="465556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1200" kern="1200">
                  <a:solidFill>
                    <a:schemeClr val="bg1"/>
                  </a:solidFill>
                  <a:latin typeface="Barlow" panose="00000500000000000000" pitchFamily="2" charset="0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3E7A8FBE-F383-41C2-9A02-D1D86CE96726}" type="slidenum">
                <a:rPr lang="en-US" smtClean="0">
                  <a:latin typeface="K2D" panose="00000500000000000000" pitchFamily="2" charset="-34"/>
                </a:rPr>
                <a:t>‹#›</a:t>
              </a:fld>
              <a:endParaRPr lang="en-US">
                <a:latin typeface="K2D" panose="00000500000000000000" pitchFamily="2" charset="-34"/>
              </a:endParaRPr>
            </a:p>
          </p:txBody>
        </p:sp>
      </p:grpSp>
      <p:sp>
        <p:nvSpPr>
          <p:cNvPr id="22" name="Date Placeholder 3"/>
          <p:cNvSpPr>
            <a:spLocks noGrp="1"/>
          </p:cNvSpPr>
          <p:nvPr>
            <p:ph type="dt" sz="half" idx="10"/>
          </p:nvPr>
        </p:nvSpPr>
        <p:spPr>
          <a:xfrm>
            <a:off x="914400" y="6548263"/>
            <a:ext cx="2743200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1/27/2026</a:t>
            </a:fld>
            <a:endParaRPr lang="en-US"/>
          </a:p>
        </p:txBody>
      </p:sp>
      <p:sp>
        <p:nvSpPr>
          <p:cNvPr id="2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817685" y="6410864"/>
            <a:ext cx="27604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baseline="0">
                <a:solidFill>
                  <a:schemeClr val="bg1"/>
                </a:solidFill>
                <a:latin typeface="K2D" panose="00000500000000000000" pitchFamily="2" charset="-34"/>
              </a:rPr>
              <a:t>ĐẠI HỌC CẦN THƠ</a:t>
            </a:r>
            <a:endParaRPr lang="en-US" sz="1400" b="1">
              <a:solidFill>
                <a:schemeClr val="bg1"/>
              </a:solidFill>
              <a:latin typeface="K2D" panose="00000500000000000000" pitchFamily="2" charset="-34"/>
            </a:endParaRPr>
          </a:p>
        </p:txBody>
      </p:sp>
      <p:sp>
        <p:nvSpPr>
          <p:cNvPr id="32" name="TextBox 31"/>
          <p:cNvSpPr txBox="1"/>
          <p:nvPr userDrawn="1"/>
        </p:nvSpPr>
        <p:spPr>
          <a:xfrm>
            <a:off x="10536385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33" name="Picture 3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602785" y="6488354"/>
            <a:ext cx="9336024" cy="118217"/>
          </a:xfrm>
          <a:prstGeom prst="rect">
            <a:avLst/>
          </a:prstGeom>
        </p:spPr>
      </p:pic>
      <p:sp>
        <p:nvSpPr>
          <p:cNvPr id="15" name="TextBox 14"/>
          <p:cNvSpPr txBox="1"/>
          <p:nvPr userDrawn="1"/>
        </p:nvSpPr>
        <p:spPr>
          <a:xfrm>
            <a:off x="817685" y="6599210"/>
            <a:ext cx="192225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vi-VN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rPr>
              <a:t>Cộng đồng – Toàn diện – Ưu việt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eadex Pro" pitchFamily="2" charset="-78"/>
              <a:ea typeface="+mn-ea"/>
              <a:cs typeface="+mn-cs"/>
            </a:endParaRPr>
          </a:p>
        </p:txBody>
      </p:sp>
      <p:grpSp>
        <p:nvGrpSpPr>
          <p:cNvPr id="2" name="Group 1"/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3" name="Rectangle: Rounded Corners 2"/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: Rounded Corners 3"/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: Rounded Corners 4"/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Blue 2"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grpSp>
        <p:nvGrpSpPr>
          <p:cNvPr id="6" name="Group 5"/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7" name="Rectangle: Rounded Corners 6"/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: Rounded Corners 7"/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: Rounded Corners 8"/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99612" y="6488270"/>
            <a:ext cx="9336024" cy="118110"/>
          </a:xfrm>
          <a:prstGeom prst="rect">
            <a:avLst/>
          </a:prstGeom>
        </p:spPr>
      </p:pic>
      <p:sp>
        <p:nvSpPr>
          <p:cNvPr id="3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11577955" y="6548263"/>
            <a:ext cx="340536" cy="17037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1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3" name="TextBox 12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chemeClr val="bg1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chemeClr val="bg1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6" name="TextBox 15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18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1/27/2026</a:t>
            </a:fld>
            <a:endParaRPr lang="en-US"/>
          </a:p>
        </p:txBody>
      </p:sp>
      <p:sp>
        <p:nvSpPr>
          <p:cNvPr id="2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cboo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9Slide.vn 1"/>
          <p:cNvGrpSpPr/>
          <p:nvPr userDrawn="1"/>
        </p:nvGrpSpPr>
        <p:grpSpPr>
          <a:xfrm>
            <a:off x="2262706" y="1080007"/>
            <a:ext cx="7666588" cy="4425443"/>
            <a:chOff x="2738438" y="30163"/>
            <a:chExt cx="11828463" cy="6827838"/>
          </a:xfrm>
        </p:grpSpPr>
        <p:sp>
          <p:nvSpPr>
            <p:cNvPr id="17" name="9Slide.vn 2"/>
            <p:cNvSpPr/>
            <p:nvPr/>
          </p:nvSpPr>
          <p:spPr bwMode="auto">
            <a:xfrm>
              <a:off x="3821113" y="30163"/>
              <a:ext cx="9663113" cy="6823075"/>
            </a:xfrm>
            <a:custGeom>
              <a:avLst/>
              <a:gdLst>
                <a:gd name="T0" fmla="*/ 201 w 6087"/>
                <a:gd name="T1" fmla="*/ 4298 h 4298"/>
                <a:gd name="T2" fmla="*/ 181 w 6087"/>
                <a:gd name="T3" fmla="*/ 4298 h 4298"/>
                <a:gd name="T4" fmla="*/ 141 w 6087"/>
                <a:gd name="T5" fmla="*/ 4289 h 4298"/>
                <a:gd name="T6" fmla="*/ 106 w 6087"/>
                <a:gd name="T7" fmla="*/ 4274 h 4298"/>
                <a:gd name="T8" fmla="*/ 74 w 6087"/>
                <a:gd name="T9" fmla="*/ 4252 h 4298"/>
                <a:gd name="T10" fmla="*/ 47 w 6087"/>
                <a:gd name="T11" fmla="*/ 4225 h 4298"/>
                <a:gd name="T12" fmla="*/ 25 w 6087"/>
                <a:gd name="T13" fmla="*/ 4193 h 4298"/>
                <a:gd name="T14" fmla="*/ 10 w 6087"/>
                <a:gd name="T15" fmla="*/ 4158 h 4298"/>
                <a:gd name="T16" fmla="*/ 1 w 6087"/>
                <a:gd name="T17" fmla="*/ 4118 h 4298"/>
                <a:gd name="T18" fmla="*/ 0 w 6087"/>
                <a:gd name="T19" fmla="*/ 201 h 4298"/>
                <a:gd name="T20" fmla="*/ 1 w 6087"/>
                <a:gd name="T21" fmla="*/ 181 h 4298"/>
                <a:gd name="T22" fmla="*/ 10 w 6087"/>
                <a:gd name="T23" fmla="*/ 141 h 4298"/>
                <a:gd name="T24" fmla="*/ 25 w 6087"/>
                <a:gd name="T25" fmla="*/ 105 h 4298"/>
                <a:gd name="T26" fmla="*/ 47 w 6087"/>
                <a:gd name="T27" fmla="*/ 74 h 4298"/>
                <a:gd name="T28" fmla="*/ 74 w 6087"/>
                <a:gd name="T29" fmla="*/ 47 h 4298"/>
                <a:gd name="T30" fmla="*/ 106 w 6087"/>
                <a:gd name="T31" fmla="*/ 25 h 4298"/>
                <a:gd name="T32" fmla="*/ 141 w 6087"/>
                <a:gd name="T33" fmla="*/ 10 h 4298"/>
                <a:gd name="T34" fmla="*/ 181 w 6087"/>
                <a:gd name="T35" fmla="*/ 1 h 4298"/>
                <a:gd name="T36" fmla="*/ 5887 w 6087"/>
                <a:gd name="T37" fmla="*/ 0 h 4298"/>
                <a:gd name="T38" fmla="*/ 5907 w 6087"/>
                <a:gd name="T39" fmla="*/ 1 h 4298"/>
                <a:gd name="T40" fmla="*/ 5946 w 6087"/>
                <a:gd name="T41" fmla="*/ 10 h 4298"/>
                <a:gd name="T42" fmla="*/ 5983 w 6087"/>
                <a:gd name="T43" fmla="*/ 25 h 4298"/>
                <a:gd name="T44" fmla="*/ 6015 w 6087"/>
                <a:gd name="T45" fmla="*/ 47 h 4298"/>
                <a:gd name="T46" fmla="*/ 6042 w 6087"/>
                <a:gd name="T47" fmla="*/ 74 h 4298"/>
                <a:gd name="T48" fmla="*/ 6064 w 6087"/>
                <a:gd name="T49" fmla="*/ 105 h 4298"/>
                <a:gd name="T50" fmla="*/ 6079 w 6087"/>
                <a:gd name="T51" fmla="*/ 141 h 4298"/>
                <a:gd name="T52" fmla="*/ 6087 w 6087"/>
                <a:gd name="T53" fmla="*/ 181 h 4298"/>
                <a:gd name="T54" fmla="*/ 6087 w 6087"/>
                <a:gd name="T55" fmla="*/ 4097 h 4298"/>
                <a:gd name="T56" fmla="*/ 6087 w 6087"/>
                <a:gd name="T57" fmla="*/ 4118 h 4298"/>
                <a:gd name="T58" fmla="*/ 6079 w 6087"/>
                <a:gd name="T59" fmla="*/ 4158 h 4298"/>
                <a:gd name="T60" fmla="*/ 6064 w 6087"/>
                <a:gd name="T61" fmla="*/ 4193 h 4298"/>
                <a:gd name="T62" fmla="*/ 6042 w 6087"/>
                <a:gd name="T63" fmla="*/ 4225 h 4298"/>
                <a:gd name="T64" fmla="*/ 6015 w 6087"/>
                <a:gd name="T65" fmla="*/ 4252 h 4298"/>
                <a:gd name="T66" fmla="*/ 5983 w 6087"/>
                <a:gd name="T67" fmla="*/ 4274 h 4298"/>
                <a:gd name="T68" fmla="*/ 5946 w 6087"/>
                <a:gd name="T69" fmla="*/ 4289 h 4298"/>
                <a:gd name="T70" fmla="*/ 5907 w 6087"/>
                <a:gd name="T71" fmla="*/ 4298 h 4298"/>
                <a:gd name="T72" fmla="*/ 5887 w 6087"/>
                <a:gd name="T73" fmla="*/ 4298 h 4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087" h="4298">
                  <a:moveTo>
                    <a:pt x="5887" y="4298"/>
                  </a:moveTo>
                  <a:lnTo>
                    <a:pt x="201" y="4298"/>
                  </a:lnTo>
                  <a:lnTo>
                    <a:pt x="201" y="4298"/>
                  </a:lnTo>
                  <a:lnTo>
                    <a:pt x="181" y="4298"/>
                  </a:lnTo>
                  <a:lnTo>
                    <a:pt x="161" y="4294"/>
                  </a:lnTo>
                  <a:lnTo>
                    <a:pt x="141" y="4289"/>
                  </a:lnTo>
                  <a:lnTo>
                    <a:pt x="122" y="4282"/>
                  </a:lnTo>
                  <a:lnTo>
                    <a:pt x="106" y="4274"/>
                  </a:lnTo>
                  <a:lnTo>
                    <a:pt x="89" y="4264"/>
                  </a:lnTo>
                  <a:lnTo>
                    <a:pt x="74" y="4252"/>
                  </a:lnTo>
                  <a:lnTo>
                    <a:pt x="58" y="4239"/>
                  </a:lnTo>
                  <a:lnTo>
                    <a:pt x="47" y="4225"/>
                  </a:lnTo>
                  <a:lnTo>
                    <a:pt x="35" y="4210"/>
                  </a:lnTo>
                  <a:lnTo>
                    <a:pt x="25" y="4193"/>
                  </a:lnTo>
                  <a:lnTo>
                    <a:pt x="16" y="4177"/>
                  </a:lnTo>
                  <a:lnTo>
                    <a:pt x="10" y="4158"/>
                  </a:lnTo>
                  <a:lnTo>
                    <a:pt x="5" y="4138"/>
                  </a:lnTo>
                  <a:lnTo>
                    <a:pt x="1" y="4118"/>
                  </a:lnTo>
                  <a:lnTo>
                    <a:pt x="0" y="4097"/>
                  </a:lnTo>
                  <a:lnTo>
                    <a:pt x="0" y="201"/>
                  </a:lnTo>
                  <a:lnTo>
                    <a:pt x="0" y="201"/>
                  </a:lnTo>
                  <a:lnTo>
                    <a:pt x="1" y="181"/>
                  </a:lnTo>
                  <a:lnTo>
                    <a:pt x="5" y="161"/>
                  </a:lnTo>
                  <a:lnTo>
                    <a:pt x="10" y="141"/>
                  </a:lnTo>
                  <a:lnTo>
                    <a:pt x="16" y="122"/>
                  </a:lnTo>
                  <a:lnTo>
                    <a:pt x="25" y="105"/>
                  </a:lnTo>
                  <a:lnTo>
                    <a:pt x="35" y="89"/>
                  </a:lnTo>
                  <a:lnTo>
                    <a:pt x="47" y="74"/>
                  </a:lnTo>
                  <a:lnTo>
                    <a:pt x="58" y="58"/>
                  </a:lnTo>
                  <a:lnTo>
                    <a:pt x="74" y="47"/>
                  </a:lnTo>
                  <a:lnTo>
                    <a:pt x="89" y="35"/>
                  </a:lnTo>
                  <a:lnTo>
                    <a:pt x="106" y="25"/>
                  </a:lnTo>
                  <a:lnTo>
                    <a:pt x="122" y="16"/>
                  </a:lnTo>
                  <a:lnTo>
                    <a:pt x="141" y="10"/>
                  </a:lnTo>
                  <a:lnTo>
                    <a:pt x="161" y="5"/>
                  </a:lnTo>
                  <a:lnTo>
                    <a:pt x="181" y="1"/>
                  </a:lnTo>
                  <a:lnTo>
                    <a:pt x="201" y="0"/>
                  </a:lnTo>
                  <a:lnTo>
                    <a:pt x="5887" y="0"/>
                  </a:lnTo>
                  <a:lnTo>
                    <a:pt x="5887" y="0"/>
                  </a:lnTo>
                  <a:lnTo>
                    <a:pt x="5907" y="1"/>
                  </a:lnTo>
                  <a:lnTo>
                    <a:pt x="5927" y="5"/>
                  </a:lnTo>
                  <a:lnTo>
                    <a:pt x="5946" y="10"/>
                  </a:lnTo>
                  <a:lnTo>
                    <a:pt x="5964" y="16"/>
                  </a:lnTo>
                  <a:lnTo>
                    <a:pt x="5983" y="25"/>
                  </a:lnTo>
                  <a:lnTo>
                    <a:pt x="6000" y="35"/>
                  </a:lnTo>
                  <a:lnTo>
                    <a:pt x="6015" y="47"/>
                  </a:lnTo>
                  <a:lnTo>
                    <a:pt x="6028" y="58"/>
                  </a:lnTo>
                  <a:lnTo>
                    <a:pt x="6042" y="74"/>
                  </a:lnTo>
                  <a:lnTo>
                    <a:pt x="6054" y="89"/>
                  </a:lnTo>
                  <a:lnTo>
                    <a:pt x="6064" y="105"/>
                  </a:lnTo>
                  <a:lnTo>
                    <a:pt x="6072" y="122"/>
                  </a:lnTo>
                  <a:lnTo>
                    <a:pt x="6079" y="141"/>
                  </a:lnTo>
                  <a:lnTo>
                    <a:pt x="6084" y="161"/>
                  </a:lnTo>
                  <a:lnTo>
                    <a:pt x="6087" y="181"/>
                  </a:lnTo>
                  <a:lnTo>
                    <a:pt x="6087" y="201"/>
                  </a:lnTo>
                  <a:lnTo>
                    <a:pt x="6087" y="4097"/>
                  </a:lnTo>
                  <a:lnTo>
                    <a:pt x="6087" y="4097"/>
                  </a:lnTo>
                  <a:lnTo>
                    <a:pt x="6087" y="4118"/>
                  </a:lnTo>
                  <a:lnTo>
                    <a:pt x="6084" y="4138"/>
                  </a:lnTo>
                  <a:lnTo>
                    <a:pt x="6079" y="4158"/>
                  </a:lnTo>
                  <a:lnTo>
                    <a:pt x="6072" y="4177"/>
                  </a:lnTo>
                  <a:lnTo>
                    <a:pt x="6064" y="4193"/>
                  </a:lnTo>
                  <a:lnTo>
                    <a:pt x="6054" y="4210"/>
                  </a:lnTo>
                  <a:lnTo>
                    <a:pt x="6042" y="4225"/>
                  </a:lnTo>
                  <a:lnTo>
                    <a:pt x="6028" y="4239"/>
                  </a:lnTo>
                  <a:lnTo>
                    <a:pt x="6015" y="4252"/>
                  </a:lnTo>
                  <a:lnTo>
                    <a:pt x="6000" y="4264"/>
                  </a:lnTo>
                  <a:lnTo>
                    <a:pt x="5983" y="4274"/>
                  </a:lnTo>
                  <a:lnTo>
                    <a:pt x="5964" y="4282"/>
                  </a:lnTo>
                  <a:lnTo>
                    <a:pt x="5946" y="4289"/>
                  </a:lnTo>
                  <a:lnTo>
                    <a:pt x="5927" y="4294"/>
                  </a:lnTo>
                  <a:lnTo>
                    <a:pt x="5907" y="4298"/>
                  </a:lnTo>
                  <a:lnTo>
                    <a:pt x="5887" y="4298"/>
                  </a:lnTo>
                  <a:lnTo>
                    <a:pt x="5887" y="4298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B0B2B4"/>
                </a:gs>
                <a:gs pos="100000">
                  <a:srgbClr val="DFE0E1"/>
                </a:gs>
              </a:gsLst>
              <a:lin ang="0" scaled="1"/>
              <a:tileRect/>
            </a:gradFill>
            <a:ln>
              <a:noFill/>
            </a:ln>
            <a:effectLst>
              <a:innerShdw blurRad="63500">
                <a:prstClr val="black">
                  <a:alpha val="40000"/>
                </a:prst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8" name="9Slide.vn 3"/>
            <p:cNvSpPr/>
            <p:nvPr/>
          </p:nvSpPr>
          <p:spPr bwMode="auto">
            <a:xfrm>
              <a:off x="3865563" y="74613"/>
              <a:ext cx="9574213" cy="6735763"/>
            </a:xfrm>
            <a:custGeom>
              <a:avLst/>
              <a:gdLst>
                <a:gd name="T0" fmla="*/ 173 w 6031"/>
                <a:gd name="T1" fmla="*/ 0 h 4243"/>
                <a:gd name="T2" fmla="*/ 155 w 6031"/>
                <a:gd name="T3" fmla="*/ 2 h 4243"/>
                <a:gd name="T4" fmla="*/ 121 w 6031"/>
                <a:gd name="T5" fmla="*/ 9 h 4243"/>
                <a:gd name="T6" fmla="*/ 91 w 6031"/>
                <a:gd name="T7" fmla="*/ 22 h 4243"/>
                <a:gd name="T8" fmla="*/ 64 w 6031"/>
                <a:gd name="T9" fmla="*/ 40 h 4243"/>
                <a:gd name="T10" fmla="*/ 41 w 6031"/>
                <a:gd name="T11" fmla="*/ 64 h 4243"/>
                <a:gd name="T12" fmla="*/ 22 w 6031"/>
                <a:gd name="T13" fmla="*/ 91 h 4243"/>
                <a:gd name="T14" fmla="*/ 9 w 6031"/>
                <a:gd name="T15" fmla="*/ 121 h 4243"/>
                <a:gd name="T16" fmla="*/ 2 w 6031"/>
                <a:gd name="T17" fmla="*/ 157 h 4243"/>
                <a:gd name="T18" fmla="*/ 0 w 6031"/>
                <a:gd name="T19" fmla="*/ 4069 h 4243"/>
                <a:gd name="T20" fmla="*/ 2 w 6031"/>
                <a:gd name="T21" fmla="*/ 4086 h 4243"/>
                <a:gd name="T22" fmla="*/ 9 w 6031"/>
                <a:gd name="T23" fmla="*/ 4120 h 4243"/>
                <a:gd name="T24" fmla="*/ 22 w 6031"/>
                <a:gd name="T25" fmla="*/ 4152 h 4243"/>
                <a:gd name="T26" fmla="*/ 41 w 6031"/>
                <a:gd name="T27" fmla="*/ 4179 h 4243"/>
                <a:gd name="T28" fmla="*/ 64 w 6031"/>
                <a:gd name="T29" fmla="*/ 4202 h 4243"/>
                <a:gd name="T30" fmla="*/ 91 w 6031"/>
                <a:gd name="T31" fmla="*/ 4221 h 4243"/>
                <a:gd name="T32" fmla="*/ 121 w 6031"/>
                <a:gd name="T33" fmla="*/ 4234 h 4243"/>
                <a:gd name="T34" fmla="*/ 155 w 6031"/>
                <a:gd name="T35" fmla="*/ 4241 h 4243"/>
                <a:gd name="T36" fmla="*/ 5859 w 6031"/>
                <a:gd name="T37" fmla="*/ 4243 h 4243"/>
                <a:gd name="T38" fmla="*/ 5876 w 6031"/>
                <a:gd name="T39" fmla="*/ 4241 h 4243"/>
                <a:gd name="T40" fmla="*/ 5910 w 6031"/>
                <a:gd name="T41" fmla="*/ 4234 h 4243"/>
                <a:gd name="T42" fmla="*/ 5941 w 6031"/>
                <a:gd name="T43" fmla="*/ 4221 h 4243"/>
                <a:gd name="T44" fmla="*/ 5968 w 6031"/>
                <a:gd name="T45" fmla="*/ 4202 h 4243"/>
                <a:gd name="T46" fmla="*/ 5992 w 6031"/>
                <a:gd name="T47" fmla="*/ 4179 h 4243"/>
                <a:gd name="T48" fmla="*/ 6010 w 6031"/>
                <a:gd name="T49" fmla="*/ 4152 h 4243"/>
                <a:gd name="T50" fmla="*/ 6024 w 6031"/>
                <a:gd name="T51" fmla="*/ 4120 h 4243"/>
                <a:gd name="T52" fmla="*/ 6031 w 6031"/>
                <a:gd name="T53" fmla="*/ 4086 h 4243"/>
                <a:gd name="T54" fmla="*/ 6031 w 6031"/>
                <a:gd name="T55" fmla="*/ 173 h 4243"/>
                <a:gd name="T56" fmla="*/ 6031 w 6031"/>
                <a:gd name="T57" fmla="*/ 157 h 4243"/>
                <a:gd name="T58" fmla="*/ 6024 w 6031"/>
                <a:gd name="T59" fmla="*/ 121 h 4243"/>
                <a:gd name="T60" fmla="*/ 6010 w 6031"/>
                <a:gd name="T61" fmla="*/ 91 h 4243"/>
                <a:gd name="T62" fmla="*/ 5992 w 6031"/>
                <a:gd name="T63" fmla="*/ 64 h 4243"/>
                <a:gd name="T64" fmla="*/ 5968 w 6031"/>
                <a:gd name="T65" fmla="*/ 40 h 4243"/>
                <a:gd name="T66" fmla="*/ 5941 w 6031"/>
                <a:gd name="T67" fmla="*/ 22 h 4243"/>
                <a:gd name="T68" fmla="*/ 5910 w 6031"/>
                <a:gd name="T69" fmla="*/ 9 h 4243"/>
                <a:gd name="T70" fmla="*/ 5876 w 6031"/>
                <a:gd name="T71" fmla="*/ 2 h 4243"/>
                <a:gd name="T72" fmla="*/ 5859 w 6031"/>
                <a:gd name="T73" fmla="*/ 0 h 4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031" h="4243">
                  <a:moveTo>
                    <a:pt x="5859" y="0"/>
                  </a:moveTo>
                  <a:lnTo>
                    <a:pt x="173" y="0"/>
                  </a:lnTo>
                  <a:lnTo>
                    <a:pt x="173" y="0"/>
                  </a:lnTo>
                  <a:lnTo>
                    <a:pt x="155" y="2"/>
                  </a:lnTo>
                  <a:lnTo>
                    <a:pt x="138" y="3"/>
                  </a:lnTo>
                  <a:lnTo>
                    <a:pt x="121" y="9"/>
                  </a:lnTo>
                  <a:lnTo>
                    <a:pt x="106" y="14"/>
                  </a:lnTo>
                  <a:lnTo>
                    <a:pt x="91" y="22"/>
                  </a:lnTo>
                  <a:lnTo>
                    <a:pt x="78" y="30"/>
                  </a:lnTo>
                  <a:lnTo>
                    <a:pt x="64" y="40"/>
                  </a:lnTo>
                  <a:lnTo>
                    <a:pt x="51" y="51"/>
                  </a:lnTo>
                  <a:lnTo>
                    <a:pt x="41" y="64"/>
                  </a:lnTo>
                  <a:lnTo>
                    <a:pt x="30" y="77"/>
                  </a:lnTo>
                  <a:lnTo>
                    <a:pt x="22" y="91"/>
                  </a:lnTo>
                  <a:lnTo>
                    <a:pt x="14" y="106"/>
                  </a:lnTo>
                  <a:lnTo>
                    <a:pt x="9" y="121"/>
                  </a:lnTo>
                  <a:lnTo>
                    <a:pt x="3" y="138"/>
                  </a:lnTo>
                  <a:lnTo>
                    <a:pt x="2" y="157"/>
                  </a:lnTo>
                  <a:lnTo>
                    <a:pt x="0" y="173"/>
                  </a:lnTo>
                  <a:lnTo>
                    <a:pt x="0" y="4069"/>
                  </a:lnTo>
                  <a:lnTo>
                    <a:pt x="0" y="4069"/>
                  </a:lnTo>
                  <a:lnTo>
                    <a:pt x="2" y="4086"/>
                  </a:lnTo>
                  <a:lnTo>
                    <a:pt x="3" y="4105"/>
                  </a:lnTo>
                  <a:lnTo>
                    <a:pt x="9" y="4120"/>
                  </a:lnTo>
                  <a:lnTo>
                    <a:pt x="14" y="4137"/>
                  </a:lnTo>
                  <a:lnTo>
                    <a:pt x="22" y="4152"/>
                  </a:lnTo>
                  <a:lnTo>
                    <a:pt x="30" y="4165"/>
                  </a:lnTo>
                  <a:lnTo>
                    <a:pt x="41" y="4179"/>
                  </a:lnTo>
                  <a:lnTo>
                    <a:pt x="51" y="4192"/>
                  </a:lnTo>
                  <a:lnTo>
                    <a:pt x="64" y="4202"/>
                  </a:lnTo>
                  <a:lnTo>
                    <a:pt x="78" y="4212"/>
                  </a:lnTo>
                  <a:lnTo>
                    <a:pt x="91" y="4221"/>
                  </a:lnTo>
                  <a:lnTo>
                    <a:pt x="106" y="4229"/>
                  </a:lnTo>
                  <a:lnTo>
                    <a:pt x="121" y="4234"/>
                  </a:lnTo>
                  <a:lnTo>
                    <a:pt x="138" y="4239"/>
                  </a:lnTo>
                  <a:lnTo>
                    <a:pt x="155" y="4241"/>
                  </a:lnTo>
                  <a:lnTo>
                    <a:pt x="173" y="4243"/>
                  </a:lnTo>
                  <a:lnTo>
                    <a:pt x="5859" y="4243"/>
                  </a:lnTo>
                  <a:lnTo>
                    <a:pt x="5859" y="4243"/>
                  </a:lnTo>
                  <a:lnTo>
                    <a:pt x="5876" y="4241"/>
                  </a:lnTo>
                  <a:lnTo>
                    <a:pt x="5893" y="4239"/>
                  </a:lnTo>
                  <a:lnTo>
                    <a:pt x="5910" y="4234"/>
                  </a:lnTo>
                  <a:lnTo>
                    <a:pt x="5926" y="4229"/>
                  </a:lnTo>
                  <a:lnTo>
                    <a:pt x="5941" y="4221"/>
                  </a:lnTo>
                  <a:lnTo>
                    <a:pt x="5955" y="4212"/>
                  </a:lnTo>
                  <a:lnTo>
                    <a:pt x="5968" y="4202"/>
                  </a:lnTo>
                  <a:lnTo>
                    <a:pt x="5980" y="4192"/>
                  </a:lnTo>
                  <a:lnTo>
                    <a:pt x="5992" y="4179"/>
                  </a:lnTo>
                  <a:lnTo>
                    <a:pt x="6002" y="4165"/>
                  </a:lnTo>
                  <a:lnTo>
                    <a:pt x="6010" y="4152"/>
                  </a:lnTo>
                  <a:lnTo>
                    <a:pt x="6017" y="4137"/>
                  </a:lnTo>
                  <a:lnTo>
                    <a:pt x="6024" y="4120"/>
                  </a:lnTo>
                  <a:lnTo>
                    <a:pt x="6027" y="4105"/>
                  </a:lnTo>
                  <a:lnTo>
                    <a:pt x="6031" y="4086"/>
                  </a:lnTo>
                  <a:lnTo>
                    <a:pt x="6031" y="4069"/>
                  </a:lnTo>
                  <a:lnTo>
                    <a:pt x="6031" y="173"/>
                  </a:lnTo>
                  <a:lnTo>
                    <a:pt x="6031" y="173"/>
                  </a:lnTo>
                  <a:lnTo>
                    <a:pt x="6031" y="157"/>
                  </a:lnTo>
                  <a:lnTo>
                    <a:pt x="6027" y="138"/>
                  </a:lnTo>
                  <a:lnTo>
                    <a:pt x="6024" y="121"/>
                  </a:lnTo>
                  <a:lnTo>
                    <a:pt x="6017" y="106"/>
                  </a:lnTo>
                  <a:lnTo>
                    <a:pt x="6010" y="91"/>
                  </a:lnTo>
                  <a:lnTo>
                    <a:pt x="6002" y="77"/>
                  </a:lnTo>
                  <a:lnTo>
                    <a:pt x="5992" y="64"/>
                  </a:lnTo>
                  <a:lnTo>
                    <a:pt x="5980" y="51"/>
                  </a:lnTo>
                  <a:lnTo>
                    <a:pt x="5968" y="40"/>
                  </a:lnTo>
                  <a:lnTo>
                    <a:pt x="5955" y="30"/>
                  </a:lnTo>
                  <a:lnTo>
                    <a:pt x="5941" y="22"/>
                  </a:lnTo>
                  <a:lnTo>
                    <a:pt x="5926" y="14"/>
                  </a:lnTo>
                  <a:lnTo>
                    <a:pt x="5910" y="9"/>
                  </a:lnTo>
                  <a:lnTo>
                    <a:pt x="5893" y="3"/>
                  </a:lnTo>
                  <a:lnTo>
                    <a:pt x="5876" y="2"/>
                  </a:lnTo>
                  <a:lnTo>
                    <a:pt x="5859" y="0"/>
                  </a:lnTo>
                  <a:lnTo>
                    <a:pt x="585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>
              <a:outerShdw blurRad="25400" algn="ctr" rotWithShape="0">
                <a:prstClr val="black">
                  <a:alpha val="61000"/>
                </a:prst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9" name="9Slide.vn 4"/>
            <p:cNvSpPr/>
            <p:nvPr/>
          </p:nvSpPr>
          <p:spPr bwMode="auto">
            <a:xfrm>
              <a:off x="3892550" y="6342063"/>
              <a:ext cx="9520238" cy="441325"/>
            </a:xfrm>
            <a:custGeom>
              <a:avLst/>
              <a:gdLst>
                <a:gd name="T0" fmla="*/ 156 w 5997"/>
                <a:gd name="T1" fmla="*/ 278 h 278"/>
                <a:gd name="T2" fmla="*/ 5842 w 5997"/>
                <a:gd name="T3" fmla="*/ 278 h 278"/>
                <a:gd name="T4" fmla="*/ 5842 w 5997"/>
                <a:gd name="T5" fmla="*/ 278 h 278"/>
                <a:gd name="T6" fmla="*/ 5857 w 5997"/>
                <a:gd name="T7" fmla="*/ 276 h 278"/>
                <a:gd name="T8" fmla="*/ 5872 w 5997"/>
                <a:gd name="T9" fmla="*/ 275 h 278"/>
                <a:gd name="T10" fmla="*/ 5887 w 5997"/>
                <a:gd name="T11" fmla="*/ 269 h 278"/>
                <a:gd name="T12" fmla="*/ 5903 w 5997"/>
                <a:gd name="T13" fmla="*/ 264 h 278"/>
                <a:gd name="T14" fmla="*/ 5916 w 5997"/>
                <a:gd name="T15" fmla="*/ 258 h 278"/>
                <a:gd name="T16" fmla="*/ 5928 w 5997"/>
                <a:gd name="T17" fmla="*/ 251 h 278"/>
                <a:gd name="T18" fmla="*/ 5941 w 5997"/>
                <a:gd name="T19" fmla="*/ 241 h 278"/>
                <a:gd name="T20" fmla="*/ 5951 w 5997"/>
                <a:gd name="T21" fmla="*/ 231 h 278"/>
                <a:gd name="T22" fmla="*/ 5962 w 5997"/>
                <a:gd name="T23" fmla="*/ 221 h 278"/>
                <a:gd name="T24" fmla="*/ 5970 w 5997"/>
                <a:gd name="T25" fmla="*/ 209 h 278"/>
                <a:gd name="T26" fmla="*/ 5978 w 5997"/>
                <a:gd name="T27" fmla="*/ 195 h 278"/>
                <a:gd name="T28" fmla="*/ 5985 w 5997"/>
                <a:gd name="T29" fmla="*/ 182 h 278"/>
                <a:gd name="T30" fmla="*/ 5990 w 5997"/>
                <a:gd name="T31" fmla="*/ 167 h 278"/>
                <a:gd name="T32" fmla="*/ 5993 w 5997"/>
                <a:gd name="T33" fmla="*/ 153 h 278"/>
                <a:gd name="T34" fmla="*/ 5997 w 5997"/>
                <a:gd name="T35" fmla="*/ 137 h 278"/>
                <a:gd name="T36" fmla="*/ 5997 w 5997"/>
                <a:gd name="T37" fmla="*/ 121 h 278"/>
                <a:gd name="T38" fmla="*/ 5997 w 5997"/>
                <a:gd name="T39" fmla="*/ 0 h 278"/>
                <a:gd name="T40" fmla="*/ 0 w 5997"/>
                <a:gd name="T41" fmla="*/ 0 h 278"/>
                <a:gd name="T42" fmla="*/ 0 w 5997"/>
                <a:gd name="T43" fmla="*/ 121 h 278"/>
                <a:gd name="T44" fmla="*/ 0 w 5997"/>
                <a:gd name="T45" fmla="*/ 121 h 278"/>
                <a:gd name="T46" fmla="*/ 2 w 5997"/>
                <a:gd name="T47" fmla="*/ 137 h 278"/>
                <a:gd name="T48" fmla="*/ 3 w 5997"/>
                <a:gd name="T49" fmla="*/ 153 h 278"/>
                <a:gd name="T50" fmla="*/ 8 w 5997"/>
                <a:gd name="T51" fmla="*/ 167 h 278"/>
                <a:gd name="T52" fmla="*/ 13 w 5997"/>
                <a:gd name="T53" fmla="*/ 182 h 278"/>
                <a:gd name="T54" fmla="*/ 20 w 5997"/>
                <a:gd name="T55" fmla="*/ 195 h 278"/>
                <a:gd name="T56" fmla="*/ 27 w 5997"/>
                <a:gd name="T57" fmla="*/ 209 h 278"/>
                <a:gd name="T58" fmla="*/ 37 w 5997"/>
                <a:gd name="T59" fmla="*/ 221 h 278"/>
                <a:gd name="T60" fmla="*/ 47 w 5997"/>
                <a:gd name="T61" fmla="*/ 231 h 278"/>
                <a:gd name="T62" fmla="*/ 57 w 5997"/>
                <a:gd name="T63" fmla="*/ 241 h 278"/>
                <a:gd name="T64" fmla="*/ 69 w 5997"/>
                <a:gd name="T65" fmla="*/ 251 h 278"/>
                <a:gd name="T66" fmla="*/ 82 w 5997"/>
                <a:gd name="T67" fmla="*/ 258 h 278"/>
                <a:gd name="T68" fmla="*/ 96 w 5997"/>
                <a:gd name="T69" fmla="*/ 264 h 278"/>
                <a:gd name="T70" fmla="*/ 109 w 5997"/>
                <a:gd name="T71" fmla="*/ 269 h 278"/>
                <a:gd name="T72" fmla="*/ 124 w 5997"/>
                <a:gd name="T73" fmla="*/ 275 h 278"/>
                <a:gd name="T74" fmla="*/ 141 w 5997"/>
                <a:gd name="T75" fmla="*/ 276 h 278"/>
                <a:gd name="T76" fmla="*/ 156 w 5997"/>
                <a:gd name="T77" fmla="*/ 278 h 278"/>
                <a:gd name="T78" fmla="*/ 156 w 5997"/>
                <a:gd name="T7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997" h="278">
                  <a:moveTo>
                    <a:pt x="156" y="278"/>
                  </a:moveTo>
                  <a:lnTo>
                    <a:pt x="5842" y="278"/>
                  </a:lnTo>
                  <a:lnTo>
                    <a:pt x="5842" y="278"/>
                  </a:lnTo>
                  <a:lnTo>
                    <a:pt x="5857" y="276"/>
                  </a:lnTo>
                  <a:lnTo>
                    <a:pt x="5872" y="275"/>
                  </a:lnTo>
                  <a:lnTo>
                    <a:pt x="5887" y="269"/>
                  </a:lnTo>
                  <a:lnTo>
                    <a:pt x="5903" y="264"/>
                  </a:lnTo>
                  <a:lnTo>
                    <a:pt x="5916" y="258"/>
                  </a:lnTo>
                  <a:lnTo>
                    <a:pt x="5928" y="251"/>
                  </a:lnTo>
                  <a:lnTo>
                    <a:pt x="5941" y="241"/>
                  </a:lnTo>
                  <a:lnTo>
                    <a:pt x="5951" y="231"/>
                  </a:lnTo>
                  <a:lnTo>
                    <a:pt x="5962" y="221"/>
                  </a:lnTo>
                  <a:lnTo>
                    <a:pt x="5970" y="209"/>
                  </a:lnTo>
                  <a:lnTo>
                    <a:pt x="5978" y="195"/>
                  </a:lnTo>
                  <a:lnTo>
                    <a:pt x="5985" y="182"/>
                  </a:lnTo>
                  <a:lnTo>
                    <a:pt x="5990" y="167"/>
                  </a:lnTo>
                  <a:lnTo>
                    <a:pt x="5993" y="153"/>
                  </a:lnTo>
                  <a:lnTo>
                    <a:pt x="5997" y="137"/>
                  </a:lnTo>
                  <a:lnTo>
                    <a:pt x="5997" y="121"/>
                  </a:lnTo>
                  <a:lnTo>
                    <a:pt x="5997" y="0"/>
                  </a:lnTo>
                  <a:lnTo>
                    <a:pt x="0" y="0"/>
                  </a:lnTo>
                  <a:lnTo>
                    <a:pt x="0" y="121"/>
                  </a:lnTo>
                  <a:lnTo>
                    <a:pt x="0" y="121"/>
                  </a:lnTo>
                  <a:lnTo>
                    <a:pt x="2" y="137"/>
                  </a:lnTo>
                  <a:lnTo>
                    <a:pt x="3" y="153"/>
                  </a:lnTo>
                  <a:lnTo>
                    <a:pt x="8" y="167"/>
                  </a:lnTo>
                  <a:lnTo>
                    <a:pt x="13" y="182"/>
                  </a:lnTo>
                  <a:lnTo>
                    <a:pt x="20" y="195"/>
                  </a:lnTo>
                  <a:lnTo>
                    <a:pt x="27" y="209"/>
                  </a:lnTo>
                  <a:lnTo>
                    <a:pt x="37" y="221"/>
                  </a:lnTo>
                  <a:lnTo>
                    <a:pt x="47" y="231"/>
                  </a:lnTo>
                  <a:lnTo>
                    <a:pt x="57" y="241"/>
                  </a:lnTo>
                  <a:lnTo>
                    <a:pt x="69" y="251"/>
                  </a:lnTo>
                  <a:lnTo>
                    <a:pt x="82" y="258"/>
                  </a:lnTo>
                  <a:lnTo>
                    <a:pt x="96" y="264"/>
                  </a:lnTo>
                  <a:lnTo>
                    <a:pt x="109" y="269"/>
                  </a:lnTo>
                  <a:lnTo>
                    <a:pt x="124" y="275"/>
                  </a:lnTo>
                  <a:lnTo>
                    <a:pt x="141" y="276"/>
                  </a:lnTo>
                  <a:lnTo>
                    <a:pt x="156" y="278"/>
                  </a:lnTo>
                  <a:lnTo>
                    <a:pt x="156" y="278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0" name="9Slide.vn 5"/>
            <p:cNvSpPr>
              <a:spLocks noChangeArrowheads="1"/>
            </p:cNvSpPr>
            <p:nvPr/>
          </p:nvSpPr>
          <p:spPr bwMode="auto">
            <a:xfrm>
              <a:off x="4205288" y="533400"/>
              <a:ext cx="8897938" cy="556577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1" name="9Slide.vn 6"/>
            <p:cNvSpPr/>
            <p:nvPr/>
          </p:nvSpPr>
          <p:spPr bwMode="auto">
            <a:xfrm>
              <a:off x="2738438" y="6618288"/>
              <a:ext cx="11828463" cy="239713"/>
            </a:xfrm>
            <a:custGeom>
              <a:avLst/>
              <a:gdLst>
                <a:gd name="T0" fmla="*/ 7451 w 7451"/>
                <a:gd name="T1" fmla="*/ 0 h 151"/>
                <a:gd name="T2" fmla="*/ 4441 w 7451"/>
                <a:gd name="T3" fmla="*/ 1 h 151"/>
                <a:gd name="T4" fmla="*/ 4381 w 7451"/>
                <a:gd name="T5" fmla="*/ 35 h 151"/>
                <a:gd name="T6" fmla="*/ 3097 w 7451"/>
                <a:gd name="T7" fmla="*/ 35 h 151"/>
                <a:gd name="T8" fmla="*/ 3020 w 7451"/>
                <a:gd name="T9" fmla="*/ 1 h 151"/>
                <a:gd name="T10" fmla="*/ 0 w 7451"/>
                <a:gd name="T11" fmla="*/ 0 h 151"/>
                <a:gd name="T12" fmla="*/ 0 w 7451"/>
                <a:gd name="T13" fmla="*/ 35 h 151"/>
                <a:gd name="T14" fmla="*/ 0 w 7451"/>
                <a:gd name="T15" fmla="*/ 35 h 151"/>
                <a:gd name="T16" fmla="*/ 61 w 7451"/>
                <a:gd name="T17" fmla="*/ 53 h 151"/>
                <a:gd name="T18" fmla="*/ 98 w 7451"/>
                <a:gd name="T19" fmla="*/ 65 h 151"/>
                <a:gd name="T20" fmla="*/ 140 w 7451"/>
                <a:gd name="T21" fmla="*/ 75 h 151"/>
                <a:gd name="T22" fmla="*/ 140 w 7451"/>
                <a:gd name="T23" fmla="*/ 75 h 151"/>
                <a:gd name="T24" fmla="*/ 168 w 7451"/>
                <a:gd name="T25" fmla="*/ 82 h 151"/>
                <a:gd name="T26" fmla="*/ 216 w 7451"/>
                <a:gd name="T27" fmla="*/ 90 h 151"/>
                <a:gd name="T28" fmla="*/ 286 w 7451"/>
                <a:gd name="T29" fmla="*/ 102 h 151"/>
                <a:gd name="T30" fmla="*/ 384 w 7451"/>
                <a:gd name="T31" fmla="*/ 114 h 151"/>
                <a:gd name="T32" fmla="*/ 384 w 7451"/>
                <a:gd name="T33" fmla="*/ 114 h 151"/>
                <a:gd name="T34" fmla="*/ 438 w 7451"/>
                <a:gd name="T35" fmla="*/ 121 h 151"/>
                <a:gd name="T36" fmla="*/ 510 w 7451"/>
                <a:gd name="T37" fmla="*/ 127 h 151"/>
                <a:gd name="T38" fmla="*/ 601 w 7451"/>
                <a:gd name="T39" fmla="*/ 134 h 151"/>
                <a:gd name="T40" fmla="*/ 707 w 7451"/>
                <a:gd name="T41" fmla="*/ 141 h 151"/>
                <a:gd name="T42" fmla="*/ 707 w 7451"/>
                <a:gd name="T43" fmla="*/ 141 h 151"/>
                <a:gd name="T44" fmla="*/ 838 w 7451"/>
                <a:gd name="T45" fmla="*/ 146 h 151"/>
                <a:gd name="T46" fmla="*/ 924 w 7451"/>
                <a:gd name="T47" fmla="*/ 148 h 151"/>
                <a:gd name="T48" fmla="*/ 924 w 7451"/>
                <a:gd name="T49" fmla="*/ 148 h 151"/>
                <a:gd name="T50" fmla="*/ 1195 w 7451"/>
                <a:gd name="T51" fmla="*/ 149 h 151"/>
                <a:gd name="T52" fmla="*/ 1718 w 7451"/>
                <a:gd name="T53" fmla="*/ 151 h 151"/>
                <a:gd name="T54" fmla="*/ 3188 w 7451"/>
                <a:gd name="T55" fmla="*/ 151 h 151"/>
                <a:gd name="T56" fmla="*/ 5479 w 7451"/>
                <a:gd name="T57" fmla="*/ 149 h 151"/>
                <a:gd name="T58" fmla="*/ 5479 w 7451"/>
                <a:gd name="T59" fmla="*/ 149 h 151"/>
                <a:gd name="T60" fmla="*/ 5921 w 7451"/>
                <a:gd name="T61" fmla="*/ 151 h 151"/>
                <a:gd name="T62" fmla="*/ 6244 w 7451"/>
                <a:gd name="T63" fmla="*/ 151 h 151"/>
                <a:gd name="T64" fmla="*/ 6529 w 7451"/>
                <a:gd name="T65" fmla="*/ 148 h 151"/>
                <a:gd name="T66" fmla="*/ 6529 w 7451"/>
                <a:gd name="T67" fmla="*/ 148 h 151"/>
                <a:gd name="T68" fmla="*/ 6613 w 7451"/>
                <a:gd name="T69" fmla="*/ 146 h 151"/>
                <a:gd name="T70" fmla="*/ 6744 w 7451"/>
                <a:gd name="T71" fmla="*/ 141 h 151"/>
                <a:gd name="T72" fmla="*/ 6744 w 7451"/>
                <a:gd name="T73" fmla="*/ 141 h 151"/>
                <a:gd name="T74" fmla="*/ 6852 w 7451"/>
                <a:gd name="T75" fmla="*/ 134 h 151"/>
                <a:gd name="T76" fmla="*/ 6941 w 7451"/>
                <a:gd name="T77" fmla="*/ 127 h 151"/>
                <a:gd name="T78" fmla="*/ 7015 w 7451"/>
                <a:gd name="T79" fmla="*/ 121 h 151"/>
                <a:gd name="T80" fmla="*/ 7069 w 7451"/>
                <a:gd name="T81" fmla="*/ 114 h 151"/>
                <a:gd name="T82" fmla="*/ 7069 w 7451"/>
                <a:gd name="T83" fmla="*/ 114 h 151"/>
                <a:gd name="T84" fmla="*/ 7166 w 7451"/>
                <a:gd name="T85" fmla="*/ 102 h 151"/>
                <a:gd name="T86" fmla="*/ 7237 w 7451"/>
                <a:gd name="T87" fmla="*/ 90 h 151"/>
                <a:gd name="T88" fmla="*/ 7284 w 7451"/>
                <a:gd name="T89" fmla="*/ 82 h 151"/>
                <a:gd name="T90" fmla="*/ 7313 w 7451"/>
                <a:gd name="T91" fmla="*/ 75 h 151"/>
                <a:gd name="T92" fmla="*/ 7313 w 7451"/>
                <a:gd name="T93" fmla="*/ 75 h 151"/>
                <a:gd name="T94" fmla="*/ 7353 w 7451"/>
                <a:gd name="T95" fmla="*/ 65 h 151"/>
                <a:gd name="T96" fmla="*/ 7390 w 7451"/>
                <a:gd name="T97" fmla="*/ 53 h 151"/>
                <a:gd name="T98" fmla="*/ 7451 w 7451"/>
                <a:gd name="T99" fmla="*/ 35 h 151"/>
                <a:gd name="T100" fmla="*/ 7451 w 7451"/>
                <a:gd name="T101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7451" h="151">
                  <a:moveTo>
                    <a:pt x="7451" y="0"/>
                  </a:moveTo>
                  <a:lnTo>
                    <a:pt x="4441" y="1"/>
                  </a:lnTo>
                  <a:lnTo>
                    <a:pt x="4381" y="35"/>
                  </a:lnTo>
                  <a:lnTo>
                    <a:pt x="3097" y="35"/>
                  </a:lnTo>
                  <a:lnTo>
                    <a:pt x="3020" y="1"/>
                  </a:lnTo>
                  <a:lnTo>
                    <a:pt x="0" y="0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61" y="53"/>
                  </a:lnTo>
                  <a:lnTo>
                    <a:pt x="98" y="65"/>
                  </a:lnTo>
                  <a:lnTo>
                    <a:pt x="140" y="75"/>
                  </a:lnTo>
                  <a:lnTo>
                    <a:pt x="140" y="75"/>
                  </a:lnTo>
                  <a:lnTo>
                    <a:pt x="168" y="82"/>
                  </a:lnTo>
                  <a:lnTo>
                    <a:pt x="216" y="90"/>
                  </a:lnTo>
                  <a:lnTo>
                    <a:pt x="286" y="102"/>
                  </a:lnTo>
                  <a:lnTo>
                    <a:pt x="384" y="114"/>
                  </a:lnTo>
                  <a:lnTo>
                    <a:pt x="384" y="114"/>
                  </a:lnTo>
                  <a:lnTo>
                    <a:pt x="438" y="121"/>
                  </a:lnTo>
                  <a:lnTo>
                    <a:pt x="510" y="127"/>
                  </a:lnTo>
                  <a:lnTo>
                    <a:pt x="601" y="134"/>
                  </a:lnTo>
                  <a:lnTo>
                    <a:pt x="707" y="141"/>
                  </a:lnTo>
                  <a:lnTo>
                    <a:pt x="707" y="141"/>
                  </a:lnTo>
                  <a:lnTo>
                    <a:pt x="838" y="146"/>
                  </a:lnTo>
                  <a:lnTo>
                    <a:pt x="924" y="148"/>
                  </a:lnTo>
                  <a:lnTo>
                    <a:pt x="924" y="148"/>
                  </a:lnTo>
                  <a:lnTo>
                    <a:pt x="1195" y="149"/>
                  </a:lnTo>
                  <a:lnTo>
                    <a:pt x="1718" y="151"/>
                  </a:lnTo>
                  <a:lnTo>
                    <a:pt x="3188" y="151"/>
                  </a:lnTo>
                  <a:lnTo>
                    <a:pt x="5479" y="149"/>
                  </a:lnTo>
                  <a:lnTo>
                    <a:pt x="5479" y="149"/>
                  </a:lnTo>
                  <a:lnTo>
                    <a:pt x="5921" y="151"/>
                  </a:lnTo>
                  <a:lnTo>
                    <a:pt x="6244" y="151"/>
                  </a:lnTo>
                  <a:lnTo>
                    <a:pt x="6529" y="148"/>
                  </a:lnTo>
                  <a:lnTo>
                    <a:pt x="6529" y="148"/>
                  </a:lnTo>
                  <a:lnTo>
                    <a:pt x="6613" y="146"/>
                  </a:lnTo>
                  <a:lnTo>
                    <a:pt x="6744" y="141"/>
                  </a:lnTo>
                  <a:lnTo>
                    <a:pt x="6744" y="141"/>
                  </a:lnTo>
                  <a:lnTo>
                    <a:pt x="6852" y="134"/>
                  </a:lnTo>
                  <a:lnTo>
                    <a:pt x="6941" y="127"/>
                  </a:lnTo>
                  <a:lnTo>
                    <a:pt x="7015" y="121"/>
                  </a:lnTo>
                  <a:lnTo>
                    <a:pt x="7069" y="114"/>
                  </a:lnTo>
                  <a:lnTo>
                    <a:pt x="7069" y="114"/>
                  </a:lnTo>
                  <a:lnTo>
                    <a:pt x="7166" y="102"/>
                  </a:lnTo>
                  <a:lnTo>
                    <a:pt x="7237" y="90"/>
                  </a:lnTo>
                  <a:lnTo>
                    <a:pt x="7284" y="82"/>
                  </a:lnTo>
                  <a:lnTo>
                    <a:pt x="7313" y="75"/>
                  </a:lnTo>
                  <a:lnTo>
                    <a:pt x="7313" y="75"/>
                  </a:lnTo>
                  <a:lnTo>
                    <a:pt x="7353" y="65"/>
                  </a:lnTo>
                  <a:lnTo>
                    <a:pt x="7390" y="53"/>
                  </a:lnTo>
                  <a:lnTo>
                    <a:pt x="7451" y="35"/>
                  </a:lnTo>
                  <a:lnTo>
                    <a:pt x="7451" y="0"/>
                  </a:lnTo>
                  <a:close/>
                </a:path>
              </a:pathLst>
            </a:custGeom>
            <a:solidFill>
              <a:srgbClr val="A5A6A8"/>
            </a:solidFill>
            <a:ln>
              <a:noFill/>
            </a:ln>
            <a:effectLst>
              <a:innerShdw blurRad="114300">
                <a:prstClr val="black">
                  <a:alpha val="70000"/>
                </a:prst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2" name="9Slide.vn 7"/>
            <p:cNvSpPr/>
            <p:nvPr/>
          </p:nvSpPr>
          <p:spPr bwMode="auto">
            <a:xfrm>
              <a:off x="2738438" y="6618288"/>
              <a:ext cx="11828463" cy="55563"/>
            </a:xfrm>
            <a:custGeom>
              <a:avLst/>
              <a:gdLst>
                <a:gd name="T0" fmla="*/ 7451 w 7451"/>
                <a:gd name="T1" fmla="*/ 35 h 35"/>
                <a:gd name="T2" fmla="*/ 0 w 7451"/>
                <a:gd name="T3" fmla="*/ 35 h 35"/>
                <a:gd name="T4" fmla="*/ 0 w 7451"/>
                <a:gd name="T5" fmla="*/ 0 h 35"/>
                <a:gd name="T6" fmla="*/ 3020 w 7451"/>
                <a:gd name="T7" fmla="*/ 0 h 35"/>
                <a:gd name="T8" fmla="*/ 3047 w 7451"/>
                <a:gd name="T9" fmla="*/ 18 h 35"/>
                <a:gd name="T10" fmla="*/ 4413 w 7451"/>
                <a:gd name="T11" fmla="*/ 18 h 35"/>
                <a:gd name="T12" fmla="*/ 4441 w 7451"/>
                <a:gd name="T13" fmla="*/ 0 h 35"/>
                <a:gd name="T14" fmla="*/ 7451 w 7451"/>
                <a:gd name="T15" fmla="*/ 0 h 35"/>
                <a:gd name="T16" fmla="*/ 7451 w 7451"/>
                <a:gd name="T17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451" h="35">
                  <a:moveTo>
                    <a:pt x="7451" y="35"/>
                  </a:moveTo>
                  <a:lnTo>
                    <a:pt x="0" y="35"/>
                  </a:lnTo>
                  <a:lnTo>
                    <a:pt x="0" y="0"/>
                  </a:lnTo>
                  <a:lnTo>
                    <a:pt x="3020" y="0"/>
                  </a:lnTo>
                  <a:lnTo>
                    <a:pt x="3047" y="18"/>
                  </a:lnTo>
                  <a:lnTo>
                    <a:pt x="4413" y="18"/>
                  </a:lnTo>
                  <a:lnTo>
                    <a:pt x="4441" y="0"/>
                  </a:lnTo>
                  <a:lnTo>
                    <a:pt x="7451" y="0"/>
                  </a:lnTo>
                  <a:lnTo>
                    <a:pt x="7451" y="35"/>
                  </a:lnTo>
                  <a:close/>
                </a:path>
              </a:pathLst>
            </a:custGeom>
            <a:gradFill>
              <a:gsLst>
                <a:gs pos="0">
                  <a:srgbClr val="96999A">
                    <a:lumMod val="70000"/>
                  </a:srgbClr>
                </a:gs>
                <a:gs pos="3000">
                  <a:srgbClr val="96999A"/>
                </a:gs>
                <a:gs pos="100000">
                  <a:srgbClr val="96999A">
                    <a:lumMod val="70000"/>
                  </a:srgbClr>
                </a:gs>
                <a:gs pos="97000">
                  <a:srgbClr val="96999A"/>
                </a:gs>
                <a:gs pos="91000">
                  <a:srgbClr val="DFE0E1"/>
                </a:gs>
                <a:gs pos="9000">
                  <a:srgbClr val="DFE0E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3" name="9Slide.vn 8"/>
            <p:cNvSpPr/>
            <p:nvPr/>
          </p:nvSpPr>
          <p:spPr bwMode="auto">
            <a:xfrm>
              <a:off x="7524750" y="6619875"/>
              <a:ext cx="2255838" cy="90488"/>
            </a:xfrm>
            <a:custGeom>
              <a:avLst/>
              <a:gdLst>
                <a:gd name="T0" fmla="*/ 1389 w 1421"/>
                <a:gd name="T1" fmla="*/ 2 h 57"/>
                <a:gd name="T2" fmla="*/ 32 w 1421"/>
                <a:gd name="T3" fmla="*/ 2 h 57"/>
                <a:gd name="T4" fmla="*/ 32 w 1421"/>
                <a:gd name="T5" fmla="*/ 2 h 57"/>
                <a:gd name="T6" fmla="*/ 17 w 1421"/>
                <a:gd name="T7" fmla="*/ 2 h 57"/>
                <a:gd name="T8" fmla="*/ 0 w 1421"/>
                <a:gd name="T9" fmla="*/ 0 h 57"/>
                <a:gd name="T10" fmla="*/ 0 w 1421"/>
                <a:gd name="T11" fmla="*/ 34 h 57"/>
                <a:gd name="T12" fmla="*/ 0 w 1421"/>
                <a:gd name="T13" fmla="*/ 34 h 57"/>
                <a:gd name="T14" fmla="*/ 20 w 1421"/>
                <a:gd name="T15" fmla="*/ 44 h 57"/>
                <a:gd name="T16" fmla="*/ 42 w 1421"/>
                <a:gd name="T17" fmla="*/ 51 h 57"/>
                <a:gd name="T18" fmla="*/ 64 w 1421"/>
                <a:gd name="T19" fmla="*/ 56 h 57"/>
                <a:gd name="T20" fmla="*/ 85 w 1421"/>
                <a:gd name="T21" fmla="*/ 57 h 57"/>
                <a:gd name="T22" fmla="*/ 1337 w 1421"/>
                <a:gd name="T23" fmla="*/ 57 h 57"/>
                <a:gd name="T24" fmla="*/ 1337 w 1421"/>
                <a:gd name="T25" fmla="*/ 57 h 57"/>
                <a:gd name="T26" fmla="*/ 1359 w 1421"/>
                <a:gd name="T27" fmla="*/ 56 h 57"/>
                <a:gd name="T28" fmla="*/ 1381 w 1421"/>
                <a:gd name="T29" fmla="*/ 51 h 57"/>
                <a:gd name="T30" fmla="*/ 1401 w 1421"/>
                <a:gd name="T31" fmla="*/ 44 h 57"/>
                <a:gd name="T32" fmla="*/ 1421 w 1421"/>
                <a:gd name="T33" fmla="*/ 34 h 57"/>
                <a:gd name="T34" fmla="*/ 1421 w 1421"/>
                <a:gd name="T35" fmla="*/ 0 h 57"/>
                <a:gd name="T36" fmla="*/ 1421 w 1421"/>
                <a:gd name="T37" fmla="*/ 0 h 57"/>
                <a:gd name="T38" fmla="*/ 1406 w 1421"/>
                <a:gd name="T39" fmla="*/ 2 h 57"/>
                <a:gd name="T40" fmla="*/ 1389 w 1421"/>
                <a:gd name="T41" fmla="*/ 2 h 57"/>
                <a:gd name="T42" fmla="*/ 1389 w 1421"/>
                <a:gd name="T43" fmla="*/ 2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21" h="57">
                  <a:moveTo>
                    <a:pt x="1389" y="2"/>
                  </a:moveTo>
                  <a:lnTo>
                    <a:pt x="32" y="2"/>
                  </a:lnTo>
                  <a:lnTo>
                    <a:pt x="32" y="2"/>
                  </a:lnTo>
                  <a:lnTo>
                    <a:pt x="17" y="2"/>
                  </a:lnTo>
                  <a:lnTo>
                    <a:pt x="0" y="0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20" y="44"/>
                  </a:lnTo>
                  <a:lnTo>
                    <a:pt x="42" y="51"/>
                  </a:lnTo>
                  <a:lnTo>
                    <a:pt x="64" y="56"/>
                  </a:lnTo>
                  <a:lnTo>
                    <a:pt x="85" y="57"/>
                  </a:lnTo>
                  <a:lnTo>
                    <a:pt x="1337" y="57"/>
                  </a:lnTo>
                  <a:lnTo>
                    <a:pt x="1337" y="57"/>
                  </a:lnTo>
                  <a:lnTo>
                    <a:pt x="1359" y="56"/>
                  </a:lnTo>
                  <a:lnTo>
                    <a:pt x="1381" y="51"/>
                  </a:lnTo>
                  <a:lnTo>
                    <a:pt x="1401" y="44"/>
                  </a:lnTo>
                  <a:lnTo>
                    <a:pt x="1421" y="34"/>
                  </a:lnTo>
                  <a:lnTo>
                    <a:pt x="1421" y="0"/>
                  </a:lnTo>
                  <a:lnTo>
                    <a:pt x="1421" y="0"/>
                  </a:lnTo>
                  <a:lnTo>
                    <a:pt x="1406" y="2"/>
                  </a:lnTo>
                  <a:lnTo>
                    <a:pt x="1389" y="2"/>
                  </a:lnTo>
                  <a:lnTo>
                    <a:pt x="1389" y="2"/>
                  </a:lnTo>
                  <a:close/>
                </a:path>
              </a:pathLst>
            </a:custGeom>
            <a:gradFill>
              <a:gsLst>
                <a:gs pos="0">
                  <a:srgbClr val="96999A">
                    <a:lumMod val="70000"/>
                  </a:srgbClr>
                </a:gs>
                <a:gs pos="3000">
                  <a:srgbClr val="96999A"/>
                </a:gs>
                <a:gs pos="100000">
                  <a:srgbClr val="96999A">
                    <a:lumMod val="70000"/>
                  </a:srgbClr>
                </a:gs>
                <a:gs pos="97000">
                  <a:srgbClr val="96999A"/>
                </a:gs>
                <a:gs pos="91000">
                  <a:srgbClr val="DFE0E1">
                    <a:lumMod val="95000"/>
                  </a:srgbClr>
                </a:gs>
                <a:gs pos="9000">
                  <a:srgbClr val="DFE0E1">
                    <a:lumMod val="95000"/>
                  </a:srgbClr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3219450" y="1400175"/>
            <a:ext cx="5762625" cy="360045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Thêm ảnh</a:t>
            </a:r>
          </a:p>
        </p:txBody>
      </p:sp>
      <p:pic>
        <p:nvPicPr>
          <p:cNvPr id="29" name="Picture 2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7" name="Group 6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1/27/2026</a:t>
            </a:fld>
            <a:endParaRPr lang="en-US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cboo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2">
            <a:alphaModFix amt="85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2247" y="1727802"/>
            <a:ext cx="3453753" cy="3402396"/>
          </a:xfrm>
          <a:prstGeom prst="rect">
            <a:avLst/>
          </a:prstGeom>
        </p:spPr>
      </p:pic>
      <p:grpSp>
        <p:nvGrpSpPr>
          <p:cNvPr id="10" name="9Slide.vn 1"/>
          <p:cNvGrpSpPr/>
          <p:nvPr userDrawn="1"/>
        </p:nvGrpSpPr>
        <p:grpSpPr>
          <a:xfrm>
            <a:off x="5868547" y="1080007"/>
            <a:ext cx="7666588" cy="4425443"/>
            <a:chOff x="2738438" y="30163"/>
            <a:chExt cx="11828463" cy="6827838"/>
          </a:xfrm>
        </p:grpSpPr>
        <p:sp>
          <p:nvSpPr>
            <p:cNvPr id="17" name="9Slide.vn 2"/>
            <p:cNvSpPr/>
            <p:nvPr/>
          </p:nvSpPr>
          <p:spPr bwMode="auto">
            <a:xfrm>
              <a:off x="3821113" y="30163"/>
              <a:ext cx="9663113" cy="6823075"/>
            </a:xfrm>
            <a:custGeom>
              <a:avLst/>
              <a:gdLst>
                <a:gd name="T0" fmla="*/ 201 w 6087"/>
                <a:gd name="T1" fmla="*/ 4298 h 4298"/>
                <a:gd name="T2" fmla="*/ 181 w 6087"/>
                <a:gd name="T3" fmla="*/ 4298 h 4298"/>
                <a:gd name="T4" fmla="*/ 141 w 6087"/>
                <a:gd name="T5" fmla="*/ 4289 h 4298"/>
                <a:gd name="T6" fmla="*/ 106 w 6087"/>
                <a:gd name="T7" fmla="*/ 4274 h 4298"/>
                <a:gd name="T8" fmla="*/ 74 w 6087"/>
                <a:gd name="T9" fmla="*/ 4252 h 4298"/>
                <a:gd name="T10" fmla="*/ 47 w 6087"/>
                <a:gd name="T11" fmla="*/ 4225 h 4298"/>
                <a:gd name="T12" fmla="*/ 25 w 6087"/>
                <a:gd name="T13" fmla="*/ 4193 h 4298"/>
                <a:gd name="T14" fmla="*/ 10 w 6087"/>
                <a:gd name="T15" fmla="*/ 4158 h 4298"/>
                <a:gd name="T16" fmla="*/ 1 w 6087"/>
                <a:gd name="T17" fmla="*/ 4118 h 4298"/>
                <a:gd name="T18" fmla="*/ 0 w 6087"/>
                <a:gd name="T19" fmla="*/ 201 h 4298"/>
                <a:gd name="T20" fmla="*/ 1 w 6087"/>
                <a:gd name="T21" fmla="*/ 181 h 4298"/>
                <a:gd name="T22" fmla="*/ 10 w 6087"/>
                <a:gd name="T23" fmla="*/ 141 h 4298"/>
                <a:gd name="T24" fmla="*/ 25 w 6087"/>
                <a:gd name="T25" fmla="*/ 105 h 4298"/>
                <a:gd name="T26" fmla="*/ 47 w 6087"/>
                <a:gd name="T27" fmla="*/ 74 h 4298"/>
                <a:gd name="T28" fmla="*/ 74 w 6087"/>
                <a:gd name="T29" fmla="*/ 47 h 4298"/>
                <a:gd name="T30" fmla="*/ 106 w 6087"/>
                <a:gd name="T31" fmla="*/ 25 h 4298"/>
                <a:gd name="T32" fmla="*/ 141 w 6087"/>
                <a:gd name="T33" fmla="*/ 10 h 4298"/>
                <a:gd name="T34" fmla="*/ 181 w 6087"/>
                <a:gd name="T35" fmla="*/ 1 h 4298"/>
                <a:gd name="T36" fmla="*/ 5887 w 6087"/>
                <a:gd name="T37" fmla="*/ 0 h 4298"/>
                <a:gd name="T38" fmla="*/ 5907 w 6087"/>
                <a:gd name="T39" fmla="*/ 1 h 4298"/>
                <a:gd name="T40" fmla="*/ 5946 w 6087"/>
                <a:gd name="T41" fmla="*/ 10 h 4298"/>
                <a:gd name="T42" fmla="*/ 5983 w 6087"/>
                <a:gd name="T43" fmla="*/ 25 h 4298"/>
                <a:gd name="T44" fmla="*/ 6015 w 6087"/>
                <a:gd name="T45" fmla="*/ 47 h 4298"/>
                <a:gd name="T46" fmla="*/ 6042 w 6087"/>
                <a:gd name="T47" fmla="*/ 74 h 4298"/>
                <a:gd name="T48" fmla="*/ 6064 w 6087"/>
                <a:gd name="T49" fmla="*/ 105 h 4298"/>
                <a:gd name="T50" fmla="*/ 6079 w 6087"/>
                <a:gd name="T51" fmla="*/ 141 h 4298"/>
                <a:gd name="T52" fmla="*/ 6087 w 6087"/>
                <a:gd name="T53" fmla="*/ 181 h 4298"/>
                <a:gd name="T54" fmla="*/ 6087 w 6087"/>
                <a:gd name="T55" fmla="*/ 4097 h 4298"/>
                <a:gd name="T56" fmla="*/ 6087 w 6087"/>
                <a:gd name="T57" fmla="*/ 4118 h 4298"/>
                <a:gd name="T58" fmla="*/ 6079 w 6087"/>
                <a:gd name="T59" fmla="*/ 4158 h 4298"/>
                <a:gd name="T60" fmla="*/ 6064 w 6087"/>
                <a:gd name="T61" fmla="*/ 4193 h 4298"/>
                <a:gd name="T62" fmla="*/ 6042 w 6087"/>
                <a:gd name="T63" fmla="*/ 4225 h 4298"/>
                <a:gd name="T64" fmla="*/ 6015 w 6087"/>
                <a:gd name="T65" fmla="*/ 4252 h 4298"/>
                <a:gd name="T66" fmla="*/ 5983 w 6087"/>
                <a:gd name="T67" fmla="*/ 4274 h 4298"/>
                <a:gd name="T68" fmla="*/ 5946 w 6087"/>
                <a:gd name="T69" fmla="*/ 4289 h 4298"/>
                <a:gd name="T70" fmla="*/ 5907 w 6087"/>
                <a:gd name="T71" fmla="*/ 4298 h 4298"/>
                <a:gd name="T72" fmla="*/ 5887 w 6087"/>
                <a:gd name="T73" fmla="*/ 4298 h 4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087" h="4298">
                  <a:moveTo>
                    <a:pt x="5887" y="4298"/>
                  </a:moveTo>
                  <a:lnTo>
                    <a:pt x="201" y="4298"/>
                  </a:lnTo>
                  <a:lnTo>
                    <a:pt x="201" y="4298"/>
                  </a:lnTo>
                  <a:lnTo>
                    <a:pt x="181" y="4298"/>
                  </a:lnTo>
                  <a:lnTo>
                    <a:pt x="161" y="4294"/>
                  </a:lnTo>
                  <a:lnTo>
                    <a:pt x="141" y="4289"/>
                  </a:lnTo>
                  <a:lnTo>
                    <a:pt x="122" y="4282"/>
                  </a:lnTo>
                  <a:lnTo>
                    <a:pt x="106" y="4274"/>
                  </a:lnTo>
                  <a:lnTo>
                    <a:pt x="89" y="4264"/>
                  </a:lnTo>
                  <a:lnTo>
                    <a:pt x="74" y="4252"/>
                  </a:lnTo>
                  <a:lnTo>
                    <a:pt x="58" y="4239"/>
                  </a:lnTo>
                  <a:lnTo>
                    <a:pt x="47" y="4225"/>
                  </a:lnTo>
                  <a:lnTo>
                    <a:pt x="35" y="4210"/>
                  </a:lnTo>
                  <a:lnTo>
                    <a:pt x="25" y="4193"/>
                  </a:lnTo>
                  <a:lnTo>
                    <a:pt x="16" y="4177"/>
                  </a:lnTo>
                  <a:lnTo>
                    <a:pt x="10" y="4158"/>
                  </a:lnTo>
                  <a:lnTo>
                    <a:pt x="5" y="4138"/>
                  </a:lnTo>
                  <a:lnTo>
                    <a:pt x="1" y="4118"/>
                  </a:lnTo>
                  <a:lnTo>
                    <a:pt x="0" y="4097"/>
                  </a:lnTo>
                  <a:lnTo>
                    <a:pt x="0" y="201"/>
                  </a:lnTo>
                  <a:lnTo>
                    <a:pt x="0" y="201"/>
                  </a:lnTo>
                  <a:lnTo>
                    <a:pt x="1" y="181"/>
                  </a:lnTo>
                  <a:lnTo>
                    <a:pt x="5" y="161"/>
                  </a:lnTo>
                  <a:lnTo>
                    <a:pt x="10" y="141"/>
                  </a:lnTo>
                  <a:lnTo>
                    <a:pt x="16" y="122"/>
                  </a:lnTo>
                  <a:lnTo>
                    <a:pt x="25" y="105"/>
                  </a:lnTo>
                  <a:lnTo>
                    <a:pt x="35" y="89"/>
                  </a:lnTo>
                  <a:lnTo>
                    <a:pt x="47" y="74"/>
                  </a:lnTo>
                  <a:lnTo>
                    <a:pt x="58" y="58"/>
                  </a:lnTo>
                  <a:lnTo>
                    <a:pt x="74" y="47"/>
                  </a:lnTo>
                  <a:lnTo>
                    <a:pt x="89" y="35"/>
                  </a:lnTo>
                  <a:lnTo>
                    <a:pt x="106" y="25"/>
                  </a:lnTo>
                  <a:lnTo>
                    <a:pt x="122" y="16"/>
                  </a:lnTo>
                  <a:lnTo>
                    <a:pt x="141" y="10"/>
                  </a:lnTo>
                  <a:lnTo>
                    <a:pt x="161" y="5"/>
                  </a:lnTo>
                  <a:lnTo>
                    <a:pt x="181" y="1"/>
                  </a:lnTo>
                  <a:lnTo>
                    <a:pt x="201" y="0"/>
                  </a:lnTo>
                  <a:lnTo>
                    <a:pt x="5887" y="0"/>
                  </a:lnTo>
                  <a:lnTo>
                    <a:pt x="5887" y="0"/>
                  </a:lnTo>
                  <a:lnTo>
                    <a:pt x="5907" y="1"/>
                  </a:lnTo>
                  <a:lnTo>
                    <a:pt x="5927" y="5"/>
                  </a:lnTo>
                  <a:lnTo>
                    <a:pt x="5946" y="10"/>
                  </a:lnTo>
                  <a:lnTo>
                    <a:pt x="5964" y="16"/>
                  </a:lnTo>
                  <a:lnTo>
                    <a:pt x="5983" y="25"/>
                  </a:lnTo>
                  <a:lnTo>
                    <a:pt x="6000" y="35"/>
                  </a:lnTo>
                  <a:lnTo>
                    <a:pt x="6015" y="47"/>
                  </a:lnTo>
                  <a:lnTo>
                    <a:pt x="6028" y="58"/>
                  </a:lnTo>
                  <a:lnTo>
                    <a:pt x="6042" y="74"/>
                  </a:lnTo>
                  <a:lnTo>
                    <a:pt x="6054" y="89"/>
                  </a:lnTo>
                  <a:lnTo>
                    <a:pt x="6064" y="105"/>
                  </a:lnTo>
                  <a:lnTo>
                    <a:pt x="6072" y="122"/>
                  </a:lnTo>
                  <a:lnTo>
                    <a:pt x="6079" y="141"/>
                  </a:lnTo>
                  <a:lnTo>
                    <a:pt x="6084" y="161"/>
                  </a:lnTo>
                  <a:lnTo>
                    <a:pt x="6087" y="181"/>
                  </a:lnTo>
                  <a:lnTo>
                    <a:pt x="6087" y="201"/>
                  </a:lnTo>
                  <a:lnTo>
                    <a:pt x="6087" y="4097"/>
                  </a:lnTo>
                  <a:lnTo>
                    <a:pt x="6087" y="4097"/>
                  </a:lnTo>
                  <a:lnTo>
                    <a:pt x="6087" y="4118"/>
                  </a:lnTo>
                  <a:lnTo>
                    <a:pt x="6084" y="4138"/>
                  </a:lnTo>
                  <a:lnTo>
                    <a:pt x="6079" y="4158"/>
                  </a:lnTo>
                  <a:lnTo>
                    <a:pt x="6072" y="4177"/>
                  </a:lnTo>
                  <a:lnTo>
                    <a:pt x="6064" y="4193"/>
                  </a:lnTo>
                  <a:lnTo>
                    <a:pt x="6054" y="4210"/>
                  </a:lnTo>
                  <a:lnTo>
                    <a:pt x="6042" y="4225"/>
                  </a:lnTo>
                  <a:lnTo>
                    <a:pt x="6028" y="4239"/>
                  </a:lnTo>
                  <a:lnTo>
                    <a:pt x="6015" y="4252"/>
                  </a:lnTo>
                  <a:lnTo>
                    <a:pt x="6000" y="4264"/>
                  </a:lnTo>
                  <a:lnTo>
                    <a:pt x="5983" y="4274"/>
                  </a:lnTo>
                  <a:lnTo>
                    <a:pt x="5964" y="4282"/>
                  </a:lnTo>
                  <a:lnTo>
                    <a:pt x="5946" y="4289"/>
                  </a:lnTo>
                  <a:lnTo>
                    <a:pt x="5927" y="4294"/>
                  </a:lnTo>
                  <a:lnTo>
                    <a:pt x="5907" y="4298"/>
                  </a:lnTo>
                  <a:lnTo>
                    <a:pt x="5887" y="4298"/>
                  </a:lnTo>
                  <a:lnTo>
                    <a:pt x="5887" y="4298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B0B2B4"/>
                </a:gs>
                <a:gs pos="100000">
                  <a:srgbClr val="DFE0E1"/>
                </a:gs>
              </a:gsLst>
              <a:lin ang="0" scaled="1"/>
              <a:tileRect/>
            </a:gradFill>
            <a:ln>
              <a:noFill/>
            </a:ln>
            <a:effectLst>
              <a:innerShdw blurRad="63500">
                <a:prstClr val="black">
                  <a:alpha val="40000"/>
                </a:prst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8" name="9Slide.vn 3"/>
            <p:cNvSpPr/>
            <p:nvPr/>
          </p:nvSpPr>
          <p:spPr bwMode="auto">
            <a:xfrm>
              <a:off x="3865563" y="74613"/>
              <a:ext cx="9574213" cy="6735763"/>
            </a:xfrm>
            <a:custGeom>
              <a:avLst/>
              <a:gdLst>
                <a:gd name="T0" fmla="*/ 173 w 6031"/>
                <a:gd name="T1" fmla="*/ 0 h 4243"/>
                <a:gd name="T2" fmla="*/ 155 w 6031"/>
                <a:gd name="T3" fmla="*/ 2 h 4243"/>
                <a:gd name="T4" fmla="*/ 121 w 6031"/>
                <a:gd name="T5" fmla="*/ 9 h 4243"/>
                <a:gd name="T6" fmla="*/ 91 w 6031"/>
                <a:gd name="T7" fmla="*/ 22 h 4243"/>
                <a:gd name="T8" fmla="*/ 64 w 6031"/>
                <a:gd name="T9" fmla="*/ 40 h 4243"/>
                <a:gd name="T10" fmla="*/ 41 w 6031"/>
                <a:gd name="T11" fmla="*/ 64 h 4243"/>
                <a:gd name="T12" fmla="*/ 22 w 6031"/>
                <a:gd name="T13" fmla="*/ 91 h 4243"/>
                <a:gd name="T14" fmla="*/ 9 w 6031"/>
                <a:gd name="T15" fmla="*/ 121 h 4243"/>
                <a:gd name="T16" fmla="*/ 2 w 6031"/>
                <a:gd name="T17" fmla="*/ 157 h 4243"/>
                <a:gd name="T18" fmla="*/ 0 w 6031"/>
                <a:gd name="T19" fmla="*/ 4069 h 4243"/>
                <a:gd name="T20" fmla="*/ 2 w 6031"/>
                <a:gd name="T21" fmla="*/ 4086 h 4243"/>
                <a:gd name="T22" fmla="*/ 9 w 6031"/>
                <a:gd name="T23" fmla="*/ 4120 h 4243"/>
                <a:gd name="T24" fmla="*/ 22 w 6031"/>
                <a:gd name="T25" fmla="*/ 4152 h 4243"/>
                <a:gd name="T26" fmla="*/ 41 w 6031"/>
                <a:gd name="T27" fmla="*/ 4179 h 4243"/>
                <a:gd name="T28" fmla="*/ 64 w 6031"/>
                <a:gd name="T29" fmla="*/ 4202 h 4243"/>
                <a:gd name="T30" fmla="*/ 91 w 6031"/>
                <a:gd name="T31" fmla="*/ 4221 h 4243"/>
                <a:gd name="T32" fmla="*/ 121 w 6031"/>
                <a:gd name="T33" fmla="*/ 4234 h 4243"/>
                <a:gd name="T34" fmla="*/ 155 w 6031"/>
                <a:gd name="T35" fmla="*/ 4241 h 4243"/>
                <a:gd name="T36" fmla="*/ 5859 w 6031"/>
                <a:gd name="T37" fmla="*/ 4243 h 4243"/>
                <a:gd name="T38" fmla="*/ 5876 w 6031"/>
                <a:gd name="T39" fmla="*/ 4241 h 4243"/>
                <a:gd name="T40" fmla="*/ 5910 w 6031"/>
                <a:gd name="T41" fmla="*/ 4234 h 4243"/>
                <a:gd name="T42" fmla="*/ 5941 w 6031"/>
                <a:gd name="T43" fmla="*/ 4221 h 4243"/>
                <a:gd name="T44" fmla="*/ 5968 w 6031"/>
                <a:gd name="T45" fmla="*/ 4202 h 4243"/>
                <a:gd name="T46" fmla="*/ 5992 w 6031"/>
                <a:gd name="T47" fmla="*/ 4179 h 4243"/>
                <a:gd name="T48" fmla="*/ 6010 w 6031"/>
                <a:gd name="T49" fmla="*/ 4152 h 4243"/>
                <a:gd name="T50" fmla="*/ 6024 w 6031"/>
                <a:gd name="T51" fmla="*/ 4120 h 4243"/>
                <a:gd name="T52" fmla="*/ 6031 w 6031"/>
                <a:gd name="T53" fmla="*/ 4086 h 4243"/>
                <a:gd name="T54" fmla="*/ 6031 w 6031"/>
                <a:gd name="T55" fmla="*/ 173 h 4243"/>
                <a:gd name="T56" fmla="*/ 6031 w 6031"/>
                <a:gd name="T57" fmla="*/ 157 h 4243"/>
                <a:gd name="T58" fmla="*/ 6024 w 6031"/>
                <a:gd name="T59" fmla="*/ 121 h 4243"/>
                <a:gd name="T60" fmla="*/ 6010 w 6031"/>
                <a:gd name="T61" fmla="*/ 91 h 4243"/>
                <a:gd name="T62" fmla="*/ 5992 w 6031"/>
                <a:gd name="T63" fmla="*/ 64 h 4243"/>
                <a:gd name="T64" fmla="*/ 5968 w 6031"/>
                <a:gd name="T65" fmla="*/ 40 h 4243"/>
                <a:gd name="T66" fmla="*/ 5941 w 6031"/>
                <a:gd name="T67" fmla="*/ 22 h 4243"/>
                <a:gd name="T68" fmla="*/ 5910 w 6031"/>
                <a:gd name="T69" fmla="*/ 9 h 4243"/>
                <a:gd name="T70" fmla="*/ 5876 w 6031"/>
                <a:gd name="T71" fmla="*/ 2 h 4243"/>
                <a:gd name="T72" fmla="*/ 5859 w 6031"/>
                <a:gd name="T73" fmla="*/ 0 h 4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031" h="4243">
                  <a:moveTo>
                    <a:pt x="5859" y="0"/>
                  </a:moveTo>
                  <a:lnTo>
                    <a:pt x="173" y="0"/>
                  </a:lnTo>
                  <a:lnTo>
                    <a:pt x="173" y="0"/>
                  </a:lnTo>
                  <a:lnTo>
                    <a:pt x="155" y="2"/>
                  </a:lnTo>
                  <a:lnTo>
                    <a:pt x="138" y="3"/>
                  </a:lnTo>
                  <a:lnTo>
                    <a:pt x="121" y="9"/>
                  </a:lnTo>
                  <a:lnTo>
                    <a:pt x="106" y="14"/>
                  </a:lnTo>
                  <a:lnTo>
                    <a:pt x="91" y="22"/>
                  </a:lnTo>
                  <a:lnTo>
                    <a:pt x="78" y="30"/>
                  </a:lnTo>
                  <a:lnTo>
                    <a:pt x="64" y="40"/>
                  </a:lnTo>
                  <a:lnTo>
                    <a:pt x="51" y="51"/>
                  </a:lnTo>
                  <a:lnTo>
                    <a:pt x="41" y="64"/>
                  </a:lnTo>
                  <a:lnTo>
                    <a:pt x="30" y="77"/>
                  </a:lnTo>
                  <a:lnTo>
                    <a:pt x="22" y="91"/>
                  </a:lnTo>
                  <a:lnTo>
                    <a:pt x="14" y="106"/>
                  </a:lnTo>
                  <a:lnTo>
                    <a:pt x="9" y="121"/>
                  </a:lnTo>
                  <a:lnTo>
                    <a:pt x="3" y="138"/>
                  </a:lnTo>
                  <a:lnTo>
                    <a:pt x="2" y="157"/>
                  </a:lnTo>
                  <a:lnTo>
                    <a:pt x="0" y="173"/>
                  </a:lnTo>
                  <a:lnTo>
                    <a:pt x="0" y="4069"/>
                  </a:lnTo>
                  <a:lnTo>
                    <a:pt x="0" y="4069"/>
                  </a:lnTo>
                  <a:lnTo>
                    <a:pt x="2" y="4086"/>
                  </a:lnTo>
                  <a:lnTo>
                    <a:pt x="3" y="4105"/>
                  </a:lnTo>
                  <a:lnTo>
                    <a:pt x="9" y="4120"/>
                  </a:lnTo>
                  <a:lnTo>
                    <a:pt x="14" y="4137"/>
                  </a:lnTo>
                  <a:lnTo>
                    <a:pt x="22" y="4152"/>
                  </a:lnTo>
                  <a:lnTo>
                    <a:pt x="30" y="4165"/>
                  </a:lnTo>
                  <a:lnTo>
                    <a:pt x="41" y="4179"/>
                  </a:lnTo>
                  <a:lnTo>
                    <a:pt x="51" y="4192"/>
                  </a:lnTo>
                  <a:lnTo>
                    <a:pt x="64" y="4202"/>
                  </a:lnTo>
                  <a:lnTo>
                    <a:pt x="78" y="4212"/>
                  </a:lnTo>
                  <a:lnTo>
                    <a:pt x="91" y="4221"/>
                  </a:lnTo>
                  <a:lnTo>
                    <a:pt x="106" y="4229"/>
                  </a:lnTo>
                  <a:lnTo>
                    <a:pt x="121" y="4234"/>
                  </a:lnTo>
                  <a:lnTo>
                    <a:pt x="138" y="4239"/>
                  </a:lnTo>
                  <a:lnTo>
                    <a:pt x="155" y="4241"/>
                  </a:lnTo>
                  <a:lnTo>
                    <a:pt x="173" y="4243"/>
                  </a:lnTo>
                  <a:lnTo>
                    <a:pt x="5859" y="4243"/>
                  </a:lnTo>
                  <a:lnTo>
                    <a:pt x="5859" y="4243"/>
                  </a:lnTo>
                  <a:lnTo>
                    <a:pt x="5876" y="4241"/>
                  </a:lnTo>
                  <a:lnTo>
                    <a:pt x="5893" y="4239"/>
                  </a:lnTo>
                  <a:lnTo>
                    <a:pt x="5910" y="4234"/>
                  </a:lnTo>
                  <a:lnTo>
                    <a:pt x="5926" y="4229"/>
                  </a:lnTo>
                  <a:lnTo>
                    <a:pt x="5941" y="4221"/>
                  </a:lnTo>
                  <a:lnTo>
                    <a:pt x="5955" y="4212"/>
                  </a:lnTo>
                  <a:lnTo>
                    <a:pt x="5968" y="4202"/>
                  </a:lnTo>
                  <a:lnTo>
                    <a:pt x="5980" y="4192"/>
                  </a:lnTo>
                  <a:lnTo>
                    <a:pt x="5992" y="4179"/>
                  </a:lnTo>
                  <a:lnTo>
                    <a:pt x="6002" y="4165"/>
                  </a:lnTo>
                  <a:lnTo>
                    <a:pt x="6010" y="4152"/>
                  </a:lnTo>
                  <a:lnTo>
                    <a:pt x="6017" y="4137"/>
                  </a:lnTo>
                  <a:lnTo>
                    <a:pt x="6024" y="4120"/>
                  </a:lnTo>
                  <a:lnTo>
                    <a:pt x="6027" y="4105"/>
                  </a:lnTo>
                  <a:lnTo>
                    <a:pt x="6031" y="4086"/>
                  </a:lnTo>
                  <a:lnTo>
                    <a:pt x="6031" y="4069"/>
                  </a:lnTo>
                  <a:lnTo>
                    <a:pt x="6031" y="173"/>
                  </a:lnTo>
                  <a:lnTo>
                    <a:pt x="6031" y="173"/>
                  </a:lnTo>
                  <a:lnTo>
                    <a:pt x="6031" y="157"/>
                  </a:lnTo>
                  <a:lnTo>
                    <a:pt x="6027" y="138"/>
                  </a:lnTo>
                  <a:lnTo>
                    <a:pt x="6024" y="121"/>
                  </a:lnTo>
                  <a:lnTo>
                    <a:pt x="6017" y="106"/>
                  </a:lnTo>
                  <a:lnTo>
                    <a:pt x="6010" y="91"/>
                  </a:lnTo>
                  <a:lnTo>
                    <a:pt x="6002" y="77"/>
                  </a:lnTo>
                  <a:lnTo>
                    <a:pt x="5992" y="64"/>
                  </a:lnTo>
                  <a:lnTo>
                    <a:pt x="5980" y="51"/>
                  </a:lnTo>
                  <a:lnTo>
                    <a:pt x="5968" y="40"/>
                  </a:lnTo>
                  <a:lnTo>
                    <a:pt x="5955" y="30"/>
                  </a:lnTo>
                  <a:lnTo>
                    <a:pt x="5941" y="22"/>
                  </a:lnTo>
                  <a:lnTo>
                    <a:pt x="5926" y="14"/>
                  </a:lnTo>
                  <a:lnTo>
                    <a:pt x="5910" y="9"/>
                  </a:lnTo>
                  <a:lnTo>
                    <a:pt x="5893" y="3"/>
                  </a:lnTo>
                  <a:lnTo>
                    <a:pt x="5876" y="2"/>
                  </a:lnTo>
                  <a:lnTo>
                    <a:pt x="5859" y="0"/>
                  </a:lnTo>
                  <a:lnTo>
                    <a:pt x="585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>
              <a:outerShdw blurRad="25400" algn="ctr" rotWithShape="0">
                <a:prstClr val="black">
                  <a:alpha val="61000"/>
                </a:prst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9" name="9Slide.vn 4"/>
            <p:cNvSpPr/>
            <p:nvPr/>
          </p:nvSpPr>
          <p:spPr bwMode="auto">
            <a:xfrm>
              <a:off x="3892550" y="6342063"/>
              <a:ext cx="9520238" cy="441325"/>
            </a:xfrm>
            <a:custGeom>
              <a:avLst/>
              <a:gdLst>
                <a:gd name="T0" fmla="*/ 156 w 5997"/>
                <a:gd name="T1" fmla="*/ 278 h 278"/>
                <a:gd name="T2" fmla="*/ 5842 w 5997"/>
                <a:gd name="T3" fmla="*/ 278 h 278"/>
                <a:gd name="T4" fmla="*/ 5842 w 5997"/>
                <a:gd name="T5" fmla="*/ 278 h 278"/>
                <a:gd name="T6" fmla="*/ 5857 w 5997"/>
                <a:gd name="T7" fmla="*/ 276 h 278"/>
                <a:gd name="T8" fmla="*/ 5872 w 5997"/>
                <a:gd name="T9" fmla="*/ 275 h 278"/>
                <a:gd name="T10" fmla="*/ 5887 w 5997"/>
                <a:gd name="T11" fmla="*/ 269 h 278"/>
                <a:gd name="T12" fmla="*/ 5903 w 5997"/>
                <a:gd name="T13" fmla="*/ 264 h 278"/>
                <a:gd name="T14" fmla="*/ 5916 w 5997"/>
                <a:gd name="T15" fmla="*/ 258 h 278"/>
                <a:gd name="T16" fmla="*/ 5928 w 5997"/>
                <a:gd name="T17" fmla="*/ 251 h 278"/>
                <a:gd name="T18" fmla="*/ 5941 w 5997"/>
                <a:gd name="T19" fmla="*/ 241 h 278"/>
                <a:gd name="T20" fmla="*/ 5951 w 5997"/>
                <a:gd name="T21" fmla="*/ 231 h 278"/>
                <a:gd name="T22" fmla="*/ 5962 w 5997"/>
                <a:gd name="T23" fmla="*/ 221 h 278"/>
                <a:gd name="T24" fmla="*/ 5970 w 5997"/>
                <a:gd name="T25" fmla="*/ 209 h 278"/>
                <a:gd name="T26" fmla="*/ 5978 w 5997"/>
                <a:gd name="T27" fmla="*/ 195 h 278"/>
                <a:gd name="T28" fmla="*/ 5985 w 5997"/>
                <a:gd name="T29" fmla="*/ 182 h 278"/>
                <a:gd name="T30" fmla="*/ 5990 w 5997"/>
                <a:gd name="T31" fmla="*/ 167 h 278"/>
                <a:gd name="T32" fmla="*/ 5993 w 5997"/>
                <a:gd name="T33" fmla="*/ 153 h 278"/>
                <a:gd name="T34" fmla="*/ 5997 w 5997"/>
                <a:gd name="T35" fmla="*/ 137 h 278"/>
                <a:gd name="T36" fmla="*/ 5997 w 5997"/>
                <a:gd name="T37" fmla="*/ 121 h 278"/>
                <a:gd name="T38" fmla="*/ 5997 w 5997"/>
                <a:gd name="T39" fmla="*/ 0 h 278"/>
                <a:gd name="T40" fmla="*/ 0 w 5997"/>
                <a:gd name="T41" fmla="*/ 0 h 278"/>
                <a:gd name="T42" fmla="*/ 0 w 5997"/>
                <a:gd name="T43" fmla="*/ 121 h 278"/>
                <a:gd name="T44" fmla="*/ 0 w 5997"/>
                <a:gd name="T45" fmla="*/ 121 h 278"/>
                <a:gd name="T46" fmla="*/ 2 w 5997"/>
                <a:gd name="T47" fmla="*/ 137 h 278"/>
                <a:gd name="T48" fmla="*/ 3 w 5997"/>
                <a:gd name="T49" fmla="*/ 153 h 278"/>
                <a:gd name="T50" fmla="*/ 8 w 5997"/>
                <a:gd name="T51" fmla="*/ 167 h 278"/>
                <a:gd name="T52" fmla="*/ 13 w 5997"/>
                <a:gd name="T53" fmla="*/ 182 h 278"/>
                <a:gd name="T54" fmla="*/ 20 w 5997"/>
                <a:gd name="T55" fmla="*/ 195 h 278"/>
                <a:gd name="T56" fmla="*/ 27 w 5997"/>
                <a:gd name="T57" fmla="*/ 209 h 278"/>
                <a:gd name="T58" fmla="*/ 37 w 5997"/>
                <a:gd name="T59" fmla="*/ 221 h 278"/>
                <a:gd name="T60" fmla="*/ 47 w 5997"/>
                <a:gd name="T61" fmla="*/ 231 h 278"/>
                <a:gd name="T62" fmla="*/ 57 w 5997"/>
                <a:gd name="T63" fmla="*/ 241 h 278"/>
                <a:gd name="T64" fmla="*/ 69 w 5997"/>
                <a:gd name="T65" fmla="*/ 251 h 278"/>
                <a:gd name="T66" fmla="*/ 82 w 5997"/>
                <a:gd name="T67" fmla="*/ 258 h 278"/>
                <a:gd name="T68" fmla="*/ 96 w 5997"/>
                <a:gd name="T69" fmla="*/ 264 h 278"/>
                <a:gd name="T70" fmla="*/ 109 w 5997"/>
                <a:gd name="T71" fmla="*/ 269 h 278"/>
                <a:gd name="T72" fmla="*/ 124 w 5997"/>
                <a:gd name="T73" fmla="*/ 275 h 278"/>
                <a:gd name="T74" fmla="*/ 141 w 5997"/>
                <a:gd name="T75" fmla="*/ 276 h 278"/>
                <a:gd name="T76" fmla="*/ 156 w 5997"/>
                <a:gd name="T77" fmla="*/ 278 h 278"/>
                <a:gd name="T78" fmla="*/ 156 w 5997"/>
                <a:gd name="T7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997" h="278">
                  <a:moveTo>
                    <a:pt x="156" y="278"/>
                  </a:moveTo>
                  <a:lnTo>
                    <a:pt x="5842" y="278"/>
                  </a:lnTo>
                  <a:lnTo>
                    <a:pt x="5842" y="278"/>
                  </a:lnTo>
                  <a:lnTo>
                    <a:pt x="5857" y="276"/>
                  </a:lnTo>
                  <a:lnTo>
                    <a:pt x="5872" y="275"/>
                  </a:lnTo>
                  <a:lnTo>
                    <a:pt x="5887" y="269"/>
                  </a:lnTo>
                  <a:lnTo>
                    <a:pt x="5903" y="264"/>
                  </a:lnTo>
                  <a:lnTo>
                    <a:pt x="5916" y="258"/>
                  </a:lnTo>
                  <a:lnTo>
                    <a:pt x="5928" y="251"/>
                  </a:lnTo>
                  <a:lnTo>
                    <a:pt x="5941" y="241"/>
                  </a:lnTo>
                  <a:lnTo>
                    <a:pt x="5951" y="231"/>
                  </a:lnTo>
                  <a:lnTo>
                    <a:pt x="5962" y="221"/>
                  </a:lnTo>
                  <a:lnTo>
                    <a:pt x="5970" y="209"/>
                  </a:lnTo>
                  <a:lnTo>
                    <a:pt x="5978" y="195"/>
                  </a:lnTo>
                  <a:lnTo>
                    <a:pt x="5985" y="182"/>
                  </a:lnTo>
                  <a:lnTo>
                    <a:pt x="5990" y="167"/>
                  </a:lnTo>
                  <a:lnTo>
                    <a:pt x="5993" y="153"/>
                  </a:lnTo>
                  <a:lnTo>
                    <a:pt x="5997" y="137"/>
                  </a:lnTo>
                  <a:lnTo>
                    <a:pt x="5997" y="121"/>
                  </a:lnTo>
                  <a:lnTo>
                    <a:pt x="5997" y="0"/>
                  </a:lnTo>
                  <a:lnTo>
                    <a:pt x="0" y="0"/>
                  </a:lnTo>
                  <a:lnTo>
                    <a:pt x="0" y="121"/>
                  </a:lnTo>
                  <a:lnTo>
                    <a:pt x="0" y="121"/>
                  </a:lnTo>
                  <a:lnTo>
                    <a:pt x="2" y="137"/>
                  </a:lnTo>
                  <a:lnTo>
                    <a:pt x="3" y="153"/>
                  </a:lnTo>
                  <a:lnTo>
                    <a:pt x="8" y="167"/>
                  </a:lnTo>
                  <a:lnTo>
                    <a:pt x="13" y="182"/>
                  </a:lnTo>
                  <a:lnTo>
                    <a:pt x="20" y="195"/>
                  </a:lnTo>
                  <a:lnTo>
                    <a:pt x="27" y="209"/>
                  </a:lnTo>
                  <a:lnTo>
                    <a:pt x="37" y="221"/>
                  </a:lnTo>
                  <a:lnTo>
                    <a:pt x="47" y="231"/>
                  </a:lnTo>
                  <a:lnTo>
                    <a:pt x="57" y="241"/>
                  </a:lnTo>
                  <a:lnTo>
                    <a:pt x="69" y="251"/>
                  </a:lnTo>
                  <a:lnTo>
                    <a:pt x="82" y="258"/>
                  </a:lnTo>
                  <a:lnTo>
                    <a:pt x="96" y="264"/>
                  </a:lnTo>
                  <a:lnTo>
                    <a:pt x="109" y="269"/>
                  </a:lnTo>
                  <a:lnTo>
                    <a:pt x="124" y="275"/>
                  </a:lnTo>
                  <a:lnTo>
                    <a:pt x="141" y="276"/>
                  </a:lnTo>
                  <a:lnTo>
                    <a:pt x="156" y="278"/>
                  </a:lnTo>
                  <a:lnTo>
                    <a:pt x="156" y="278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0" name="9Slide.vn 5"/>
            <p:cNvSpPr>
              <a:spLocks noChangeArrowheads="1"/>
            </p:cNvSpPr>
            <p:nvPr/>
          </p:nvSpPr>
          <p:spPr bwMode="auto">
            <a:xfrm>
              <a:off x="4205288" y="533400"/>
              <a:ext cx="8897938" cy="556577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1" name="9Slide.vn 6"/>
            <p:cNvSpPr/>
            <p:nvPr/>
          </p:nvSpPr>
          <p:spPr bwMode="auto">
            <a:xfrm>
              <a:off x="2738438" y="6618288"/>
              <a:ext cx="11828463" cy="239713"/>
            </a:xfrm>
            <a:custGeom>
              <a:avLst/>
              <a:gdLst>
                <a:gd name="T0" fmla="*/ 7451 w 7451"/>
                <a:gd name="T1" fmla="*/ 0 h 151"/>
                <a:gd name="T2" fmla="*/ 4441 w 7451"/>
                <a:gd name="T3" fmla="*/ 1 h 151"/>
                <a:gd name="T4" fmla="*/ 4381 w 7451"/>
                <a:gd name="T5" fmla="*/ 35 h 151"/>
                <a:gd name="T6" fmla="*/ 3097 w 7451"/>
                <a:gd name="T7" fmla="*/ 35 h 151"/>
                <a:gd name="T8" fmla="*/ 3020 w 7451"/>
                <a:gd name="T9" fmla="*/ 1 h 151"/>
                <a:gd name="T10" fmla="*/ 0 w 7451"/>
                <a:gd name="T11" fmla="*/ 0 h 151"/>
                <a:gd name="T12" fmla="*/ 0 w 7451"/>
                <a:gd name="T13" fmla="*/ 35 h 151"/>
                <a:gd name="T14" fmla="*/ 0 w 7451"/>
                <a:gd name="T15" fmla="*/ 35 h 151"/>
                <a:gd name="T16" fmla="*/ 61 w 7451"/>
                <a:gd name="T17" fmla="*/ 53 h 151"/>
                <a:gd name="T18" fmla="*/ 98 w 7451"/>
                <a:gd name="T19" fmla="*/ 65 h 151"/>
                <a:gd name="T20" fmla="*/ 140 w 7451"/>
                <a:gd name="T21" fmla="*/ 75 h 151"/>
                <a:gd name="T22" fmla="*/ 140 w 7451"/>
                <a:gd name="T23" fmla="*/ 75 h 151"/>
                <a:gd name="T24" fmla="*/ 168 w 7451"/>
                <a:gd name="T25" fmla="*/ 82 h 151"/>
                <a:gd name="T26" fmla="*/ 216 w 7451"/>
                <a:gd name="T27" fmla="*/ 90 h 151"/>
                <a:gd name="T28" fmla="*/ 286 w 7451"/>
                <a:gd name="T29" fmla="*/ 102 h 151"/>
                <a:gd name="T30" fmla="*/ 384 w 7451"/>
                <a:gd name="T31" fmla="*/ 114 h 151"/>
                <a:gd name="T32" fmla="*/ 384 w 7451"/>
                <a:gd name="T33" fmla="*/ 114 h 151"/>
                <a:gd name="T34" fmla="*/ 438 w 7451"/>
                <a:gd name="T35" fmla="*/ 121 h 151"/>
                <a:gd name="T36" fmla="*/ 510 w 7451"/>
                <a:gd name="T37" fmla="*/ 127 h 151"/>
                <a:gd name="T38" fmla="*/ 601 w 7451"/>
                <a:gd name="T39" fmla="*/ 134 h 151"/>
                <a:gd name="T40" fmla="*/ 707 w 7451"/>
                <a:gd name="T41" fmla="*/ 141 h 151"/>
                <a:gd name="T42" fmla="*/ 707 w 7451"/>
                <a:gd name="T43" fmla="*/ 141 h 151"/>
                <a:gd name="T44" fmla="*/ 838 w 7451"/>
                <a:gd name="T45" fmla="*/ 146 h 151"/>
                <a:gd name="T46" fmla="*/ 924 w 7451"/>
                <a:gd name="T47" fmla="*/ 148 h 151"/>
                <a:gd name="T48" fmla="*/ 924 w 7451"/>
                <a:gd name="T49" fmla="*/ 148 h 151"/>
                <a:gd name="T50" fmla="*/ 1195 w 7451"/>
                <a:gd name="T51" fmla="*/ 149 h 151"/>
                <a:gd name="T52" fmla="*/ 1718 w 7451"/>
                <a:gd name="T53" fmla="*/ 151 h 151"/>
                <a:gd name="T54" fmla="*/ 3188 w 7451"/>
                <a:gd name="T55" fmla="*/ 151 h 151"/>
                <a:gd name="T56" fmla="*/ 5479 w 7451"/>
                <a:gd name="T57" fmla="*/ 149 h 151"/>
                <a:gd name="T58" fmla="*/ 5479 w 7451"/>
                <a:gd name="T59" fmla="*/ 149 h 151"/>
                <a:gd name="T60" fmla="*/ 5921 w 7451"/>
                <a:gd name="T61" fmla="*/ 151 h 151"/>
                <a:gd name="T62" fmla="*/ 6244 w 7451"/>
                <a:gd name="T63" fmla="*/ 151 h 151"/>
                <a:gd name="T64" fmla="*/ 6529 w 7451"/>
                <a:gd name="T65" fmla="*/ 148 h 151"/>
                <a:gd name="T66" fmla="*/ 6529 w 7451"/>
                <a:gd name="T67" fmla="*/ 148 h 151"/>
                <a:gd name="T68" fmla="*/ 6613 w 7451"/>
                <a:gd name="T69" fmla="*/ 146 h 151"/>
                <a:gd name="T70" fmla="*/ 6744 w 7451"/>
                <a:gd name="T71" fmla="*/ 141 h 151"/>
                <a:gd name="T72" fmla="*/ 6744 w 7451"/>
                <a:gd name="T73" fmla="*/ 141 h 151"/>
                <a:gd name="T74" fmla="*/ 6852 w 7451"/>
                <a:gd name="T75" fmla="*/ 134 h 151"/>
                <a:gd name="T76" fmla="*/ 6941 w 7451"/>
                <a:gd name="T77" fmla="*/ 127 h 151"/>
                <a:gd name="T78" fmla="*/ 7015 w 7451"/>
                <a:gd name="T79" fmla="*/ 121 h 151"/>
                <a:gd name="T80" fmla="*/ 7069 w 7451"/>
                <a:gd name="T81" fmla="*/ 114 h 151"/>
                <a:gd name="T82" fmla="*/ 7069 w 7451"/>
                <a:gd name="T83" fmla="*/ 114 h 151"/>
                <a:gd name="T84" fmla="*/ 7166 w 7451"/>
                <a:gd name="T85" fmla="*/ 102 h 151"/>
                <a:gd name="T86" fmla="*/ 7237 w 7451"/>
                <a:gd name="T87" fmla="*/ 90 h 151"/>
                <a:gd name="T88" fmla="*/ 7284 w 7451"/>
                <a:gd name="T89" fmla="*/ 82 h 151"/>
                <a:gd name="T90" fmla="*/ 7313 w 7451"/>
                <a:gd name="T91" fmla="*/ 75 h 151"/>
                <a:gd name="T92" fmla="*/ 7313 w 7451"/>
                <a:gd name="T93" fmla="*/ 75 h 151"/>
                <a:gd name="T94" fmla="*/ 7353 w 7451"/>
                <a:gd name="T95" fmla="*/ 65 h 151"/>
                <a:gd name="T96" fmla="*/ 7390 w 7451"/>
                <a:gd name="T97" fmla="*/ 53 h 151"/>
                <a:gd name="T98" fmla="*/ 7451 w 7451"/>
                <a:gd name="T99" fmla="*/ 35 h 151"/>
                <a:gd name="T100" fmla="*/ 7451 w 7451"/>
                <a:gd name="T101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7451" h="151">
                  <a:moveTo>
                    <a:pt x="7451" y="0"/>
                  </a:moveTo>
                  <a:lnTo>
                    <a:pt x="4441" y="1"/>
                  </a:lnTo>
                  <a:lnTo>
                    <a:pt x="4381" y="35"/>
                  </a:lnTo>
                  <a:lnTo>
                    <a:pt x="3097" y="35"/>
                  </a:lnTo>
                  <a:lnTo>
                    <a:pt x="3020" y="1"/>
                  </a:lnTo>
                  <a:lnTo>
                    <a:pt x="0" y="0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61" y="53"/>
                  </a:lnTo>
                  <a:lnTo>
                    <a:pt x="98" y="65"/>
                  </a:lnTo>
                  <a:lnTo>
                    <a:pt x="140" y="75"/>
                  </a:lnTo>
                  <a:lnTo>
                    <a:pt x="140" y="75"/>
                  </a:lnTo>
                  <a:lnTo>
                    <a:pt x="168" y="82"/>
                  </a:lnTo>
                  <a:lnTo>
                    <a:pt x="216" y="90"/>
                  </a:lnTo>
                  <a:lnTo>
                    <a:pt x="286" y="102"/>
                  </a:lnTo>
                  <a:lnTo>
                    <a:pt x="384" y="114"/>
                  </a:lnTo>
                  <a:lnTo>
                    <a:pt x="384" y="114"/>
                  </a:lnTo>
                  <a:lnTo>
                    <a:pt x="438" y="121"/>
                  </a:lnTo>
                  <a:lnTo>
                    <a:pt x="510" y="127"/>
                  </a:lnTo>
                  <a:lnTo>
                    <a:pt x="601" y="134"/>
                  </a:lnTo>
                  <a:lnTo>
                    <a:pt x="707" y="141"/>
                  </a:lnTo>
                  <a:lnTo>
                    <a:pt x="707" y="141"/>
                  </a:lnTo>
                  <a:lnTo>
                    <a:pt x="838" y="146"/>
                  </a:lnTo>
                  <a:lnTo>
                    <a:pt x="924" y="148"/>
                  </a:lnTo>
                  <a:lnTo>
                    <a:pt x="924" y="148"/>
                  </a:lnTo>
                  <a:lnTo>
                    <a:pt x="1195" y="149"/>
                  </a:lnTo>
                  <a:lnTo>
                    <a:pt x="1718" y="151"/>
                  </a:lnTo>
                  <a:lnTo>
                    <a:pt x="3188" y="151"/>
                  </a:lnTo>
                  <a:lnTo>
                    <a:pt x="5479" y="149"/>
                  </a:lnTo>
                  <a:lnTo>
                    <a:pt x="5479" y="149"/>
                  </a:lnTo>
                  <a:lnTo>
                    <a:pt x="5921" y="151"/>
                  </a:lnTo>
                  <a:lnTo>
                    <a:pt x="6244" y="151"/>
                  </a:lnTo>
                  <a:lnTo>
                    <a:pt x="6529" y="148"/>
                  </a:lnTo>
                  <a:lnTo>
                    <a:pt x="6529" y="148"/>
                  </a:lnTo>
                  <a:lnTo>
                    <a:pt x="6613" y="146"/>
                  </a:lnTo>
                  <a:lnTo>
                    <a:pt x="6744" y="141"/>
                  </a:lnTo>
                  <a:lnTo>
                    <a:pt x="6744" y="141"/>
                  </a:lnTo>
                  <a:lnTo>
                    <a:pt x="6852" y="134"/>
                  </a:lnTo>
                  <a:lnTo>
                    <a:pt x="6941" y="127"/>
                  </a:lnTo>
                  <a:lnTo>
                    <a:pt x="7015" y="121"/>
                  </a:lnTo>
                  <a:lnTo>
                    <a:pt x="7069" y="114"/>
                  </a:lnTo>
                  <a:lnTo>
                    <a:pt x="7069" y="114"/>
                  </a:lnTo>
                  <a:lnTo>
                    <a:pt x="7166" y="102"/>
                  </a:lnTo>
                  <a:lnTo>
                    <a:pt x="7237" y="90"/>
                  </a:lnTo>
                  <a:lnTo>
                    <a:pt x="7284" y="82"/>
                  </a:lnTo>
                  <a:lnTo>
                    <a:pt x="7313" y="75"/>
                  </a:lnTo>
                  <a:lnTo>
                    <a:pt x="7313" y="75"/>
                  </a:lnTo>
                  <a:lnTo>
                    <a:pt x="7353" y="65"/>
                  </a:lnTo>
                  <a:lnTo>
                    <a:pt x="7390" y="53"/>
                  </a:lnTo>
                  <a:lnTo>
                    <a:pt x="7451" y="35"/>
                  </a:lnTo>
                  <a:lnTo>
                    <a:pt x="7451" y="0"/>
                  </a:lnTo>
                  <a:close/>
                </a:path>
              </a:pathLst>
            </a:custGeom>
            <a:solidFill>
              <a:srgbClr val="A5A6A8"/>
            </a:solidFill>
            <a:ln>
              <a:noFill/>
            </a:ln>
            <a:effectLst>
              <a:innerShdw blurRad="114300">
                <a:prstClr val="black">
                  <a:alpha val="70000"/>
                </a:prst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2" name="9Slide.vn 7"/>
            <p:cNvSpPr/>
            <p:nvPr/>
          </p:nvSpPr>
          <p:spPr bwMode="auto">
            <a:xfrm>
              <a:off x="2738438" y="6618288"/>
              <a:ext cx="11828463" cy="55563"/>
            </a:xfrm>
            <a:custGeom>
              <a:avLst/>
              <a:gdLst>
                <a:gd name="T0" fmla="*/ 7451 w 7451"/>
                <a:gd name="T1" fmla="*/ 35 h 35"/>
                <a:gd name="T2" fmla="*/ 0 w 7451"/>
                <a:gd name="T3" fmla="*/ 35 h 35"/>
                <a:gd name="T4" fmla="*/ 0 w 7451"/>
                <a:gd name="T5" fmla="*/ 0 h 35"/>
                <a:gd name="T6" fmla="*/ 3020 w 7451"/>
                <a:gd name="T7" fmla="*/ 0 h 35"/>
                <a:gd name="T8" fmla="*/ 3047 w 7451"/>
                <a:gd name="T9" fmla="*/ 18 h 35"/>
                <a:gd name="T10" fmla="*/ 4413 w 7451"/>
                <a:gd name="T11" fmla="*/ 18 h 35"/>
                <a:gd name="T12" fmla="*/ 4441 w 7451"/>
                <a:gd name="T13" fmla="*/ 0 h 35"/>
                <a:gd name="T14" fmla="*/ 7451 w 7451"/>
                <a:gd name="T15" fmla="*/ 0 h 35"/>
                <a:gd name="T16" fmla="*/ 7451 w 7451"/>
                <a:gd name="T17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451" h="35">
                  <a:moveTo>
                    <a:pt x="7451" y="35"/>
                  </a:moveTo>
                  <a:lnTo>
                    <a:pt x="0" y="35"/>
                  </a:lnTo>
                  <a:lnTo>
                    <a:pt x="0" y="0"/>
                  </a:lnTo>
                  <a:lnTo>
                    <a:pt x="3020" y="0"/>
                  </a:lnTo>
                  <a:lnTo>
                    <a:pt x="3047" y="18"/>
                  </a:lnTo>
                  <a:lnTo>
                    <a:pt x="4413" y="18"/>
                  </a:lnTo>
                  <a:lnTo>
                    <a:pt x="4441" y="0"/>
                  </a:lnTo>
                  <a:lnTo>
                    <a:pt x="7451" y="0"/>
                  </a:lnTo>
                  <a:lnTo>
                    <a:pt x="7451" y="35"/>
                  </a:lnTo>
                  <a:close/>
                </a:path>
              </a:pathLst>
            </a:custGeom>
            <a:gradFill>
              <a:gsLst>
                <a:gs pos="0">
                  <a:srgbClr val="96999A">
                    <a:lumMod val="70000"/>
                  </a:srgbClr>
                </a:gs>
                <a:gs pos="3000">
                  <a:srgbClr val="96999A"/>
                </a:gs>
                <a:gs pos="100000">
                  <a:srgbClr val="96999A">
                    <a:lumMod val="70000"/>
                  </a:srgbClr>
                </a:gs>
                <a:gs pos="97000">
                  <a:srgbClr val="96999A"/>
                </a:gs>
                <a:gs pos="91000">
                  <a:srgbClr val="DFE0E1"/>
                </a:gs>
                <a:gs pos="9000">
                  <a:srgbClr val="DFE0E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3" name="9Slide.vn 8"/>
            <p:cNvSpPr/>
            <p:nvPr/>
          </p:nvSpPr>
          <p:spPr bwMode="auto">
            <a:xfrm>
              <a:off x="7524750" y="6619875"/>
              <a:ext cx="2255838" cy="90488"/>
            </a:xfrm>
            <a:custGeom>
              <a:avLst/>
              <a:gdLst>
                <a:gd name="T0" fmla="*/ 1389 w 1421"/>
                <a:gd name="T1" fmla="*/ 2 h 57"/>
                <a:gd name="T2" fmla="*/ 32 w 1421"/>
                <a:gd name="T3" fmla="*/ 2 h 57"/>
                <a:gd name="T4" fmla="*/ 32 w 1421"/>
                <a:gd name="T5" fmla="*/ 2 h 57"/>
                <a:gd name="T6" fmla="*/ 17 w 1421"/>
                <a:gd name="T7" fmla="*/ 2 h 57"/>
                <a:gd name="T8" fmla="*/ 0 w 1421"/>
                <a:gd name="T9" fmla="*/ 0 h 57"/>
                <a:gd name="T10" fmla="*/ 0 w 1421"/>
                <a:gd name="T11" fmla="*/ 34 h 57"/>
                <a:gd name="T12" fmla="*/ 0 w 1421"/>
                <a:gd name="T13" fmla="*/ 34 h 57"/>
                <a:gd name="T14" fmla="*/ 20 w 1421"/>
                <a:gd name="T15" fmla="*/ 44 h 57"/>
                <a:gd name="T16" fmla="*/ 42 w 1421"/>
                <a:gd name="T17" fmla="*/ 51 h 57"/>
                <a:gd name="T18" fmla="*/ 64 w 1421"/>
                <a:gd name="T19" fmla="*/ 56 h 57"/>
                <a:gd name="T20" fmla="*/ 85 w 1421"/>
                <a:gd name="T21" fmla="*/ 57 h 57"/>
                <a:gd name="T22" fmla="*/ 1337 w 1421"/>
                <a:gd name="T23" fmla="*/ 57 h 57"/>
                <a:gd name="T24" fmla="*/ 1337 w 1421"/>
                <a:gd name="T25" fmla="*/ 57 h 57"/>
                <a:gd name="T26" fmla="*/ 1359 w 1421"/>
                <a:gd name="T27" fmla="*/ 56 h 57"/>
                <a:gd name="T28" fmla="*/ 1381 w 1421"/>
                <a:gd name="T29" fmla="*/ 51 h 57"/>
                <a:gd name="T30" fmla="*/ 1401 w 1421"/>
                <a:gd name="T31" fmla="*/ 44 h 57"/>
                <a:gd name="T32" fmla="*/ 1421 w 1421"/>
                <a:gd name="T33" fmla="*/ 34 h 57"/>
                <a:gd name="T34" fmla="*/ 1421 w 1421"/>
                <a:gd name="T35" fmla="*/ 0 h 57"/>
                <a:gd name="T36" fmla="*/ 1421 w 1421"/>
                <a:gd name="T37" fmla="*/ 0 h 57"/>
                <a:gd name="T38" fmla="*/ 1406 w 1421"/>
                <a:gd name="T39" fmla="*/ 2 h 57"/>
                <a:gd name="T40" fmla="*/ 1389 w 1421"/>
                <a:gd name="T41" fmla="*/ 2 h 57"/>
                <a:gd name="T42" fmla="*/ 1389 w 1421"/>
                <a:gd name="T43" fmla="*/ 2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21" h="57">
                  <a:moveTo>
                    <a:pt x="1389" y="2"/>
                  </a:moveTo>
                  <a:lnTo>
                    <a:pt x="32" y="2"/>
                  </a:lnTo>
                  <a:lnTo>
                    <a:pt x="32" y="2"/>
                  </a:lnTo>
                  <a:lnTo>
                    <a:pt x="17" y="2"/>
                  </a:lnTo>
                  <a:lnTo>
                    <a:pt x="0" y="0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20" y="44"/>
                  </a:lnTo>
                  <a:lnTo>
                    <a:pt x="42" y="51"/>
                  </a:lnTo>
                  <a:lnTo>
                    <a:pt x="64" y="56"/>
                  </a:lnTo>
                  <a:lnTo>
                    <a:pt x="85" y="57"/>
                  </a:lnTo>
                  <a:lnTo>
                    <a:pt x="1337" y="57"/>
                  </a:lnTo>
                  <a:lnTo>
                    <a:pt x="1337" y="57"/>
                  </a:lnTo>
                  <a:lnTo>
                    <a:pt x="1359" y="56"/>
                  </a:lnTo>
                  <a:lnTo>
                    <a:pt x="1381" y="51"/>
                  </a:lnTo>
                  <a:lnTo>
                    <a:pt x="1401" y="44"/>
                  </a:lnTo>
                  <a:lnTo>
                    <a:pt x="1421" y="34"/>
                  </a:lnTo>
                  <a:lnTo>
                    <a:pt x="1421" y="0"/>
                  </a:lnTo>
                  <a:lnTo>
                    <a:pt x="1421" y="0"/>
                  </a:lnTo>
                  <a:lnTo>
                    <a:pt x="1406" y="2"/>
                  </a:lnTo>
                  <a:lnTo>
                    <a:pt x="1389" y="2"/>
                  </a:lnTo>
                  <a:lnTo>
                    <a:pt x="1389" y="2"/>
                  </a:lnTo>
                  <a:close/>
                </a:path>
              </a:pathLst>
            </a:custGeom>
            <a:gradFill>
              <a:gsLst>
                <a:gs pos="0">
                  <a:srgbClr val="96999A">
                    <a:lumMod val="70000"/>
                  </a:srgbClr>
                </a:gs>
                <a:gs pos="3000">
                  <a:srgbClr val="96999A"/>
                </a:gs>
                <a:gs pos="100000">
                  <a:srgbClr val="96999A">
                    <a:lumMod val="70000"/>
                  </a:srgbClr>
                </a:gs>
                <a:gs pos="97000">
                  <a:srgbClr val="96999A"/>
                </a:gs>
                <a:gs pos="91000">
                  <a:srgbClr val="DFE0E1">
                    <a:lumMod val="95000"/>
                  </a:srgbClr>
                </a:gs>
                <a:gs pos="9000">
                  <a:srgbClr val="DFE0E1">
                    <a:lumMod val="95000"/>
                  </a:srgbClr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6825291" y="1400175"/>
            <a:ext cx="5762625" cy="360045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Thêm ảnh</a:t>
            </a:r>
          </a:p>
        </p:txBody>
      </p:sp>
      <p:sp>
        <p:nvSpPr>
          <p:cNvPr id="24" name="Title 1"/>
          <p:cNvSpPr>
            <a:spLocks noGrp="1"/>
          </p:cNvSpPr>
          <p:nvPr>
            <p:ph type="ctrTitle" hasCustomPrompt="1"/>
          </p:nvPr>
        </p:nvSpPr>
        <p:spPr>
          <a:xfrm>
            <a:off x="514349" y="1400175"/>
            <a:ext cx="5153025" cy="1655762"/>
          </a:xfrm>
        </p:spPr>
        <p:txBody>
          <a:bodyPr anchor="b" anchorCtr="0">
            <a:noAutofit/>
          </a:bodyPr>
          <a:lstStyle>
            <a:lvl1pPr algn="l">
              <a:defRPr lang="en-US" sz="4000" b="1" kern="1200" baseline="0" dirty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2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14348" y="3160711"/>
            <a:ext cx="5153026" cy="1839914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7" name="Group 6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1/27/2026</a:t>
            </a:fld>
            <a:endParaRPr lang="en-US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/>
          <p:cNvSpPr>
            <a:spLocks noGrp="1"/>
          </p:cNvSpPr>
          <p:nvPr>
            <p:ph type="ctrTitle" hasCustomPrompt="1"/>
          </p:nvPr>
        </p:nvSpPr>
        <p:spPr>
          <a:xfrm>
            <a:off x="514349" y="1048131"/>
            <a:ext cx="5153025" cy="1655762"/>
          </a:xfrm>
        </p:spPr>
        <p:txBody>
          <a:bodyPr anchor="b" anchorCtr="0">
            <a:noAutofit/>
          </a:bodyPr>
          <a:lstStyle>
            <a:lvl1pPr algn="l">
              <a:defRPr lang="en-US" sz="4000" b="1" kern="1200" baseline="0" dirty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2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14348" y="2808667"/>
            <a:ext cx="5153026" cy="2287208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2">
            <a:alphaModFix amt="85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3" y="1742120"/>
            <a:ext cx="3453753" cy="3402396"/>
          </a:xfrm>
          <a:prstGeom prst="rect">
            <a:avLst/>
          </a:prstGeom>
        </p:spPr>
      </p:pic>
      <p:pic>
        <p:nvPicPr>
          <p:cNvPr id="20" name="Picture 2" descr="Samsung Mobile Mockup Template Download on Pngtree | Mobile mockup, Samsung  mobile, Samsu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6875" y="657226"/>
            <a:ext cx="4972049" cy="497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5"/>
          <p:cNvSpPr>
            <a:spLocks noGrp="1"/>
          </p:cNvSpPr>
          <p:nvPr>
            <p:ph type="pic" sz="quarter" idx="12" hasCustomPrompt="1"/>
          </p:nvPr>
        </p:nvSpPr>
        <p:spPr>
          <a:xfrm>
            <a:off x="8305800" y="1057275"/>
            <a:ext cx="2095500" cy="4038600"/>
          </a:xfrm>
          <a:prstGeom prst="roundRect">
            <a:avLst>
              <a:gd name="adj" fmla="val 4741"/>
            </a:avLst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Thêm ảnh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1/27/2026</a:t>
            </a:fld>
            <a:endParaRPr 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3863" y="1011126"/>
            <a:ext cx="3171810" cy="5138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>
            <a:alphaModFix amt="85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3" y="1742120"/>
            <a:ext cx="3453753" cy="3402396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7" name="Title 1"/>
          <p:cNvSpPr>
            <a:spLocks noGrp="1"/>
          </p:cNvSpPr>
          <p:nvPr>
            <p:ph type="ctrTitle" hasCustomPrompt="1"/>
          </p:nvPr>
        </p:nvSpPr>
        <p:spPr>
          <a:xfrm>
            <a:off x="514349" y="1048131"/>
            <a:ext cx="5153025" cy="1655762"/>
          </a:xfrm>
        </p:spPr>
        <p:txBody>
          <a:bodyPr anchor="b" anchorCtr="0">
            <a:noAutofit/>
          </a:bodyPr>
          <a:lstStyle>
            <a:lvl1pPr algn="l">
              <a:defRPr lang="en-US" sz="4000" b="1" kern="1200" baseline="0" dirty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2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14348" y="2808667"/>
            <a:ext cx="5153026" cy="2287208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2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1/27/2026</a:t>
            </a:fld>
            <a:endParaRPr 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  <p:sp>
        <p:nvSpPr>
          <p:cNvPr id="13" name="Picture Placeholder 1"/>
          <p:cNvSpPr>
            <a:spLocks noGrp="1"/>
          </p:cNvSpPr>
          <p:nvPr>
            <p:ph type="pic" sz="quarter" idx="15" hasCustomPrompt="1"/>
          </p:nvPr>
        </p:nvSpPr>
        <p:spPr>
          <a:xfrm>
            <a:off x="8461702" y="1108334"/>
            <a:ext cx="2131430" cy="4626572"/>
          </a:xfrm>
          <a:custGeom>
            <a:avLst/>
            <a:gdLst>
              <a:gd name="connsiteX0" fmla="*/ 0 w 2111887"/>
              <a:gd name="connsiteY0" fmla="*/ 247217 h 4543425"/>
              <a:gd name="connsiteX1" fmla="*/ 247217 w 2111887"/>
              <a:gd name="connsiteY1" fmla="*/ 0 h 4543425"/>
              <a:gd name="connsiteX2" fmla="*/ 1864670 w 2111887"/>
              <a:gd name="connsiteY2" fmla="*/ 0 h 4543425"/>
              <a:gd name="connsiteX3" fmla="*/ 2111887 w 2111887"/>
              <a:gd name="connsiteY3" fmla="*/ 247217 h 4543425"/>
              <a:gd name="connsiteX4" fmla="*/ 2111887 w 2111887"/>
              <a:gd name="connsiteY4" fmla="*/ 4296208 h 4543425"/>
              <a:gd name="connsiteX5" fmla="*/ 1864670 w 2111887"/>
              <a:gd name="connsiteY5" fmla="*/ 4543425 h 4543425"/>
              <a:gd name="connsiteX6" fmla="*/ 247217 w 2111887"/>
              <a:gd name="connsiteY6" fmla="*/ 4543425 h 4543425"/>
              <a:gd name="connsiteX7" fmla="*/ 0 w 2111887"/>
              <a:gd name="connsiteY7" fmla="*/ 4296208 h 4543425"/>
              <a:gd name="connsiteX8" fmla="*/ 0 w 2111887"/>
              <a:gd name="connsiteY8" fmla="*/ 247217 h 4543425"/>
              <a:gd name="connsiteX0-1" fmla="*/ 0 w 2111887"/>
              <a:gd name="connsiteY0-2" fmla="*/ 247221 h 4543429"/>
              <a:gd name="connsiteX1-3" fmla="*/ 247217 w 2111887"/>
              <a:gd name="connsiteY1-4" fmla="*/ 4 h 4543429"/>
              <a:gd name="connsiteX2-5" fmla="*/ 1103287 w 2111887"/>
              <a:gd name="connsiteY2-6" fmla="*/ 100016 h 4543429"/>
              <a:gd name="connsiteX3-7" fmla="*/ 1864670 w 2111887"/>
              <a:gd name="connsiteY3-8" fmla="*/ 4 h 4543429"/>
              <a:gd name="connsiteX4-9" fmla="*/ 2111887 w 2111887"/>
              <a:gd name="connsiteY4-10" fmla="*/ 247221 h 4543429"/>
              <a:gd name="connsiteX5-11" fmla="*/ 2111887 w 2111887"/>
              <a:gd name="connsiteY5-12" fmla="*/ 4296212 h 4543429"/>
              <a:gd name="connsiteX6-13" fmla="*/ 1864670 w 2111887"/>
              <a:gd name="connsiteY6-14" fmla="*/ 4543429 h 4543429"/>
              <a:gd name="connsiteX7-15" fmla="*/ 247217 w 2111887"/>
              <a:gd name="connsiteY7-16" fmla="*/ 4543429 h 4543429"/>
              <a:gd name="connsiteX8-17" fmla="*/ 0 w 2111887"/>
              <a:gd name="connsiteY8-18" fmla="*/ 4296212 h 4543429"/>
              <a:gd name="connsiteX9" fmla="*/ 0 w 2111887"/>
              <a:gd name="connsiteY9" fmla="*/ 247221 h 4543429"/>
              <a:gd name="connsiteX0-19" fmla="*/ 0 w 2111887"/>
              <a:gd name="connsiteY0-20" fmla="*/ 264906 h 4561114"/>
              <a:gd name="connsiteX1-21" fmla="*/ 247217 w 2111887"/>
              <a:gd name="connsiteY1-22" fmla="*/ 17689 h 4561114"/>
              <a:gd name="connsiteX2-23" fmla="*/ 665137 w 2111887"/>
              <a:gd name="connsiteY2-24" fmla="*/ 22451 h 4561114"/>
              <a:gd name="connsiteX3-25" fmla="*/ 1103287 w 2111887"/>
              <a:gd name="connsiteY3-26" fmla="*/ 117701 h 4561114"/>
              <a:gd name="connsiteX4-27" fmla="*/ 1864670 w 2111887"/>
              <a:gd name="connsiteY4-28" fmla="*/ 17689 h 4561114"/>
              <a:gd name="connsiteX5-29" fmla="*/ 2111887 w 2111887"/>
              <a:gd name="connsiteY5-30" fmla="*/ 264906 h 4561114"/>
              <a:gd name="connsiteX6-31" fmla="*/ 2111887 w 2111887"/>
              <a:gd name="connsiteY6-32" fmla="*/ 4313897 h 4561114"/>
              <a:gd name="connsiteX7-33" fmla="*/ 1864670 w 2111887"/>
              <a:gd name="connsiteY7-34" fmla="*/ 4561114 h 4561114"/>
              <a:gd name="connsiteX8-35" fmla="*/ 247217 w 2111887"/>
              <a:gd name="connsiteY8-36" fmla="*/ 4561114 h 4561114"/>
              <a:gd name="connsiteX9-37" fmla="*/ 0 w 2111887"/>
              <a:gd name="connsiteY9-38" fmla="*/ 4313897 h 4561114"/>
              <a:gd name="connsiteX10" fmla="*/ 0 w 2111887"/>
              <a:gd name="connsiteY10" fmla="*/ 264906 h 4561114"/>
              <a:gd name="connsiteX0-39" fmla="*/ 0 w 2111887"/>
              <a:gd name="connsiteY0-40" fmla="*/ 269676 h 4565884"/>
              <a:gd name="connsiteX1-41" fmla="*/ 247217 w 2111887"/>
              <a:gd name="connsiteY1-42" fmla="*/ 22459 h 4565884"/>
              <a:gd name="connsiteX2-43" fmla="*/ 612749 w 2111887"/>
              <a:gd name="connsiteY2-44" fmla="*/ 15315 h 4565884"/>
              <a:gd name="connsiteX3-45" fmla="*/ 1103287 w 2111887"/>
              <a:gd name="connsiteY3-46" fmla="*/ 122471 h 4565884"/>
              <a:gd name="connsiteX4-47" fmla="*/ 1864670 w 2111887"/>
              <a:gd name="connsiteY4-48" fmla="*/ 22459 h 4565884"/>
              <a:gd name="connsiteX5-49" fmla="*/ 2111887 w 2111887"/>
              <a:gd name="connsiteY5-50" fmla="*/ 269676 h 4565884"/>
              <a:gd name="connsiteX6-51" fmla="*/ 2111887 w 2111887"/>
              <a:gd name="connsiteY6-52" fmla="*/ 4318667 h 4565884"/>
              <a:gd name="connsiteX7-53" fmla="*/ 1864670 w 2111887"/>
              <a:gd name="connsiteY7-54" fmla="*/ 4565884 h 4565884"/>
              <a:gd name="connsiteX8-55" fmla="*/ 247217 w 2111887"/>
              <a:gd name="connsiteY8-56" fmla="*/ 4565884 h 4565884"/>
              <a:gd name="connsiteX9-57" fmla="*/ 0 w 2111887"/>
              <a:gd name="connsiteY9-58" fmla="*/ 4318667 h 4565884"/>
              <a:gd name="connsiteX10-59" fmla="*/ 0 w 2111887"/>
              <a:gd name="connsiteY10-60" fmla="*/ 269676 h 4565884"/>
              <a:gd name="connsiteX0-61" fmla="*/ 0 w 2111887"/>
              <a:gd name="connsiteY0-62" fmla="*/ 275247 h 4571455"/>
              <a:gd name="connsiteX1-63" fmla="*/ 247217 w 2111887"/>
              <a:gd name="connsiteY1-64" fmla="*/ 18505 h 4571455"/>
              <a:gd name="connsiteX2-65" fmla="*/ 612749 w 2111887"/>
              <a:gd name="connsiteY2-66" fmla="*/ 20886 h 4571455"/>
              <a:gd name="connsiteX3-67" fmla="*/ 1103287 w 2111887"/>
              <a:gd name="connsiteY3-68" fmla="*/ 128042 h 4571455"/>
              <a:gd name="connsiteX4-69" fmla="*/ 1864670 w 2111887"/>
              <a:gd name="connsiteY4-70" fmla="*/ 28030 h 4571455"/>
              <a:gd name="connsiteX5-71" fmla="*/ 2111887 w 2111887"/>
              <a:gd name="connsiteY5-72" fmla="*/ 275247 h 4571455"/>
              <a:gd name="connsiteX6-73" fmla="*/ 2111887 w 2111887"/>
              <a:gd name="connsiteY6-74" fmla="*/ 4324238 h 4571455"/>
              <a:gd name="connsiteX7-75" fmla="*/ 1864670 w 2111887"/>
              <a:gd name="connsiteY7-76" fmla="*/ 4571455 h 4571455"/>
              <a:gd name="connsiteX8-77" fmla="*/ 247217 w 2111887"/>
              <a:gd name="connsiteY8-78" fmla="*/ 4571455 h 4571455"/>
              <a:gd name="connsiteX9-79" fmla="*/ 0 w 2111887"/>
              <a:gd name="connsiteY9-80" fmla="*/ 4324238 h 4571455"/>
              <a:gd name="connsiteX10-81" fmla="*/ 0 w 2111887"/>
              <a:gd name="connsiteY10-82" fmla="*/ 275247 h 4571455"/>
              <a:gd name="connsiteX0-83" fmla="*/ 0 w 2111887"/>
              <a:gd name="connsiteY0-84" fmla="*/ 268247 h 4564455"/>
              <a:gd name="connsiteX1-85" fmla="*/ 247217 w 2111887"/>
              <a:gd name="connsiteY1-86" fmla="*/ 11505 h 4564455"/>
              <a:gd name="connsiteX2-87" fmla="*/ 612749 w 2111887"/>
              <a:gd name="connsiteY2-88" fmla="*/ 13886 h 4564455"/>
              <a:gd name="connsiteX3-89" fmla="*/ 1103287 w 2111887"/>
              <a:gd name="connsiteY3-90" fmla="*/ 121042 h 4564455"/>
              <a:gd name="connsiteX4-91" fmla="*/ 1864670 w 2111887"/>
              <a:gd name="connsiteY4-92" fmla="*/ 21030 h 4564455"/>
              <a:gd name="connsiteX5-93" fmla="*/ 2111887 w 2111887"/>
              <a:gd name="connsiteY5-94" fmla="*/ 268247 h 4564455"/>
              <a:gd name="connsiteX6-95" fmla="*/ 2111887 w 2111887"/>
              <a:gd name="connsiteY6-96" fmla="*/ 4317238 h 4564455"/>
              <a:gd name="connsiteX7-97" fmla="*/ 1864670 w 2111887"/>
              <a:gd name="connsiteY7-98" fmla="*/ 4564455 h 4564455"/>
              <a:gd name="connsiteX8-99" fmla="*/ 247217 w 2111887"/>
              <a:gd name="connsiteY8-100" fmla="*/ 4564455 h 4564455"/>
              <a:gd name="connsiteX9-101" fmla="*/ 0 w 2111887"/>
              <a:gd name="connsiteY9-102" fmla="*/ 4317238 h 4564455"/>
              <a:gd name="connsiteX10-103" fmla="*/ 0 w 2111887"/>
              <a:gd name="connsiteY10-104" fmla="*/ 268247 h 4564455"/>
              <a:gd name="connsiteX0-105" fmla="*/ 0 w 2111887"/>
              <a:gd name="connsiteY0-106" fmla="*/ 268247 h 4564455"/>
              <a:gd name="connsiteX1-107" fmla="*/ 247217 w 2111887"/>
              <a:gd name="connsiteY1-108" fmla="*/ 11505 h 4564455"/>
              <a:gd name="connsiteX2-109" fmla="*/ 612749 w 2111887"/>
              <a:gd name="connsiteY2-110" fmla="*/ 13886 h 4564455"/>
              <a:gd name="connsiteX3-111" fmla="*/ 784200 w 2111887"/>
              <a:gd name="connsiteY3-112" fmla="*/ 59130 h 4564455"/>
              <a:gd name="connsiteX4-113" fmla="*/ 1103287 w 2111887"/>
              <a:gd name="connsiteY4-114" fmla="*/ 121042 h 4564455"/>
              <a:gd name="connsiteX5-115" fmla="*/ 1864670 w 2111887"/>
              <a:gd name="connsiteY5-116" fmla="*/ 21030 h 4564455"/>
              <a:gd name="connsiteX6-117" fmla="*/ 2111887 w 2111887"/>
              <a:gd name="connsiteY6-118" fmla="*/ 268247 h 4564455"/>
              <a:gd name="connsiteX7-119" fmla="*/ 2111887 w 2111887"/>
              <a:gd name="connsiteY7-120" fmla="*/ 4317238 h 4564455"/>
              <a:gd name="connsiteX8-121" fmla="*/ 1864670 w 2111887"/>
              <a:gd name="connsiteY8-122" fmla="*/ 4564455 h 4564455"/>
              <a:gd name="connsiteX9-123" fmla="*/ 247217 w 2111887"/>
              <a:gd name="connsiteY9-124" fmla="*/ 4564455 h 4564455"/>
              <a:gd name="connsiteX10-125" fmla="*/ 0 w 2111887"/>
              <a:gd name="connsiteY10-126" fmla="*/ 4317238 h 4564455"/>
              <a:gd name="connsiteX11" fmla="*/ 0 w 2111887"/>
              <a:gd name="connsiteY11" fmla="*/ 268247 h 4564455"/>
              <a:gd name="connsiteX0-127" fmla="*/ 0 w 2111887"/>
              <a:gd name="connsiteY0-128" fmla="*/ 268247 h 4564455"/>
              <a:gd name="connsiteX1-129" fmla="*/ 247217 w 2111887"/>
              <a:gd name="connsiteY1-130" fmla="*/ 11505 h 4564455"/>
              <a:gd name="connsiteX2-131" fmla="*/ 612749 w 2111887"/>
              <a:gd name="connsiteY2-132" fmla="*/ 13886 h 4564455"/>
              <a:gd name="connsiteX3-133" fmla="*/ 691331 w 2111887"/>
              <a:gd name="connsiteY3-134" fmla="*/ 101992 h 4564455"/>
              <a:gd name="connsiteX4-135" fmla="*/ 1103287 w 2111887"/>
              <a:gd name="connsiteY4-136" fmla="*/ 121042 h 4564455"/>
              <a:gd name="connsiteX5-137" fmla="*/ 1864670 w 2111887"/>
              <a:gd name="connsiteY5-138" fmla="*/ 21030 h 4564455"/>
              <a:gd name="connsiteX6-139" fmla="*/ 2111887 w 2111887"/>
              <a:gd name="connsiteY6-140" fmla="*/ 268247 h 4564455"/>
              <a:gd name="connsiteX7-141" fmla="*/ 2111887 w 2111887"/>
              <a:gd name="connsiteY7-142" fmla="*/ 4317238 h 4564455"/>
              <a:gd name="connsiteX8-143" fmla="*/ 1864670 w 2111887"/>
              <a:gd name="connsiteY8-144" fmla="*/ 4564455 h 4564455"/>
              <a:gd name="connsiteX9-145" fmla="*/ 247217 w 2111887"/>
              <a:gd name="connsiteY9-146" fmla="*/ 4564455 h 4564455"/>
              <a:gd name="connsiteX10-147" fmla="*/ 0 w 2111887"/>
              <a:gd name="connsiteY10-148" fmla="*/ 4317238 h 4564455"/>
              <a:gd name="connsiteX11-149" fmla="*/ 0 w 2111887"/>
              <a:gd name="connsiteY11-150" fmla="*/ 268247 h 4564455"/>
              <a:gd name="connsiteX0-151" fmla="*/ 0 w 2111887"/>
              <a:gd name="connsiteY0-152" fmla="*/ 268247 h 4564455"/>
              <a:gd name="connsiteX1-153" fmla="*/ 247217 w 2111887"/>
              <a:gd name="connsiteY1-154" fmla="*/ 11505 h 4564455"/>
              <a:gd name="connsiteX2-155" fmla="*/ 612749 w 2111887"/>
              <a:gd name="connsiteY2-156" fmla="*/ 13886 h 4564455"/>
              <a:gd name="connsiteX3-157" fmla="*/ 691331 w 2111887"/>
              <a:gd name="connsiteY3-158" fmla="*/ 101992 h 4564455"/>
              <a:gd name="connsiteX4-159" fmla="*/ 1103287 w 2111887"/>
              <a:gd name="connsiteY4-160" fmla="*/ 121042 h 4564455"/>
              <a:gd name="connsiteX5-161" fmla="*/ 1453331 w 2111887"/>
              <a:gd name="connsiteY5-162" fmla="*/ 123424 h 4564455"/>
              <a:gd name="connsiteX6-163" fmla="*/ 1864670 w 2111887"/>
              <a:gd name="connsiteY6-164" fmla="*/ 21030 h 4564455"/>
              <a:gd name="connsiteX7-165" fmla="*/ 2111887 w 2111887"/>
              <a:gd name="connsiteY7-166" fmla="*/ 268247 h 4564455"/>
              <a:gd name="connsiteX8-167" fmla="*/ 2111887 w 2111887"/>
              <a:gd name="connsiteY8-168" fmla="*/ 4317238 h 4564455"/>
              <a:gd name="connsiteX9-169" fmla="*/ 1864670 w 2111887"/>
              <a:gd name="connsiteY9-170" fmla="*/ 4564455 h 4564455"/>
              <a:gd name="connsiteX10-171" fmla="*/ 247217 w 2111887"/>
              <a:gd name="connsiteY10-172" fmla="*/ 4564455 h 4564455"/>
              <a:gd name="connsiteX11-173" fmla="*/ 0 w 2111887"/>
              <a:gd name="connsiteY11-174" fmla="*/ 4317238 h 4564455"/>
              <a:gd name="connsiteX12" fmla="*/ 0 w 2111887"/>
              <a:gd name="connsiteY12" fmla="*/ 268247 h 4564455"/>
              <a:gd name="connsiteX0-175" fmla="*/ 0 w 2111887"/>
              <a:gd name="connsiteY0-176" fmla="*/ 268247 h 4564455"/>
              <a:gd name="connsiteX1-177" fmla="*/ 247217 w 2111887"/>
              <a:gd name="connsiteY1-178" fmla="*/ 11505 h 4564455"/>
              <a:gd name="connsiteX2-179" fmla="*/ 612749 w 2111887"/>
              <a:gd name="connsiteY2-180" fmla="*/ 13886 h 4564455"/>
              <a:gd name="connsiteX3-181" fmla="*/ 691331 w 2111887"/>
              <a:gd name="connsiteY3-182" fmla="*/ 101992 h 4564455"/>
              <a:gd name="connsiteX4-183" fmla="*/ 1103287 w 2111887"/>
              <a:gd name="connsiteY4-184" fmla="*/ 121042 h 4564455"/>
              <a:gd name="connsiteX5-185" fmla="*/ 1453331 w 2111887"/>
              <a:gd name="connsiteY5-186" fmla="*/ 123424 h 4564455"/>
              <a:gd name="connsiteX6-187" fmla="*/ 1600969 w 2111887"/>
              <a:gd name="connsiteY6-188" fmla="*/ 73418 h 4564455"/>
              <a:gd name="connsiteX7-189" fmla="*/ 1864670 w 2111887"/>
              <a:gd name="connsiteY7-190" fmla="*/ 21030 h 4564455"/>
              <a:gd name="connsiteX8-191" fmla="*/ 2111887 w 2111887"/>
              <a:gd name="connsiteY8-192" fmla="*/ 268247 h 4564455"/>
              <a:gd name="connsiteX9-193" fmla="*/ 2111887 w 2111887"/>
              <a:gd name="connsiteY9-194" fmla="*/ 4317238 h 4564455"/>
              <a:gd name="connsiteX10-195" fmla="*/ 1864670 w 2111887"/>
              <a:gd name="connsiteY10-196" fmla="*/ 4564455 h 4564455"/>
              <a:gd name="connsiteX11-197" fmla="*/ 247217 w 2111887"/>
              <a:gd name="connsiteY11-198" fmla="*/ 4564455 h 4564455"/>
              <a:gd name="connsiteX12-199" fmla="*/ 0 w 2111887"/>
              <a:gd name="connsiteY12-200" fmla="*/ 4317238 h 4564455"/>
              <a:gd name="connsiteX13" fmla="*/ 0 w 2111887"/>
              <a:gd name="connsiteY13" fmla="*/ 268247 h 4564455"/>
              <a:gd name="connsiteX0-201" fmla="*/ 0 w 2111887"/>
              <a:gd name="connsiteY0-202" fmla="*/ 271881 h 4568089"/>
              <a:gd name="connsiteX1-203" fmla="*/ 247217 w 2111887"/>
              <a:gd name="connsiteY1-204" fmla="*/ 15139 h 4568089"/>
              <a:gd name="connsiteX2-205" fmla="*/ 612749 w 2111887"/>
              <a:gd name="connsiteY2-206" fmla="*/ 17520 h 4568089"/>
              <a:gd name="connsiteX3-207" fmla="*/ 691331 w 2111887"/>
              <a:gd name="connsiteY3-208" fmla="*/ 105626 h 4568089"/>
              <a:gd name="connsiteX4-209" fmla="*/ 1103287 w 2111887"/>
              <a:gd name="connsiteY4-210" fmla="*/ 124676 h 4568089"/>
              <a:gd name="connsiteX5-211" fmla="*/ 1453331 w 2111887"/>
              <a:gd name="connsiteY5-212" fmla="*/ 127058 h 4568089"/>
              <a:gd name="connsiteX6-213" fmla="*/ 1520006 w 2111887"/>
              <a:gd name="connsiteY6-214" fmla="*/ 12758 h 4568089"/>
              <a:gd name="connsiteX7-215" fmla="*/ 1864670 w 2111887"/>
              <a:gd name="connsiteY7-216" fmla="*/ 24664 h 4568089"/>
              <a:gd name="connsiteX8-217" fmla="*/ 2111887 w 2111887"/>
              <a:gd name="connsiteY8-218" fmla="*/ 271881 h 4568089"/>
              <a:gd name="connsiteX9-219" fmla="*/ 2111887 w 2111887"/>
              <a:gd name="connsiteY9-220" fmla="*/ 4320872 h 4568089"/>
              <a:gd name="connsiteX10-221" fmla="*/ 1864670 w 2111887"/>
              <a:gd name="connsiteY10-222" fmla="*/ 4568089 h 4568089"/>
              <a:gd name="connsiteX11-223" fmla="*/ 247217 w 2111887"/>
              <a:gd name="connsiteY11-224" fmla="*/ 4568089 h 4568089"/>
              <a:gd name="connsiteX12-225" fmla="*/ 0 w 2111887"/>
              <a:gd name="connsiteY12-226" fmla="*/ 4320872 h 4568089"/>
              <a:gd name="connsiteX13-227" fmla="*/ 0 w 2111887"/>
              <a:gd name="connsiteY13-228" fmla="*/ 271881 h 4568089"/>
              <a:gd name="connsiteX0-229" fmla="*/ 0 w 2111887"/>
              <a:gd name="connsiteY0-230" fmla="*/ 272962 h 4569170"/>
              <a:gd name="connsiteX1-231" fmla="*/ 247217 w 2111887"/>
              <a:gd name="connsiteY1-232" fmla="*/ 16220 h 4569170"/>
              <a:gd name="connsiteX2-233" fmla="*/ 612749 w 2111887"/>
              <a:gd name="connsiteY2-234" fmla="*/ 18601 h 4569170"/>
              <a:gd name="connsiteX3-235" fmla="*/ 691331 w 2111887"/>
              <a:gd name="connsiteY3-236" fmla="*/ 106707 h 4569170"/>
              <a:gd name="connsiteX4-237" fmla="*/ 1103287 w 2111887"/>
              <a:gd name="connsiteY4-238" fmla="*/ 125757 h 4569170"/>
              <a:gd name="connsiteX5-239" fmla="*/ 1453331 w 2111887"/>
              <a:gd name="connsiteY5-240" fmla="*/ 128139 h 4569170"/>
              <a:gd name="connsiteX6-241" fmla="*/ 1520006 w 2111887"/>
              <a:gd name="connsiteY6-242" fmla="*/ 13839 h 4569170"/>
              <a:gd name="connsiteX7-243" fmla="*/ 1888482 w 2111887"/>
              <a:gd name="connsiteY7-244" fmla="*/ 23364 h 4569170"/>
              <a:gd name="connsiteX8-245" fmla="*/ 2111887 w 2111887"/>
              <a:gd name="connsiteY8-246" fmla="*/ 272962 h 4569170"/>
              <a:gd name="connsiteX9-247" fmla="*/ 2111887 w 2111887"/>
              <a:gd name="connsiteY9-248" fmla="*/ 4321953 h 4569170"/>
              <a:gd name="connsiteX10-249" fmla="*/ 1864670 w 2111887"/>
              <a:gd name="connsiteY10-250" fmla="*/ 4569170 h 4569170"/>
              <a:gd name="connsiteX11-251" fmla="*/ 247217 w 2111887"/>
              <a:gd name="connsiteY11-252" fmla="*/ 4569170 h 4569170"/>
              <a:gd name="connsiteX12-253" fmla="*/ 0 w 2111887"/>
              <a:gd name="connsiteY12-254" fmla="*/ 4321953 h 4569170"/>
              <a:gd name="connsiteX13-255" fmla="*/ 0 w 2111887"/>
              <a:gd name="connsiteY13-256" fmla="*/ 272962 h 4569170"/>
              <a:gd name="connsiteX0-257" fmla="*/ 0 w 2111887"/>
              <a:gd name="connsiteY0-258" fmla="*/ 272962 h 4569170"/>
              <a:gd name="connsiteX1-259" fmla="*/ 247217 w 2111887"/>
              <a:gd name="connsiteY1-260" fmla="*/ 16220 h 4569170"/>
              <a:gd name="connsiteX2-261" fmla="*/ 612749 w 2111887"/>
              <a:gd name="connsiteY2-262" fmla="*/ 18601 h 4569170"/>
              <a:gd name="connsiteX3-263" fmla="*/ 693712 w 2111887"/>
              <a:gd name="connsiteY3-264" fmla="*/ 118613 h 4569170"/>
              <a:gd name="connsiteX4-265" fmla="*/ 1103287 w 2111887"/>
              <a:gd name="connsiteY4-266" fmla="*/ 125757 h 4569170"/>
              <a:gd name="connsiteX5-267" fmla="*/ 1453331 w 2111887"/>
              <a:gd name="connsiteY5-268" fmla="*/ 128139 h 4569170"/>
              <a:gd name="connsiteX6-269" fmla="*/ 1520006 w 2111887"/>
              <a:gd name="connsiteY6-270" fmla="*/ 13839 h 4569170"/>
              <a:gd name="connsiteX7-271" fmla="*/ 1888482 w 2111887"/>
              <a:gd name="connsiteY7-272" fmla="*/ 23364 h 4569170"/>
              <a:gd name="connsiteX8-273" fmla="*/ 2111887 w 2111887"/>
              <a:gd name="connsiteY8-274" fmla="*/ 272962 h 4569170"/>
              <a:gd name="connsiteX9-275" fmla="*/ 2111887 w 2111887"/>
              <a:gd name="connsiteY9-276" fmla="*/ 4321953 h 4569170"/>
              <a:gd name="connsiteX10-277" fmla="*/ 1864670 w 2111887"/>
              <a:gd name="connsiteY10-278" fmla="*/ 4569170 h 4569170"/>
              <a:gd name="connsiteX11-279" fmla="*/ 247217 w 2111887"/>
              <a:gd name="connsiteY11-280" fmla="*/ 4569170 h 4569170"/>
              <a:gd name="connsiteX12-281" fmla="*/ 0 w 2111887"/>
              <a:gd name="connsiteY12-282" fmla="*/ 4321953 h 4569170"/>
              <a:gd name="connsiteX13-283" fmla="*/ 0 w 2111887"/>
              <a:gd name="connsiteY13-284" fmla="*/ 272962 h 4569170"/>
              <a:gd name="connsiteX0-285" fmla="*/ 0 w 2111887"/>
              <a:gd name="connsiteY0-286" fmla="*/ 272962 h 4569170"/>
              <a:gd name="connsiteX1-287" fmla="*/ 247217 w 2111887"/>
              <a:gd name="connsiteY1-288" fmla="*/ 16220 h 4569170"/>
              <a:gd name="connsiteX2-289" fmla="*/ 598462 w 2111887"/>
              <a:gd name="connsiteY2-290" fmla="*/ 16220 h 4569170"/>
              <a:gd name="connsiteX3-291" fmla="*/ 693712 w 2111887"/>
              <a:gd name="connsiteY3-292" fmla="*/ 118613 h 4569170"/>
              <a:gd name="connsiteX4-293" fmla="*/ 1103287 w 2111887"/>
              <a:gd name="connsiteY4-294" fmla="*/ 125757 h 4569170"/>
              <a:gd name="connsiteX5-295" fmla="*/ 1453331 w 2111887"/>
              <a:gd name="connsiteY5-296" fmla="*/ 128139 h 4569170"/>
              <a:gd name="connsiteX6-297" fmla="*/ 1520006 w 2111887"/>
              <a:gd name="connsiteY6-298" fmla="*/ 13839 h 4569170"/>
              <a:gd name="connsiteX7-299" fmla="*/ 1888482 w 2111887"/>
              <a:gd name="connsiteY7-300" fmla="*/ 23364 h 4569170"/>
              <a:gd name="connsiteX8-301" fmla="*/ 2111887 w 2111887"/>
              <a:gd name="connsiteY8-302" fmla="*/ 272962 h 4569170"/>
              <a:gd name="connsiteX9-303" fmla="*/ 2111887 w 2111887"/>
              <a:gd name="connsiteY9-304" fmla="*/ 4321953 h 4569170"/>
              <a:gd name="connsiteX10-305" fmla="*/ 1864670 w 2111887"/>
              <a:gd name="connsiteY10-306" fmla="*/ 4569170 h 4569170"/>
              <a:gd name="connsiteX11-307" fmla="*/ 247217 w 2111887"/>
              <a:gd name="connsiteY11-308" fmla="*/ 4569170 h 4569170"/>
              <a:gd name="connsiteX12-309" fmla="*/ 0 w 2111887"/>
              <a:gd name="connsiteY12-310" fmla="*/ 4321953 h 4569170"/>
              <a:gd name="connsiteX13-311" fmla="*/ 0 w 2111887"/>
              <a:gd name="connsiteY13-312" fmla="*/ 272962 h 4569170"/>
              <a:gd name="connsiteX0-313" fmla="*/ 0 w 2111887"/>
              <a:gd name="connsiteY0-314" fmla="*/ 272962 h 4569170"/>
              <a:gd name="connsiteX1-315" fmla="*/ 247217 w 2111887"/>
              <a:gd name="connsiteY1-316" fmla="*/ 16220 h 4569170"/>
              <a:gd name="connsiteX2-317" fmla="*/ 598462 w 2111887"/>
              <a:gd name="connsiteY2-318" fmla="*/ 16220 h 4569170"/>
              <a:gd name="connsiteX3-319" fmla="*/ 693712 w 2111887"/>
              <a:gd name="connsiteY3-320" fmla="*/ 118613 h 4569170"/>
              <a:gd name="connsiteX4-321" fmla="*/ 1103287 w 2111887"/>
              <a:gd name="connsiteY4-322" fmla="*/ 125757 h 4569170"/>
              <a:gd name="connsiteX5-323" fmla="*/ 1453331 w 2111887"/>
              <a:gd name="connsiteY5-324" fmla="*/ 120995 h 4569170"/>
              <a:gd name="connsiteX6-325" fmla="*/ 1520006 w 2111887"/>
              <a:gd name="connsiteY6-326" fmla="*/ 13839 h 4569170"/>
              <a:gd name="connsiteX7-327" fmla="*/ 1888482 w 2111887"/>
              <a:gd name="connsiteY7-328" fmla="*/ 23364 h 4569170"/>
              <a:gd name="connsiteX8-329" fmla="*/ 2111887 w 2111887"/>
              <a:gd name="connsiteY8-330" fmla="*/ 272962 h 4569170"/>
              <a:gd name="connsiteX9-331" fmla="*/ 2111887 w 2111887"/>
              <a:gd name="connsiteY9-332" fmla="*/ 4321953 h 4569170"/>
              <a:gd name="connsiteX10-333" fmla="*/ 1864670 w 2111887"/>
              <a:gd name="connsiteY10-334" fmla="*/ 4569170 h 4569170"/>
              <a:gd name="connsiteX11-335" fmla="*/ 247217 w 2111887"/>
              <a:gd name="connsiteY11-336" fmla="*/ 4569170 h 4569170"/>
              <a:gd name="connsiteX12-337" fmla="*/ 0 w 2111887"/>
              <a:gd name="connsiteY12-338" fmla="*/ 4321953 h 4569170"/>
              <a:gd name="connsiteX13-339" fmla="*/ 0 w 2111887"/>
              <a:gd name="connsiteY13-340" fmla="*/ 272962 h 4569170"/>
              <a:gd name="connsiteX0-341" fmla="*/ 0 w 2111887"/>
              <a:gd name="connsiteY0-342" fmla="*/ 272962 h 4569170"/>
              <a:gd name="connsiteX1-343" fmla="*/ 247217 w 2111887"/>
              <a:gd name="connsiteY1-344" fmla="*/ 16220 h 4569170"/>
              <a:gd name="connsiteX2-345" fmla="*/ 598462 w 2111887"/>
              <a:gd name="connsiteY2-346" fmla="*/ 16220 h 4569170"/>
              <a:gd name="connsiteX3-347" fmla="*/ 693712 w 2111887"/>
              <a:gd name="connsiteY3-348" fmla="*/ 118613 h 4569170"/>
              <a:gd name="connsiteX4-349" fmla="*/ 1055662 w 2111887"/>
              <a:gd name="connsiteY4-350" fmla="*/ 125757 h 4569170"/>
              <a:gd name="connsiteX5-351" fmla="*/ 1453331 w 2111887"/>
              <a:gd name="connsiteY5-352" fmla="*/ 120995 h 4569170"/>
              <a:gd name="connsiteX6-353" fmla="*/ 1520006 w 2111887"/>
              <a:gd name="connsiteY6-354" fmla="*/ 13839 h 4569170"/>
              <a:gd name="connsiteX7-355" fmla="*/ 1888482 w 2111887"/>
              <a:gd name="connsiteY7-356" fmla="*/ 23364 h 4569170"/>
              <a:gd name="connsiteX8-357" fmla="*/ 2111887 w 2111887"/>
              <a:gd name="connsiteY8-358" fmla="*/ 272962 h 4569170"/>
              <a:gd name="connsiteX9-359" fmla="*/ 2111887 w 2111887"/>
              <a:gd name="connsiteY9-360" fmla="*/ 4321953 h 4569170"/>
              <a:gd name="connsiteX10-361" fmla="*/ 1864670 w 2111887"/>
              <a:gd name="connsiteY10-362" fmla="*/ 4569170 h 4569170"/>
              <a:gd name="connsiteX11-363" fmla="*/ 247217 w 2111887"/>
              <a:gd name="connsiteY11-364" fmla="*/ 4569170 h 4569170"/>
              <a:gd name="connsiteX12-365" fmla="*/ 0 w 2111887"/>
              <a:gd name="connsiteY12-366" fmla="*/ 4321953 h 4569170"/>
              <a:gd name="connsiteX13-367" fmla="*/ 0 w 2111887"/>
              <a:gd name="connsiteY13-368" fmla="*/ 272962 h 4569170"/>
              <a:gd name="connsiteX0-369" fmla="*/ 0 w 2111887"/>
              <a:gd name="connsiteY0-370" fmla="*/ 272962 h 4569170"/>
              <a:gd name="connsiteX1-371" fmla="*/ 247217 w 2111887"/>
              <a:gd name="connsiteY1-372" fmla="*/ 16220 h 4569170"/>
              <a:gd name="connsiteX2-373" fmla="*/ 598462 w 2111887"/>
              <a:gd name="connsiteY2-374" fmla="*/ 16220 h 4569170"/>
              <a:gd name="connsiteX3-375" fmla="*/ 693712 w 2111887"/>
              <a:gd name="connsiteY3-376" fmla="*/ 118613 h 4569170"/>
              <a:gd name="connsiteX4-377" fmla="*/ 1055662 w 2111887"/>
              <a:gd name="connsiteY4-378" fmla="*/ 125757 h 4569170"/>
              <a:gd name="connsiteX5-379" fmla="*/ 1453331 w 2111887"/>
              <a:gd name="connsiteY5-380" fmla="*/ 120995 h 4569170"/>
              <a:gd name="connsiteX6-381" fmla="*/ 1520006 w 2111887"/>
              <a:gd name="connsiteY6-382" fmla="*/ 13839 h 4569170"/>
              <a:gd name="connsiteX7-383" fmla="*/ 1888482 w 2111887"/>
              <a:gd name="connsiteY7-384" fmla="*/ 23364 h 4569170"/>
              <a:gd name="connsiteX8-385" fmla="*/ 2111887 w 2111887"/>
              <a:gd name="connsiteY8-386" fmla="*/ 272962 h 4569170"/>
              <a:gd name="connsiteX9-387" fmla="*/ 2111887 w 2111887"/>
              <a:gd name="connsiteY9-388" fmla="*/ 4321953 h 4569170"/>
              <a:gd name="connsiteX10-389" fmla="*/ 1864670 w 2111887"/>
              <a:gd name="connsiteY10-390" fmla="*/ 4569170 h 4569170"/>
              <a:gd name="connsiteX11-391" fmla="*/ 247217 w 2111887"/>
              <a:gd name="connsiteY11-392" fmla="*/ 4569170 h 4569170"/>
              <a:gd name="connsiteX12-393" fmla="*/ 0 w 2111887"/>
              <a:gd name="connsiteY12-394" fmla="*/ 4321953 h 4569170"/>
              <a:gd name="connsiteX13-395" fmla="*/ 0 w 2111887"/>
              <a:gd name="connsiteY13-396" fmla="*/ 272962 h 4569170"/>
              <a:gd name="connsiteX0-397" fmla="*/ 0 w 2111887"/>
              <a:gd name="connsiteY0-398" fmla="*/ 273465 h 4569673"/>
              <a:gd name="connsiteX1-399" fmla="*/ 247217 w 2111887"/>
              <a:gd name="connsiteY1-400" fmla="*/ 16723 h 4569673"/>
              <a:gd name="connsiteX2-401" fmla="*/ 579412 w 2111887"/>
              <a:gd name="connsiteY2-402" fmla="*/ 9580 h 4569673"/>
              <a:gd name="connsiteX3-403" fmla="*/ 693712 w 2111887"/>
              <a:gd name="connsiteY3-404" fmla="*/ 119116 h 4569673"/>
              <a:gd name="connsiteX4-405" fmla="*/ 1055662 w 2111887"/>
              <a:gd name="connsiteY4-406" fmla="*/ 126260 h 4569673"/>
              <a:gd name="connsiteX5-407" fmla="*/ 1453331 w 2111887"/>
              <a:gd name="connsiteY5-408" fmla="*/ 121498 h 4569673"/>
              <a:gd name="connsiteX6-409" fmla="*/ 1520006 w 2111887"/>
              <a:gd name="connsiteY6-410" fmla="*/ 14342 h 4569673"/>
              <a:gd name="connsiteX7-411" fmla="*/ 1888482 w 2111887"/>
              <a:gd name="connsiteY7-412" fmla="*/ 23867 h 4569673"/>
              <a:gd name="connsiteX8-413" fmla="*/ 2111887 w 2111887"/>
              <a:gd name="connsiteY8-414" fmla="*/ 273465 h 4569673"/>
              <a:gd name="connsiteX9-415" fmla="*/ 2111887 w 2111887"/>
              <a:gd name="connsiteY9-416" fmla="*/ 4322456 h 4569673"/>
              <a:gd name="connsiteX10-417" fmla="*/ 1864670 w 2111887"/>
              <a:gd name="connsiteY10-418" fmla="*/ 4569673 h 4569673"/>
              <a:gd name="connsiteX11-419" fmla="*/ 247217 w 2111887"/>
              <a:gd name="connsiteY11-420" fmla="*/ 4569673 h 4569673"/>
              <a:gd name="connsiteX12-421" fmla="*/ 0 w 2111887"/>
              <a:gd name="connsiteY12-422" fmla="*/ 4322456 h 4569673"/>
              <a:gd name="connsiteX13-423" fmla="*/ 0 w 2111887"/>
              <a:gd name="connsiteY13-424" fmla="*/ 273465 h 4569673"/>
              <a:gd name="connsiteX0-425" fmla="*/ 0 w 2111887"/>
              <a:gd name="connsiteY0-426" fmla="*/ 274360 h 4570568"/>
              <a:gd name="connsiteX1-427" fmla="*/ 235311 w 2111887"/>
              <a:gd name="connsiteY1-428" fmla="*/ 15237 h 4570568"/>
              <a:gd name="connsiteX2-429" fmla="*/ 579412 w 2111887"/>
              <a:gd name="connsiteY2-430" fmla="*/ 10475 h 4570568"/>
              <a:gd name="connsiteX3-431" fmla="*/ 693712 w 2111887"/>
              <a:gd name="connsiteY3-432" fmla="*/ 120011 h 4570568"/>
              <a:gd name="connsiteX4-433" fmla="*/ 1055662 w 2111887"/>
              <a:gd name="connsiteY4-434" fmla="*/ 127155 h 4570568"/>
              <a:gd name="connsiteX5-435" fmla="*/ 1453331 w 2111887"/>
              <a:gd name="connsiteY5-436" fmla="*/ 122393 h 4570568"/>
              <a:gd name="connsiteX6-437" fmla="*/ 1520006 w 2111887"/>
              <a:gd name="connsiteY6-438" fmla="*/ 15237 h 4570568"/>
              <a:gd name="connsiteX7-439" fmla="*/ 1888482 w 2111887"/>
              <a:gd name="connsiteY7-440" fmla="*/ 24762 h 4570568"/>
              <a:gd name="connsiteX8-441" fmla="*/ 2111887 w 2111887"/>
              <a:gd name="connsiteY8-442" fmla="*/ 274360 h 4570568"/>
              <a:gd name="connsiteX9-443" fmla="*/ 2111887 w 2111887"/>
              <a:gd name="connsiteY9-444" fmla="*/ 4323351 h 4570568"/>
              <a:gd name="connsiteX10-445" fmla="*/ 1864670 w 2111887"/>
              <a:gd name="connsiteY10-446" fmla="*/ 4570568 h 4570568"/>
              <a:gd name="connsiteX11-447" fmla="*/ 247217 w 2111887"/>
              <a:gd name="connsiteY11-448" fmla="*/ 4570568 h 4570568"/>
              <a:gd name="connsiteX12-449" fmla="*/ 0 w 2111887"/>
              <a:gd name="connsiteY12-450" fmla="*/ 4323351 h 4570568"/>
              <a:gd name="connsiteX13-451" fmla="*/ 0 w 2111887"/>
              <a:gd name="connsiteY13-452" fmla="*/ 274360 h 4570568"/>
              <a:gd name="connsiteX0-453" fmla="*/ 0 w 2111887"/>
              <a:gd name="connsiteY0-454" fmla="*/ 274360 h 4570568"/>
              <a:gd name="connsiteX1-455" fmla="*/ 235311 w 2111887"/>
              <a:gd name="connsiteY1-456" fmla="*/ 15237 h 4570568"/>
              <a:gd name="connsiteX2-457" fmla="*/ 579412 w 2111887"/>
              <a:gd name="connsiteY2-458" fmla="*/ 10475 h 4570568"/>
              <a:gd name="connsiteX3-459" fmla="*/ 693712 w 2111887"/>
              <a:gd name="connsiteY3-460" fmla="*/ 120011 h 4570568"/>
              <a:gd name="connsiteX4-461" fmla="*/ 1055662 w 2111887"/>
              <a:gd name="connsiteY4-462" fmla="*/ 127155 h 4570568"/>
              <a:gd name="connsiteX5-463" fmla="*/ 1453331 w 2111887"/>
              <a:gd name="connsiteY5-464" fmla="*/ 122393 h 4570568"/>
              <a:gd name="connsiteX6-465" fmla="*/ 1520006 w 2111887"/>
              <a:gd name="connsiteY6-466" fmla="*/ 15237 h 4570568"/>
              <a:gd name="connsiteX7-467" fmla="*/ 1888482 w 2111887"/>
              <a:gd name="connsiteY7-468" fmla="*/ 24762 h 4570568"/>
              <a:gd name="connsiteX8-469" fmla="*/ 2111887 w 2111887"/>
              <a:gd name="connsiteY8-470" fmla="*/ 274360 h 4570568"/>
              <a:gd name="connsiteX9-471" fmla="*/ 2111887 w 2111887"/>
              <a:gd name="connsiteY9-472" fmla="*/ 4323351 h 4570568"/>
              <a:gd name="connsiteX10-473" fmla="*/ 1864670 w 2111887"/>
              <a:gd name="connsiteY10-474" fmla="*/ 4570568 h 4570568"/>
              <a:gd name="connsiteX11-475" fmla="*/ 247217 w 2111887"/>
              <a:gd name="connsiteY11-476" fmla="*/ 4570568 h 4570568"/>
              <a:gd name="connsiteX12-477" fmla="*/ 0 w 2111887"/>
              <a:gd name="connsiteY12-478" fmla="*/ 4323351 h 4570568"/>
              <a:gd name="connsiteX13-479" fmla="*/ 0 w 2111887"/>
              <a:gd name="connsiteY13-480" fmla="*/ 274360 h 4570568"/>
              <a:gd name="connsiteX0-481" fmla="*/ 0 w 2111887"/>
              <a:gd name="connsiteY0-482" fmla="*/ 274360 h 4570568"/>
              <a:gd name="connsiteX1-483" fmla="*/ 235311 w 2111887"/>
              <a:gd name="connsiteY1-484" fmla="*/ 15237 h 4570568"/>
              <a:gd name="connsiteX2-485" fmla="*/ 579412 w 2111887"/>
              <a:gd name="connsiteY2-486" fmla="*/ 10475 h 4570568"/>
              <a:gd name="connsiteX3-487" fmla="*/ 693712 w 2111887"/>
              <a:gd name="connsiteY3-488" fmla="*/ 120011 h 4570568"/>
              <a:gd name="connsiteX4-489" fmla="*/ 1055662 w 2111887"/>
              <a:gd name="connsiteY4-490" fmla="*/ 127155 h 4570568"/>
              <a:gd name="connsiteX5-491" fmla="*/ 1453331 w 2111887"/>
              <a:gd name="connsiteY5-492" fmla="*/ 122393 h 4570568"/>
              <a:gd name="connsiteX6-493" fmla="*/ 1520006 w 2111887"/>
              <a:gd name="connsiteY6-494" fmla="*/ 15237 h 4570568"/>
              <a:gd name="connsiteX7-495" fmla="*/ 1888482 w 2111887"/>
              <a:gd name="connsiteY7-496" fmla="*/ 24762 h 4570568"/>
              <a:gd name="connsiteX8-497" fmla="*/ 2111887 w 2111887"/>
              <a:gd name="connsiteY8-498" fmla="*/ 274360 h 4570568"/>
              <a:gd name="connsiteX9-499" fmla="*/ 2111887 w 2111887"/>
              <a:gd name="connsiteY9-500" fmla="*/ 4323351 h 4570568"/>
              <a:gd name="connsiteX10-501" fmla="*/ 1864670 w 2111887"/>
              <a:gd name="connsiteY10-502" fmla="*/ 4570568 h 4570568"/>
              <a:gd name="connsiteX11-503" fmla="*/ 247217 w 2111887"/>
              <a:gd name="connsiteY11-504" fmla="*/ 4570568 h 4570568"/>
              <a:gd name="connsiteX12-505" fmla="*/ 0 w 2111887"/>
              <a:gd name="connsiteY12-506" fmla="*/ 4323351 h 4570568"/>
              <a:gd name="connsiteX13-507" fmla="*/ 0 w 2111887"/>
              <a:gd name="connsiteY13-508" fmla="*/ 274360 h 4570568"/>
              <a:gd name="connsiteX0-509" fmla="*/ 0 w 2111887"/>
              <a:gd name="connsiteY0-510" fmla="*/ 274360 h 4570568"/>
              <a:gd name="connsiteX1-511" fmla="*/ 235311 w 2111887"/>
              <a:gd name="connsiteY1-512" fmla="*/ 15237 h 4570568"/>
              <a:gd name="connsiteX2-513" fmla="*/ 579412 w 2111887"/>
              <a:gd name="connsiteY2-514" fmla="*/ 10475 h 4570568"/>
              <a:gd name="connsiteX3-515" fmla="*/ 698474 w 2111887"/>
              <a:gd name="connsiteY3-516" fmla="*/ 122393 h 4570568"/>
              <a:gd name="connsiteX4-517" fmla="*/ 1055662 w 2111887"/>
              <a:gd name="connsiteY4-518" fmla="*/ 127155 h 4570568"/>
              <a:gd name="connsiteX5-519" fmla="*/ 1453331 w 2111887"/>
              <a:gd name="connsiteY5-520" fmla="*/ 122393 h 4570568"/>
              <a:gd name="connsiteX6-521" fmla="*/ 1520006 w 2111887"/>
              <a:gd name="connsiteY6-522" fmla="*/ 15237 h 4570568"/>
              <a:gd name="connsiteX7-523" fmla="*/ 1888482 w 2111887"/>
              <a:gd name="connsiteY7-524" fmla="*/ 24762 h 4570568"/>
              <a:gd name="connsiteX8-525" fmla="*/ 2111887 w 2111887"/>
              <a:gd name="connsiteY8-526" fmla="*/ 274360 h 4570568"/>
              <a:gd name="connsiteX9-527" fmla="*/ 2111887 w 2111887"/>
              <a:gd name="connsiteY9-528" fmla="*/ 4323351 h 4570568"/>
              <a:gd name="connsiteX10-529" fmla="*/ 1864670 w 2111887"/>
              <a:gd name="connsiteY10-530" fmla="*/ 4570568 h 4570568"/>
              <a:gd name="connsiteX11-531" fmla="*/ 247217 w 2111887"/>
              <a:gd name="connsiteY11-532" fmla="*/ 4570568 h 4570568"/>
              <a:gd name="connsiteX12-533" fmla="*/ 0 w 2111887"/>
              <a:gd name="connsiteY12-534" fmla="*/ 4323351 h 4570568"/>
              <a:gd name="connsiteX13-535" fmla="*/ 0 w 2111887"/>
              <a:gd name="connsiteY13-536" fmla="*/ 274360 h 4570568"/>
              <a:gd name="connsiteX0-537" fmla="*/ 0 w 2111887"/>
              <a:gd name="connsiteY0-538" fmla="*/ 274360 h 4570568"/>
              <a:gd name="connsiteX1-539" fmla="*/ 235311 w 2111887"/>
              <a:gd name="connsiteY1-540" fmla="*/ 15237 h 4570568"/>
              <a:gd name="connsiteX2-541" fmla="*/ 579412 w 2111887"/>
              <a:gd name="connsiteY2-542" fmla="*/ 10475 h 4570568"/>
              <a:gd name="connsiteX3-543" fmla="*/ 698474 w 2111887"/>
              <a:gd name="connsiteY3-544" fmla="*/ 122393 h 4570568"/>
              <a:gd name="connsiteX4-545" fmla="*/ 1055662 w 2111887"/>
              <a:gd name="connsiteY4-546" fmla="*/ 127155 h 4570568"/>
              <a:gd name="connsiteX5-547" fmla="*/ 1427138 w 2111887"/>
              <a:gd name="connsiteY5-548" fmla="*/ 124774 h 4570568"/>
              <a:gd name="connsiteX6-549" fmla="*/ 1520006 w 2111887"/>
              <a:gd name="connsiteY6-550" fmla="*/ 15237 h 4570568"/>
              <a:gd name="connsiteX7-551" fmla="*/ 1888482 w 2111887"/>
              <a:gd name="connsiteY7-552" fmla="*/ 24762 h 4570568"/>
              <a:gd name="connsiteX8-553" fmla="*/ 2111887 w 2111887"/>
              <a:gd name="connsiteY8-554" fmla="*/ 274360 h 4570568"/>
              <a:gd name="connsiteX9-555" fmla="*/ 2111887 w 2111887"/>
              <a:gd name="connsiteY9-556" fmla="*/ 4323351 h 4570568"/>
              <a:gd name="connsiteX10-557" fmla="*/ 1864670 w 2111887"/>
              <a:gd name="connsiteY10-558" fmla="*/ 4570568 h 4570568"/>
              <a:gd name="connsiteX11-559" fmla="*/ 247217 w 2111887"/>
              <a:gd name="connsiteY11-560" fmla="*/ 4570568 h 4570568"/>
              <a:gd name="connsiteX12-561" fmla="*/ 0 w 2111887"/>
              <a:gd name="connsiteY12-562" fmla="*/ 4323351 h 4570568"/>
              <a:gd name="connsiteX13-563" fmla="*/ 0 w 2111887"/>
              <a:gd name="connsiteY13-564" fmla="*/ 274360 h 4570568"/>
              <a:gd name="connsiteX0-565" fmla="*/ 0 w 2111887"/>
              <a:gd name="connsiteY0-566" fmla="*/ 275652 h 4571860"/>
              <a:gd name="connsiteX1-567" fmla="*/ 235311 w 2111887"/>
              <a:gd name="connsiteY1-568" fmla="*/ 16529 h 4571860"/>
              <a:gd name="connsiteX2-569" fmla="*/ 579412 w 2111887"/>
              <a:gd name="connsiteY2-570" fmla="*/ 11767 h 4571860"/>
              <a:gd name="connsiteX3-571" fmla="*/ 698474 w 2111887"/>
              <a:gd name="connsiteY3-572" fmla="*/ 123685 h 4571860"/>
              <a:gd name="connsiteX4-573" fmla="*/ 1055662 w 2111887"/>
              <a:gd name="connsiteY4-574" fmla="*/ 128447 h 4571860"/>
              <a:gd name="connsiteX5-575" fmla="*/ 1427138 w 2111887"/>
              <a:gd name="connsiteY5-576" fmla="*/ 126066 h 4571860"/>
              <a:gd name="connsiteX6-577" fmla="*/ 1520006 w 2111887"/>
              <a:gd name="connsiteY6-578" fmla="*/ 11766 h 4571860"/>
              <a:gd name="connsiteX7-579" fmla="*/ 1888482 w 2111887"/>
              <a:gd name="connsiteY7-580" fmla="*/ 26054 h 4571860"/>
              <a:gd name="connsiteX8-581" fmla="*/ 2111887 w 2111887"/>
              <a:gd name="connsiteY8-582" fmla="*/ 275652 h 4571860"/>
              <a:gd name="connsiteX9-583" fmla="*/ 2111887 w 2111887"/>
              <a:gd name="connsiteY9-584" fmla="*/ 4324643 h 4571860"/>
              <a:gd name="connsiteX10-585" fmla="*/ 1864670 w 2111887"/>
              <a:gd name="connsiteY10-586" fmla="*/ 4571860 h 4571860"/>
              <a:gd name="connsiteX11-587" fmla="*/ 247217 w 2111887"/>
              <a:gd name="connsiteY11-588" fmla="*/ 4571860 h 4571860"/>
              <a:gd name="connsiteX12-589" fmla="*/ 0 w 2111887"/>
              <a:gd name="connsiteY12-590" fmla="*/ 4324643 h 4571860"/>
              <a:gd name="connsiteX13-591" fmla="*/ 0 w 2111887"/>
              <a:gd name="connsiteY13-592" fmla="*/ 275652 h 4571860"/>
              <a:gd name="connsiteX0-593" fmla="*/ 0 w 2111887"/>
              <a:gd name="connsiteY0-594" fmla="*/ 277724 h 4573932"/>
              <a:gd name="connsiteX1-595" fmla="*/ 235311 w 2111887"/>
              <a:gd name="connsiteY1-596" fmla="*/ 18601 h 4573932"/>
              <a:gd name="connsiteX2-597" fmla="*/ 579412 w 2111887"/>
              <a:gd name="connsiteY2-598" fmla="*/ 13839 h 4573932"/>
              <a:gd name="connsiteX3-599" fmla="*/ 698474 w 2111887"/>
              <a:gd name="connsiteY3-600" fmla="*/ 125757 h 4573932"/>
              <a:gd name="connsiteX4-601" fmla="*/ 1055662 w 2111887"/>
              <a:gd name="connsiteY4-602" fmla="*/ 130519 h 4573932"/>
              <a:gd name="connsiteX5-603" fmla="*/ 1427138 w 2111887"/>
              <a:gd name="connsiteY5-604" fmla="*/ 128138 h 4573932"/>
              <a:gd name="connsiteX6-605" fmla="*/ 1520006 w 2111887"/>
              <a:gd name="connsiteY6-606" fmla="*/ 13838 h 4573932"/>
              <a:gd name="connsiteX7-607" fmla="*/ 1895626 w 2111887"/>
              <a:gd name="connsiteY7-608" fmla="*/ 23364 h 4573932"/>
              <a:gd name="connsiteX8-609" fmla="*/ 2111887 w 2111887"/>
              <a:gd name="connsiteY8-610" fmla="*/ 277724 h 4573932"/>
              <a:gd name="connsiteX9-611" fmla="*/ 2111887 w 2111887"/>
              <a:gd name="connsiteY9-612" fmla="*/ 4326715 h 4573932"/>
              <a:gd name="connsiteX10-613" fmla="*/ 1864670 w 2111887"/>
              <a:gd name="connsiteY10-614" fmla="*/ 4573932 h 4573932"/>
              <a:gd name="connsiteX11-615" fmla="*/ 247217 w 2111887"/>
              <a:gd name="connsiteY11-616" fmla="*/ 4573932 h 4573932"/>
              <a:gd name="connsiteX12-617" fmla="*/ 0 w 2111887"/>
              <a:gd name="connsiteY12-618" fmla="*/ 4326715 h 4573932"/>
              <a:gd name="connsiteX13-619" fmla="*/ 0 w 2111887"/>
              <a:gd name="connsiteY13-620" fmla="*/ 277724 h 4573932"/>
              <a:gd name="connsiteX0-621" fmla="*/ 0 w 2111887"/>
              <a:gd name="connsiteY0-622" fmla="*/ 277724 h 4573932"/>
              <a:gd name="connsiteX1-623" fmla="*/ 235311 w 2111887"/>
              <a:gd name="connsiteY1-624" fmla="*/ 18601 h 4573932"/>
              <a:gd name="connsiteX2-625" fmla="*/ 579412 w 2111887"/>
              <a:gd name="connsiteY2-626" fmla="*/ 13839 h 4573932"/>
              <a:gd name="connsiteX3-627" fmla="*/ 762768 w 2111887"/>
              <a:gd name="connsiteY3-628" fmla="*/ 28126 h 4573932"/>
              <a:gd name="connsiteX4-629" fmla="*/ 1055662 w 2111887"/>
              <a:gd name="connsiteY4-630" fmla="*/ 130519 h 4573932"/>
              <a:gd name="connsiteX5-631" fmla="*/ 1427138 w 2111887"/>
              <a:gd name="connsiteY5-632" fmla="*/ 128138 h 4573932"/>
              <a:gd name="connsiteX6-633" fmla="*/ 1520006 w 2111887"/>
              <a:gd name="connsiteY6-634" fmla="*/ 13838 h 4573932"/>
              <a:gd name="connsiteX7-635" fmla="*/ 1895626 w 2111887"/>
              <a:gd name="connsiteY7-636" fmla="*/ 23364 h 4573932"/>
              <a:gd name="connsiteX8-637" fmla="*/ 2111887 w 2111887"/>
              <a:gd name="connsiteY8-638" fmla="*/ 277724 h 4573932"/>
              <a:gd name="connsiteX9-639" fmla="*/ 2111887 w 2111887"/>
              <a:gd name="connsiteY9-640" fmla="*/ 4326715 h 4573932"/>
              <a:gd name="connsiteX10-641" fmla="*/ 1864670 w 2111887"/>
              <a:gd name="connsiteY10-642" fmla="*/ 4573932 h 4573932"/>
              <a:gd name="connsiteX11-643" fmla="*/ 247217 w 2111887"/>
              <a:gd name="connsiteY11-644" fmla="*/ 4573932 h 4573932"/>
              <a:gd name="connsiteX12-645" fmla="*/ 0 w 2111887"/>
              <a:gd name="connsiteY12-646" fmla="*/ 4326715 h 4573932"/>
              <a:gd name="connsiteX13-647" fmla="*/ 0 w 2111887"/>
              <a:gd name="connsiteY13-648" fmla="*/ 277724 h 4573932"/>
              <a:gd name="connsiteX0-649" fmla="*/ 0 w 2111887"/>
              <a:gd name="connsiteY0-650" fmla="*/ 271997 h 4568205"/>
              <a:gd name="connsiteX1-651" fmla="*/ 235311 w 2111887"/>
              <a:gd name="connsiteY1-652" fmla="*/ 12874 h 4568205"/>
              <a:gd name="connsiteX2-653" fmla="*/ 579412 w 2111887"/>
              <a:gd name="connsiteY2-654" fmla="*/ 8112 h 4568205"/>
              <a:gd name="connsiteX3-655" fmla="*/ 762768 w 2111887"/>
              <a:gd name="connsiteY3-656" fmla="*/ 22399 h 4568205"/>
              <a:gd name="connsiteX4-657" fmla="*/ 1055662 w 2111887"/>
              <a:gd name="connsiteY4-658" fmla="*/ 124792 h 4568205"/>
              <a:gd name="connsiteX5-659" fmla="*/ 1272357 w 2111887"/>
              <a:gd name="connsiteY5-660" fmla="*/ 22398 h 4568205"/>
              <a:gd name="connsiteX6-661" fmla="*/ 1520006 w 2111887"/>
              <a:gd name="connsiteY6-662" fmla="*/ 8111 h 4568205"/>
              <a:gd name="connsiteX7-663" fmla="*/ 1895626 w 2111887"/>
              <a:gd name="connsiteY7-664" fmla="*/ 17637 h 4568205"/>
              <a:gd name="connsiteX8-665" fmla="*/ 2111887 w 2111887"/>
              <a:gd name="connsiteY8-666" fmla="*/ 271997 h 4568205"/>
              <a:gd name="connsiteX9-667" fmla="*/ 2111887 w 2111887"/>
              <a:gd name="connsiteY9-668" fmla="*/ 4320988 h 4568205"/>
              <a:gd name="connsiteX10-669" fmla="*/ 1864670 w 2111887"/>
              <a:gd name="connsiteY10-670" fmla="*/ 4568205 h 4568205"/>
              <a:gd name="connsiteX11-671" fmla="*/ 247217 w 2111887"/>
              <a:gd name="connsiteY11-672" fmla="*/ 4568205 h 4568205"/>
              <a:gd name="connsiteX12-673" fmla="*/ 0 w 2111887"/>
              <a:gd name="connsiteY12-674" fmla="*/ 4320988 h 4568205"/>
              <a:gd name="connsiteX13-675" fmla="*/ 0 w 2111887"/>
              <a:gd name="connsiteY13-676" fmla="*/ 271997 h 4568205"/>
              <a:gd name="connsiteX0-677" fmla="*/ 0 w 2111887"/>
              <a:gd name="connsiteY0-678" fmla="*/ 271997 h 4568205"/>
              <a:gd name="connsiteX1-679" fmla="*/ 235311 w 2111887"/>
              <a:gd name="connsiteY1-680" fmla="*/ 12874 h 4568205"/>
              <a:gd name="connsiteX2-681" fmla="*/ 579412 w 2111887"/>
              <a:gd name="connsiteY2-682" fmla="*/ 8112 h 4568205"/>
              <a:gd name="connsiteX3-683" fmla="*/ 762768 w 2111887"/>
              <a:gd name="connsiteY3-684" fmla="*/ 22399 h 4568205"/>
              <a:gd name="connsiteX4-685" fmla="*/ 1046137 w 2111887"/>
              <a:gd name="connsiteY4-686" fmla="*/ 15255 h 4568205"/>
              <a:gd name="connsiteX5-687" fmla="*/ 1272357 w 2111887"/>
              <a:gd name="connsiteY5-688" fmla="*/ 22398 h 4568205"/>
              <a:gd name="connsiteX6-689" fmla="*/ 1520006 w 2111887"/>
              <a:gd name="connsiteY6-690" fmla="*/ 8111 h 4568205"/>
              <a:gd name="connsiteX7-691" fmla="*/ 1895626 w 2111887"/>
              <a:gd name="connsiteY7-692" fmla="*/ 17637 h 4568205"/>
              <a:gd name="connsiteX8-693" fmla="*/ 2111887 w 2111887"/>
              <a:gd name="connsiteY8-694" fmla="*/ 271997 h 4568205"/>
              <a:gd name="connsiteX9-695" fmla="*/ 2111887 w 2111887"/>
              <a:gd name="connsiteY9-696" fmla="*/ 4320988 h 4568205"/>
              <a:gd name="connsiteX10-697" fmla="*/ 1864670 w 2111887"/>
              <a:gd name="connsiteY10-698" fmla="*/ 4568205 h 4568205"/>
              <a:gd name="connsiteX11-699" fmla="*/ 247217 w 2111887"/>
              <a:gd name="connsiteY11-700" fmla="*/ 4568205 h 4568205"/>
              <a:gd name="connsiteX12-701" fmla="*/ 0 w 2111887"/>
              <a:gd name="connsiteY12-702" fmla="*/ 4320988 h 4568205"/>
              <a:gd name="connsiteX13-703" fmla="*/ 0 w 2111887"/>
              <a:gd name="connsiteY13-704" fmla="*/ 271997 h 4568205"/>
              <a:gd name="connsiteX0-705" fmla="*/ 0 w 2111887"/>
              <a:gd name="connsiteY0-706" fmla="*/ 271997 h 4568205"/>
              <a:gd name="connsiteX1-707" fmla="*/ 235311 w 2111887"/>
              <a:gd name="connsiteY1-708" fmla="*/ 12874 h 4568205"/>
              <a:gd name="connsiteX2-709" fmla="*/ 579412 w 2111887"/>
              <a:gd name="connsiteY2-710" fmla="*/ 8112 h 4568205"/>
              <a:gd name="connsiteX3-711" fmla="*/ 762768 w 2111887"/>
              <a:gd name="connsiteY3-712" fmla="*/ 22399 h 4568205"/>
              <a:gd name="connsiteX4-713" fmla="*/ 1272357 w 2111887"/>
              <a:gd name="connsiteY4-714" fmla="*/ 22398 h 4568205"/>
              <a:gd name="connsiteX5-715" fmla="*/ 1520006 w 2111887"/>
              <a:gd name="connsiteY5-716" fmla="*/ 8111 h 4568205"/>
              <a:gd name="connsiteX6-717" fmla="*/ 1895626 w 2111887"/>
              <a:gd name="connsiteY6-718" fmla="*/ 17637 h 4568205"/>
              <a:gd name="connsiteX7-719" fmla="*/ 2111887 w 2111887"/>
              <a:gd name="connsiteY7-720" fmla="*/ 271997 h 4568205"/>
              <a:gd name="connsiteX8-721" fmla="*/ 2111887 w 2111887"/>
              <a:gd name="connsiteY8-722" fmla="*/ 4320988 h 4568205"/>
              <a:gd name="connsiteX9-723" fmla="*/ 1864670 w 2111887"/>
              <a:gd name="connsiteY9-724" fmla="*/ 4568205 h 4568205"/>
              <a:gd name="connsiteX10-725" fmla="*/ 247217 w 2111887"/>
              <a:gd name="connsiteY10-726" fmla="*/ 4568205 h 4568205"/>
              <a:gd name="connsiteX11-727" fmla="*/ 0 w 2111887"/>
              <a:gd name="connsiteY11-728" fmla="*/ 4320988 h 4568205"/>
              <a:gd name="connsiteX12-729" fmla="*/ 0 w 2111887"/>
              <a:gd name="connsiteY12-730" fmla="*/ 271997 h 4568205"/>
              <a:gd name="connsiteX0-731" fmla="*/ 0 w 2111887"/>
              <a:gd name="connsiteY0-732" fmla="*/ 275715 h 4571923"/>
              <a:gd name="connsiteX1-733" fmla="*/ 235311 w 2111887"/>
              <a:gd name="connsiteY1-734" fmla="*/ 16592 h 4571923"/>
              <a:gd name="connsiteX2-735" fmla="*/ 762768 w 2111887"/>
              <a:gd name="connsiteY2-736" fmla="*/ 26117 h 4571923"/>
              <a:gd name="connsiteX3-737" fmla="*/ 1272357 w 2111887"/>
              <a:gd name="connsiteY3-738" fmla="*/ 26116 h 4571923"/>
              <a:gd name="connsiteX4-739" fmla="*/ 1520006 w 2111887"/>
              <a:gd name="connsiteY4-740" fmla="*/ 11829 h 4571923"/>
              <a:gd name="connsiteX5-741" fmla="*/ 1895626 w 2111887"/>
              <a:gd name="connsiteY5-742" fmla="*/ 21355 h 4571923"/>
              <a:gd name="connsiteX6-743" fmla="*/ 2111887 w 2111887"/>
              <a:gd name="connsiteY6-744" fmla="*/ 275715 h 4571923"/>
              <a:gd name="connsiteX7-745" fmla="*/ 2111887 w 2111887"/>
              <a:gd name="connsiteY7-746" fmla="*/ 4324706 h 4571923"/>
              <a:gd name="connsiteX8-747" fmla="*/ 1864670 w 2111887"/>
              <a:gd name="connsiteY8-748" fmla="*/ 4571923 h 4571923"/>
              <a:gd name="connsiteX9-749" fmla="*/ 247217 w 2111887"/>
              <a:gd name="connsiteY9-750" fmla="*/ 4571923 h 4571923"/>
              <a:gd name="connsiteX10-751" fmla="*/ 0 w 2111887"/>
              <a:gd name="connsiteY10-752" fmla="*/ 4324706 h 4571923"/>
              <a:gd name="connsiteX11-753" fmla="*/ 0 w 2111887"/>
              <a:gd name="connsiteY11-754" fmla="*/ 275715 h 4571923"/>
              <a:gd name="connsiteX0-755" fmla="*/ 0 w 2111887"/>
              <a:gd name="connsiteY0-756" fmla="*/ 275289 h 4571497"/>
              <a:gd name="connsiteX1-757" fmla="*/ 235311 w 2111887"/>
              <a:gd name="connsiteY1-758" fmla="*/ 16166 h 4571497"/>
              <a:gd name="connsiteX2-759" fmla="*/ 1272357 w 2111887"/>
              <a:gd name="connsiteY2-760" fmla="*/ 25690 h 4571497"/>
              <a:gd name="connsiteX3-761" fmla="*/ 1520006 w 2111887"/>
              <a:gd name="connsiteY3-762" fmla="*/ 11403 h 4571497"/>
              <a:gd name="connsiteX4-763" fmla="*/ 1895626 w 2111887"/>
              <a:gd name="connsiteY4-764" fmla="*/ 20929 h 4571497"/>
              <a:gd name="connsiteX5-765" fmla="*/ 2111887 w 2111887"/>
              <a:gd name="connsiteY5-766" fmla="*/ 275289 h 4571497"/>
              <a:gd name="connsiteX6-767" fmla="*/ 2111887 w 2111887"/>
              <a:gd name="connsiteY6-768" fmla="*/ 4324280 h 4571497"/>
              <a:gd name="connsiteX7-769" fmla="*/ 1864670 w 2111887"/>
              <a:gd name="connsiteY7-770" fmla="*/ 4571497 h 4571497"/>
              <a:gd name="connsiteX8-771" fmla="*/ 247217 w 2111887"/>
              <a:gd name="connsiteY8-772" fmla="*/ 4571497 h 4571497"/>
              <a:gd name="connsiteX9-773" fmla="*/ 0 w 2111887"/>
              <a:gd name="connsiteY9-774" fmla="*/ 4324280 h 4571497"/>
              <a:gd name="connsiteX10-775" fmla="*/ 0 w 2111887"/>
              <a:gd name="connsiteY10-776" fmla="*/ 275289 h 4571497"/>
              <a:gd name="connsiteX0-777" fmla="*/ 0 w 2111887"/>
              <a:gd name="connsiteY0-778" fmla="*/ 280184 h 4576392"/>
              <a:gd name="connsiteX1-779" fmla="*/ 235311 w 2111887"/>
              <a:gd name="connsiteY1-780" fmla="*/ 21061 h 4576392"/>
              <a:gd name="connsiteX2-781" fmla="*/ 1520006 w 2111887"/>
              <a:gd name="connsiteY2-782" fmla="*/ 16298 h 4576392"/>
              <a:gd name="connsiteX3-783" fmla="*/ 1895626 w 2111887"/>
              <a:gd name="connsiteY3-784" fmla="*/ 25824 h 4576392"/>
              <a:gd name="connsiteX4-785" fmla="*/ 2111887 w 2111887"/>
              <a:gd name="connsiteY4-786" fmla="*/ 280184 h 4576392"/>
              <a:gd name="connsiteX5-787" fmla="*/ 2111887 w 2111887"/>
              <a:gd name="connsiteY5-788" fmla="*/ 4329175 h 4576392"/>
              <a:gd name="connsiteX6-789" fmla="*/ 1864670 w 2111887"/>
              <a:gd name="connsiteY6-790" fmla="*/ 4576392 h 4576392"/>
              <a:gd name="connsiteX7-791" fmla="*/ 247217 w 2111887"/>
              <a:gd name="connsiteY7-792" fmla="*/ 4576392 h 4576392"/>
              <a:gd name="connsiteX8-793" fmla="*/ 0 w 2111887"/>
              <a:gd name="connsiteY8-794" fmla="*/ 4329175 h 4576392"/>
              <a:gd name="connsiteX9-795" fmla="*/ 0 w 2111887"/>
              <a:gd name="connsiteY9-796" fmla="*/ 280184 h 4576392"/>
              <a:gd name="connsiteX0-797" fmla="*/ 0 w 2111887"/>
              <a:gd name="connsiteY0-798" fmla="*/ 288917 h 4585125"/>
              <a:gd name="connsiteX1-799" fmla="*/ 235311 w 2111887"/>
              <a:gd name="connsiteY1-800" fmla="*/ 29794 h 4585125"/>
              <a:gd name="connsiteX2-801" fmla="*/ 1895626 w 2111887"/>
              <a:gd name="connsiteY2-802" fmla="*/ 34557 h 4585125"/>
              <a:gd name="connsiteX3-803" fmla="*/ 2111887 w 2111887"/>
              <a:gd name="connsiteY3-804" fmla="*/ 288917 h 4585125"/>
              <a:gd name="connsiteX4-805" fmla="*/ 2111887 w 2111887"/>
              <a:gd name="connsiteY4-806" fmla="*/ 4337908 h 4585125"/>
              <a:gd name="connsiteX5-807" fmla="*/ 1864670 w 2111887"/>
              <a:gd name="connsiteY5-808" fmla="*/ 4585125 h 4585125"/>
              <a:gd name="connsiteX6-809" fmla="*/ 247217 w 2111887"/>
              <a:gd name="connsiteY6-810" fmla="*/ 4585125 h 4585125"/>
              <a:gd name="connsiteX7-811" fmla="*/ 0 w 2111887"/>
              <a:gd name="connsiteY7-812" fmla="*/ 4337908 h 4585125"/>
              <a:gd name="connsiteX8-813" fmla="*/ 0 w 2111887"/>
              <a:gd name="connsiteY8-814" fmla="*/ 288917 h 4585125"/>
              <a:gd name="connsiteX0-815" fmla="*/ 0 w 2111887"/>
              <a:gd name="connsiteY0-816" fmla="*/ 316063 h 4612271"/>
              <a:gd name="connsiteX1-817" fmla="*/ 235311 w 2111887"/>
              <a:gd name="connsiteY1-818" fmla="*/ 56940 h 4612271"/>
              <a:gd name="connsiteX2-819" fmla="*/ 1888483 w 2111887"/>
              <a:gd name="connsiteY2-820" fmla="*/ 18841 h 4612271"/>
              <a:gd name="connsiteX3-821" fmla="*/ 2111887 w 2111887"/>
              <a:gd name="connsiteY3-822" fmla="*/ 316063 h 4612271"/>
              <a:gd name="connsiteX4-823" fmla="*/ 2111887 w 2111887"/>
              <a:gd name="connsiteY4-824" fmla="*/ 4365054 h 4612271"/>
              <a:gd name="connsiteX5-825" fmla="*/ 1864670 w 2111887"/>
              <a:gd name="connsiteY5-826" fmla="*/ 4612271 h 4612271"/>
              <a:gd name="connsiteX6-827" fmla="*/ 247217 w 2111887"/>
              <a:gd name="connsiteY6-828" fmla="*/ 4612271 h 4612271"/>
              <a:gd name="connsiteX7-829" fmla="*/ 0 w 2111887"/>
              <a:gd name="connsiteY7-830" fmla="*/ 4365054 h 4612271"/>
              <a:gd name="connsiteX8-831" fmla="*/ 0 w 2111887"/>
              <a:gd name="connsiteY8-832" fmla="*/ 316063 h 4612271"/>
              <a:gd name="connsiteX0-833" fmla="*/ 0 w 2111887"/>
              <a:gd name="connsiteY0-834" fmla="*/ 327050 h 4623258"/>
              <a:gd name="connsiteX1-835" fmla="*/ 223404 w 2111887"/>
              <a:gd name="connsiteY1-836" fmla="*/ 34589 h 4623258"/>
              <a:gd name="connsiteX2-837" fmla="*/ 1888483 w 2111887"/>
              <a:gd name="connsiteY2-838" fmla="*/ 29828 h 4623258"/>
              <a:gd name="connsiteX3-839" fmla="*/ 2111887 w 2111887"/>
              <a:gd name="connsiteY3-840" fmla="*/ 327050 h 4623258"/>
              <a:gd name="connsiteX4-841" fmla="*/ 2111887 w 2111887"/>
              <a:gd name="connsiteY4-842" fmla="*/ 4376041 h 4623258"/>
              <a:gd name="connsiteX5-843" fmla="*/ 1864670 w 2111887"/>
              <a:gd name="connsiteY5-844" fmla="*/ 4623258 h 4623258"/>
              <a:gd name="connsiteX6-845" fmla="*/ 247217 w 2111887"/>
              <a:gd name="connsiteY6-846" fmla="*/ 4623258 h 4623258"/>
              <a:gd name="connsiteX7-847" fmla="*/ 0 w 2111887"/>
              <a:gd name="connsiteY7-848" fmla="*/ 4376041 h 4623258"/>
              <a:gd name="connsiteX8-849" fmla="*/ 0 w 2111887"/>
              <a:gd name="connsiteY8-850" fmla="*/ 327050 h 4623258"/>
              <a:gd name="connsiteX0-851" fmla="*/ 0 w 2111887"/>
              <a:gd name="connsiteY0-852" fmla="*/ 318359 h 4614567"/>
              <a:gd name="connsiteX1-853" fmla="*/ 223404 w 2111887"/>
              <a:gd name="connsiteY1-854" fmla="*/ 25898 h 4614567"/>
              <a:gd name="connsiteX2-855" fmla="*/ 1888483 w 2111887"/>
              <a:gd name="connsiteY2-856" fmla="*/ 21137 h 4614567"/>
              <a:gd name="connsiteX3-857" fmla="*/ 2111887 w 2111887"/>
              <a:gd name="connsiteY3-858" fmla="*/ 318359 h 4614567"/>
              <a:gd name="connsiteX4-859" fmla="*/ 2111887 w 2111887"/>
              <a:gd name="connsiteY4-860" fmla="*/ 4367350 h 4614567"/>
              <a:gd name="connsiteX5-861" fmla="*/ 1864670 w 2111887"/>
              <a:gd name="connsiteY5-862" fmla="*/ 4614567 h 4614567"/>
              <a:gd name="connsiteX6-863" fmla="*/ 247217 w 2111887"/>
              <a:gd name="connsiteY6-864" fmla="*/ 4614567 h 4614567"/>
              <a:gd name="connsiteX7-865" fmla="*/ 0 w 2111887"/>
              <a:gd name="connsiteY7-866" fmla="*/ 4367350 h 4614567"/>
              <a:gd name="connsiteX8-867" fmla="*/ 0 w 2111887"/>
              <a:gd name="connsiteY8-868" fmla="*/ 318359 h 4614567"/>
              <a:gd name="connsiteX0-869" fmla="*/ 0 w 2111887"/>
              <a:gd name="connsiteY0-870" fmla="*/ 308933 h 4605141"/>
              <a:gd name="connsiteX1-871" fmla="*/ 223404 w 2111887"/>
              <a:gd name="connsiteY1-872" fmla="*/ 16472 h 4605141"/>
              <a:gd name="connsiteX2-873" fmla="*/ 1888483 w 2111887"/>
              <a:gd name="connsiteY2-874" fmla="*/ 11711 h 4605141"/>
              <a:gd name="connsiteX3-875" fmla="*/ 2111887 w 2111887"/>
              <a:gd name="connsiteY3-876" fmla="*/ 308933 h 4605141"/>
              <a:gd name="connsiteX4-877" fmla="*/ 2111887 w 2111887"/>
              <a:gd name="connsiteY4-878" fmla="*/ 4357924 h 4605141"/>
              <a:gd name="connsiteX5-879" fmla="*/ 1864670 w 2111887"/>
              <a:gd name="connsiteY5-880" fmla="*/ 4605141 h 4605141"/>
              <a:gd name="connsiteX6-881" fmla="*/ 247217 w 2111887"/>
              <a:gd name="connsiteY6-882" fmla="*/ 4605141 h 4605141"/>
              <a:gd name="connsiteX7-883" fmla="*/ 0 w 2111887"/>
              <a:gd name="connsiteY7-884" fmla="*/ 4357924 h 4605141"/>
              <a:gd name="connsiteX8-885" fmla="*/ 0 w 2111887"/>
              <a:gd name="connsiteY8-886" fmla="*/ 308933 h 4605141"/>
              <a:gd name="connsiteX0-887" fmla="*/ 0 w 2111887"/>
              <a:gd name="connsiteY0-888" fmla="*/ 308933 h 4605141"/>
              <a:gd name="connsiteX1-889" fmla="*/ 223404 w 2111887"/>
              <a:gd name="connsiteY1-890" fmla="*/ 16472 h 4605141"/>
              <a:gd name="connsiteX2-891" fmla="*/ 1888483 w 2111887"/>
              <a:gd name="connsiteY2-892" fmla="*/ 11711 h 4605141"/>
              <a:gd name="connsiteX3-893" fmla="*/ 2111887 w 2111887"/>
              <a:gd name="connsiteY3-894" fmla="*/ 308933 h 4605141"/>
              <a:gd name="connsiteX4-895" fmla="*/ 2111887 w 2111887"/>
              <a:gd name="connsiteY4-896" fmla="*/ 4357924 h 4605141"/>
              <a:gd name="connsiteX5-897" fmla="*/ 1864670 w 2111887"/>
              <a:gd name="connsiteY5-898" fmla="*/ 4605141 h 4605141"/>
              <a:gd name="connsiteX6-899" fmla="*/ 247217 w 2111887"/>
              <a:gd name="connsiteY6-900" fmla="*/ 4605141 h 4605141"/>
              <a:gd name="connsiteX7-901" fmla="*/ 0 w 2111887"/>
              <a:gd name="connsiteY7-902" fmla="*/ 4357924 h 4605141"/>
              <a:gd name="connsiteX8-903" fmla="*/ 0 w 2111887"/>
              <a:gd name="connsiteY8-904" fmla="*/ 308933 h 4605141"/>
              <a:gd name="connsiteX0-905" fmla="*/ 0 w 2119031"/>
              <a:gd name="connsiteY0-906" fmla="*/ 292265 h 4605141"/>
              <a:gd name="connsiteX1-907" fmla="*/ 230548 w 2119031"/>
              <a:gd name="connsiteY1-908" fmla="*/ 16472 h 4605141"/>
              <a:gd name="connsiteX2-909" fmla="*/ 1895627 w 2119031"/>
              <a:gd name="connsiteY2-910" fmla="*/ 11711 h 4605141"/>
              <a:gd name="connsiteX3-911" fmla="*/ 2119031 w 2119031"/>
              <a:gd name="connsiteY3-912" fmla="*/ 308933 h 4605141"/>
              <a:gd name="connsiteX4-913" fmla="*/ 2119031 w 2119031"/>
              <a:gd name="connsiteY4-914" fmla="*/ 4357924 h 4605141"/>
              <a:gd name="connsiteX5-915" fmla="*/ 1871814 w 2119031"/>
              <a:gd name="connsiteY5-916" fmla="*/ 4605141 h 4605141"/>
              <a:gd name="connsiteX6-917" fmla="*/ 254361 w 2119031"/>
              <a:gd name="connsiteY6-918" fmla="*/ 4605141 h 4605141"/>
              <a:gd name="connsiteX7-919" fmla="*/ 7144 w 2119031"/>
              <a:gd name="connsiteY7-920" fmla="*/ 4357924 h 4605141"/>
              <a:gd name="connsiteX8-921" fmla="*/ 0 w 2119031"/>
              <a:gd name="connsiteY8-922" fmla="*/ 292265 h 4605141"/>
              <a:gd name="connsiteX0-923" fmla="*/ 0 w 2128556"/>
              <a:gd name="connsiteY0-924" fmla="*/ 292265 h 4605141"/>
              <a:gd name="connsiteX1-925" fmla="*/ 230548 w 2128556"/>
              <a:gd name="connsiteY1-926" fmla="*/ 16472 h 4605141"/>
              <a:gd name="connsiteX2-927" fmla="*/ 1895627 w 2128556"/>
              <a:gd name="connsiteY2-928" fmla="*/ 11711 h 4605141"/>
              <a:gd name="connsiteX3-929" fmla="*/ 2128556 w 2128556"/>
              <a:gd name="connsiteY3-930" fmla="*/ 297027 h 4605141"/>
              <a:gd name="connsiteX4-931" fmla="*/ 2119031 w 2128556"/>
              <a:gd name="connsiteY4-932" fmla="*/ 4357924 h 4605141"/>
              <a:gd name="connsiteX5-933" fmla="*/ 1871814 w 2128556"/>
              <a:gd name="connsiteY5-934" fmla="*/ 4605141 h 4605141"/>
              <a:gd name="connsiteX6-935" fmla="*/ 254361 w 2128556"/>
              <a:gd name="connsiteY6-936" fmla="*/ 4605141 h 4605141"/>
              <a:gd name="connsiteX7-937" fmla="*/ 7144 w 2128556"/>
              <a:gd name="connsiteY7-938" fmla="*/ 4357924 h 4605141"/>
              <a:gd name="connsiteX8-939" fmla="*/ 0 w 2128556"/>
              <a:gd name="connsiteY8-940" fmla="*/ 292265 h 4605141"/>
              <a:gd name="connsiteX0-941" fmla="*/ 0 w 2128556"/>
              <a:gd name="connsiteY0-942" fmla="*/ 292265 h 4605141"/>
              <a:gd name="connsiteX1-943" fmla="*/ 230548 w 2128556"/>
              <a:gd name="connsiteY1-944" fmla="*/ 16472 h 4605141"/>
              <a:gd name="connsiteX2-945" fmla="*/ 1895627 w 2128556"/>
              <a:gd name="connsiteY2-946" fmla="*/ 11711 h 4605141"/>
              <a:gd name="connsiteX3-947" fmla="*/ 2128556 w 2128556"/>
              <a:gd name="connsiteY3-948" fmla="*/ 297027 h 4605141"/>
              <a:gd name="connsiteX4-949" fmla="*/ 2128556 w 2128556"/>
              <a:gd name="connsiteY4-950" fmla="*/ 4360305 h 4605141"/>
              <a:gd name="connsiteX5-951" fmla="*/ 1871814 w 2128556"/>
              <a:gd name="connsiteY5-952" fmla="*/ 4605141 h 4605141"/>
              <a:gd name="connsiteX6-953" fmla="*/ 254361 w 2128556"/>
              <a:gd name="connsiteY6-954" fmla="*/ 4605141 h 4605141"/>
              <a:gd name="connsiteX7-955" fmla="*/ 7144 w 2128556"/>
              <a:gd name="connsiteY7-956" fmla="*/ 4357924 h 4605141"/>
              <a:gd name="connsiteX8-957" fmla="*/ 0 w 2128556"/>
              <a:gd name="connsiteY8-958" fmla="*/ 292265 h 4605141"/>
              <a:gd name="connsiteX0-959" fmla="*/ 0 w 2128556"/>
              <a:gd name="connsiteY0-960" fmla="*/ 292265 h 4626572"/>
              <a:gd name="connsiteX1-961" fmla="*/ 230548 w 2128556"/>
              <a:gd name="connsiteY1-962" fmla="*/ 16472 h 4626572"/>
              <a:gd name="connsiteX2-963" fmla="*/ 1895627 w 2128556"/>
              <a:gd name="connsiteY2-964" fmla="*/ 11711 h 4626572"/>
              <a:gd name="connsiteX3-965" fmla="*/ 2128556 w 2128556"/>
              <a:gd name="connsiteY3-966" fmla="*/ 297027 h 4626572"/>
              <a:gd name="connsiteX4-967" fmla="*/ 2128556 w 2128556"/>
              <a:gd name="connsiteY4-968" fmla="*/ 4360305 h 4626572"/>
              <a:gd name="connsiteX5-969" fmla="*/ 1867051 w 2128556"/>
              <a:gd name="connsiteY5-970" fmla="*/ 4626572 h 4626572"/>
              <a:gd name="connsiteX6-971" fmla="*/ 254361 w 2128556"/>
              <a:gd name="connsiteY6-972" fmla="*/ 4605141 h 4626572"/>
              <a:gd name="connsiteX7-973" fmla="*/ 7144 w 2128556"/>
              <a:gd name="connsiteY7-974" fmla="*/ 4357924 h 4626572"/>
              <a:gd name="connsiteX8-975" fmla="*/ 0 w 2128556"/>
              <a:gd name="connsiteY8-976" fmla="*/ 292265 h 4626572"/>
              <a:gd name="connsiteX0-977" fmla="*/ 0 w 2128556"/>
              <a:gd name="connsiteY0-978" fmla="*/ 292265 h 4626572"/>
              <a:gd name="connsiteX1-979" fmla="*/ 230548 w 2128556"/>
              <a:gd name="connsiteY1-980" fmla="*/ 16472 h 4626572"/>
              <a:gd name="connsiteX2-981" fmla="*/ 1895627 w 2128556"/>
              <a:gd name="connsiteY2-982" fmla="*/ 11711 h 4626572"/>
              <a:gd name="connsiteX3-983" fmla="*/ 2128556 w 2128556"/>
              <a:gd name="connsiteY3-984" fmla="*/ 297027 h 4626572"/>
              <a:gd name="connsiteX4-985" fmla="*/ 2128556 w 2128556"/>
              <a:gd name="connsiteY4-986" fmla="*/ 4360305 h 4626572"/>
              <a:gd name="connsiteX5-987" fmla="*/ 1867051 w 2128556"/>
              <a:gd name="connsiteY5-988" fmla="*/ 4626572 h 4626572"/>
              <a:gd name="connsiteX6-989" fmla="*/ 254361 w 2128556"/>
              <a:gd name="connsiteY6-990" fmla="*/ 4624191 h 4626572"/>
              <a:gd name="connsiteX7-991" fmla="*/ 7144 w 2128556"/>
              <a:gd name="connsiteY7-992" fmla="*/ 4357924 h 4626572"/>
              <a:gd name="connsiteX8-993" fmla="*/ 0 w 2128556"/>
              <a:gd name="connsiteY8-994" fmla="*/ 292265 h 4626572"/>
              <a:gd name="connsiteX0-995" fmla="*/ 2874 w 2131430"/>
              <a:gd name="connsiteY0-996" fmla="*/ 292265 h 4626572"/>
              <a:gd name="connsiteX1-997" fmla="*/ 233422 w 2131430"/>
              <a:gd name="connsiteY1-998" fmla="*/ 16472 h 4626572"/>
              <a:gd name="connsiteX2-999" fmla="*/ 1898501 w 2131430"/>
              <a:gd name="connsiteY2-1000" fmla="*/ 11711 h 4626572"/>
              <a:gd name="connsiteX3-1001" fmla="*/ 2131430 w 2131430"/>
              <a:gd name="connsiteY3-1002" fmla="*/ 297027 h 4626572"/>
              <a:gd name="connsiteX4-1003" fmla="*/ 2131430 w 2131430"/>
              <a:gd name="connsiteY4-1004" fmla="*/ 4360305 h 4626572"/>
              <a:gd name="connsiteX5-1005" fmla="*/ 1869925 w 2131430"/>
              <a:gd name="connsiteY5-1006" fmla="*/ 4626572 h 4626572"/>
              <a:gd name="connsiteX6-1007" fmla="*/ 257235 w 2131430"/>
              <a:gd name="connsiteY6-1008" fmla="*/ 4624191 h 4626572"/>
              <a:gd name="connsiteX7-1009" fmla="*/ 493 w 2131430"/>
              <a:gd name="connsiteY7-1010" fmla="*/ 4357924 h 4626572"/>
              <a:gd name="connsiteX8-1011" fmla="*/ 2874 w 2131430"/>
              <a:gd name="connsiteY8-1012" fmla="*/ 292265 h 462657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2131430" h="4626572">
                <a:moveTo>
                  <a:pt x="2874" y="292265"/>
                </a:moveTo>
                <a:cubicBezTo>
                  <a:pt x="2874" y="155731"/>
                  <a:pt x="101650" y="18853"/>
                  <a:pt x="233422" y="16472"/>
                </a:cubicBezTo>
                <a:cubicBezTo>
                  <a:pt x="556504" y="2654"/>
                  <a:pt x="1580975" y="-10045"/>
                  <a:pt x="1898501" y="11711"/>
                </a:cubicBezTo>
                <a:cubicBezTo>
                  <a:pt x="2042179" y="21236"/>
                  <a:pt x="2131430" y="160493"/>
                  <a:pt x="2131430" y="297027"/>
                </a:cubicBezTo>
                <a:lnTo>
                  <a:pt x="2131430" y="4360305"/>
                </a:lnTo>
                <a:cubicBezTo>
                  <a:pt x="2131430" y="4496839"/>
                  <a:pt x="2006459" y="4626572"/>
                  <a:pt x="1869925" y="4626572"/>
                </a:cubicBezTo>
                <a:lnTo>
                  <a:pt x="257235" y="4624191"/>
                </a:lnTo>
                <a:cubicBezTo>
                  <a:pt x="120701" y="4624191"/>
                  <a:pt x="493" y="4494458"/>
                  <a:pt x="493" y="4357924"/>
                </a:cubicBezTo>
                <a:cubicBezTo>
                  <a:pt x="-1888" y="3002704"/>
                  <a:pt x="5255" y="1647485"/>
                  <a:pt x="2874" y="29226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Thêm ảnh</a:t>
            </a:r>
          </a:p>
        </p:txBody>
      </p:sp>
      <p:sp>
        <p:nvSpPr>
          <p:cNvPr id="15" name="Picture Placeholder 1"/>
          <p:cNvSpPr>
            <a:spLocks noGrp="1"/>
          </p:cNvSpPr>
          <p:nvPr>
            <p:ph type="pic" sz="quarter" idx="16" hasCustomPrompt="1"/>
          </p:nvPr>
        </p:nvSpPr>
        <p:spPr>
          <a:xfrm>
            <a:off x="9255760" y="1200818"/>
            <a:ext cx="534445" cy="155541"/>
          </a:xfrm>
          <a:custGeom>
            <a:avLst/>
            <a:gdLst>
              <a:gd name="connsiteX0" fmla="*/ 0 w 2111887"/>
              <a:gd name="connsiteY0" fmla="*/ 247217 h 4543425"/>
              <a:gd name="connsiteX1" fmla="*/ 247217 w 2111887"/>
              <a:gd name="connsiteY1" fmla="*/ 0 h 4543425"/>
              <a:gd name="connsiteX2" fmla="*/ 1864670 w 2111887"/>
              <a:gd name="connsiteY2" fmla="*/ 0 h 4543425"/>
              <a:gd name="connsiteX3" fmla="*/ 2111887 w 2111887"/>
              <a:gd name="connsiteY3" fmla="*/ 247217 h 4543425"/>
              <a:gd name="connsiteX4" fmla="*/ 2111887 w 2111887"/>
              <a:gd name="connsiteY4" fmla="*/ 4296208 h 4543425"/>
              <a:gd name="connsiteX5" fmla="*/ 1864670 w 2111887"/>
              <a:gd name="connsiteY5" fmla="*/ 4543425 h 4543425"/>
              <a:gd name="connsiteX6" fmla="*/ 247217 w 2111887"/>
              <a:gd name="connsiteY6" fmla="*/ 4543425 h 4543425"/>
              <a:gd name="connsiteX7" fmla="*/ 0 w 2111887"/>
              <a:gd name="connsiteY7" fmla="*/ 4296208 h 4543425"/>
              <a:gd name="connsiteX8" fmla="*/ 0 w 2111887"/>
              <a:gd name="connsiteY8" fmla="*/ 247217 h 4543425"/>
              <a:gd name="connsiteX0-1" fmla="*/ 0 w 2111887"/>
              <a:gd name="connsiteY0-2" fmla="*/ 247221 h 4543429"/>
              <a:gd name="connsiteX1-3" fmla="*/ 247217 w 2111887"/>
              <a:gd name="connsiteY1-4" fmla="*/ 4 h 4543429"/>
              <a:gd name="connsiteX2-5" fmla="*/ 1103287 w 2111887"/>
              <a:gd name="connsiteY2-6" fmla="*/ 100016 h 4543429"/>
              <a:gd name="connsiteX3-7" fmla="*/ 1864670 w 2111887"/>
              <a:gd name="connsiteY3-8" fmla="*/ 4 h 4543429"/>
              <a:gd name="connsiteX4-9" fmla="*/ 2111887 w 2111887"/>
              <a:gd name="connsiteY4-10" fmla="*/ 247221 h 4543429"/>
              <a:gd name="connsiteX5-11" fmla="*/ 2111887 w 2111887"/>
              <a:gd name="connsiteY5-12" fmla="*/ 4296212 h 4543429"/>
              <a:gd name="connsiteX6-13" fmla="*/ 1864670 w 2111887"/>
              <a:gd name="connsiteY6-14" fmla="*/ 4543429 h 4543429"/>
              <a:gd name="connsiteX7-15" fmla="*/ 247217 w 2111887"/>
              <a:gd name="connsiteY7-16" fmla="*/ 4543429 h 4543429"/>
              <a:gd name="connsiteX8-17" fmla="*/ 0 w 2111887"/>
              <a:gd name="connsiteY8-18" fmla="*/ 4296212 h 4543429"/>
              <a:gd name="connsiteX9" fmla="*/ 0 w 2111887"/>
              <a:gd name="connsiteY9" fmla="*/ 247221 h 4543429"/>
              <a:gd name="connsiteX0-19" fmla="*/ 0 w 2111887"/>
              <a:gd name="connsiteY0-20" fmla="*/ 264906 h 4561114"/>
              <a:gd name="connsiteX1-21" fmla="*/ 247217 w 2111887"/>
              <a:gd name="connsiteY1-22" fmla="*/ 17689 h 4561114"/>
              <a:gd name="connsiteX2-23" fmla="*/ 665137 w 2111887"/>
              <a:gd name="connsiteY2-24" fmla="*/ 22451 h 4561114"/>
              <a:gd name="connsiteX3-25" fmla="*/ 1103287 w 2111887"/>
              <a:gd name="connsiteY3-26" fmla="*/ 117701 h 4561114"/>
              <a:gd name="connsiteX4-27" fmla="*/ 1864670 w 2111887"/>
              <a:gd name="connsiteY4-28" fmla="*/ 17689 h 4561114"/>
              <a:gd name="connsiteX5-29" fmla="*/ 2111887 w 2111887"/>
              <a:gd name="connsiteY5-30" fmla="*/ 264906 h 4561114"/>
              <a:gd name="connsiteX6-31" fmla="*/ 2111887 w 2111887"/>
              <a:gd name="connsiteY6-32" fmla="*/ 4313897 h 4561114"/>
              <a:gd name="connsiteX7-33" fmla="*/ 1864670 w 2111887"/>
              <a:gd name="connsiteY7-34" fmla="*/ 4561114 h 4561114"/>
              <a:gd name="connsiteX8-35" fmla="*/ 247217 w 2111887"/>
              <a:gd name="connsiteY8-36" fmla="*/ 4561114 h 4561114"/>
              <a:gd name="connsiteX9-37" fmla="*/ 0 w 2111887"/>
              <a:gd name="connsiteY9-38" fmla="*/ 4313897 h 4561114"/>
              <a:gd name="connsiteX10" fmla="*/ 0 w 2111887"/>
              <a:gd name="connsiteY10" fmla="*/ 264906 h 4561114"/>
              <a:gd name="connsiteX0-39" fmla="*/ 0 w 2111887"/>
              <a:gd name="connsiteY0-40" fmla="*/ 269676 h 4565884"/>
              <a:gd name="connsiteX1-41" fmla="*/ 247217 w 2111887"/>
              <a:gd name="connsiteY1-42" fmla="*/ 22459 h 4565884"/>
              <a:gd name="connsiteX2-43" fmla="*/ 612749 w 2111887"/>
              <a:gd name="connsiteY2-44" fmla="*/ 15315 h 4565884"/>
              <a:gd name="connsiteX3-45" fmla="*/ 1103287 w 2111887"/>
              <a:gd name="connsiteY3-46" fmla="*/ 122471 h 4565884"/>
              <a:gd name="connsiteX4-47" fmla="*/ 1864670 w 2111887"/>
              <a:gd name="connsiteY4-48" fmla="*/ 22459 h 4565884"/>
              <a:gd name="connsiteX5-49" fmla="*/ 2111887 w 2111887"/>
              <a:gd name="connsiteY5-50" fmla="*/ 269676 h 4565884"/>
              <a:gd name="connsiteX6-51" fmla="*/ 2111887 w 2111887"/>
              <a:gd name="connsiteY6-52" fmla="*/ 4318667 h 4565884"/>
              <a:gd name="connsiteX7-53" fmla="*/ 1864670 w 2111887"/>
              <a:gd name="connsiteY7-54" fmla="*/ 4565884 h 4565884"/>
              <a:gd name="connsiteX8-55" fmla="*/ 247217 w 2111887"/>
              <a:gd name="connsiteY8-56" fmla="*/ 4565884 h 4565884"/>
              <a:gd name="connsiteX9-57" fmla="*/ 0 w 2111887"/>
              <a:gd name="connsiteY9-58" fmla="*/ 4318667 h 4565884"/>
              <a:gd name="connsiteX10-59" fmla="*/ 0 w 2111887"/>
              <a:gd name="connsiteY10-60" fmla="*/ 269676 h 4565884"/>
              <a:gd name="connsiteX0-61" fmla="*/ 0 w 2111887"/>
              <a:gd name="connsiteY0-62" fmla="*/ 275247 h 4571455"/>
              <a:gd name="connsiteX1-63" fmla="*/ 247217 w 2111887"/>
              <a:gd name="connsiteY1-64" fmla="*/ 18505 h 4571455"/>
              <a:gd name="connsiteX2-65" fmla="*/ 612749 w 2111887"/>
              <a:gd name="connsiteY2-66" fmla="*/ 20886 h 4571455"/>
              <a:gd name="connsiteX3-67" fmla="*/ 1103287 w 2111887"/>
              <a:gd name="connsiteY3-68" fmla="*/ 128042 h 4571455"/>
              <a:gd name="connsiteX4-69" fmla="*/ 1864670 w 2111887"/>
              <a:gd name="connsiteY4-70" fmla="*/ 28030 h 4571455"/>
              <a:gd name="connsiteX5-71" fmla="*/ 2111887 w 2111887"/>
              <a:gd name="connsiteY5-72" fmla="*/ 275247 h 4571455"/>
              <a:gd name="connsiteX6-73" fmla="*/ 2111887 w 2111887"/>
              <a:gd name="connsiteY6-74" fmla="*/ 4324238 h 4571455"/>
              <a:gd name="connsiteX7-75" fmla="*/ 1864670 w 2111887"/>
              <a:gd name="connsiteY7-76" fmla="*/ 4571455 h 4571455"/>
              <a:gd name="connsiteX8-77" fmla="*/ 247217 w 2111887"/>
              <a:gd name="connsiteY8-78" fmla="*/ 4571455 h 4571455"/>
              <a:gd name="connsiteX9-79" fmla="*/ 0 w 2111887"/>
              <a:gd name="connsiteY9-80" fmla="*/ 4324238 h 4571455"/>
              <a:gd name="connsiteX10-81" fmla="*/ 0 w 2111887"/>
              <a:gd name="connsiteY10-82" fmla="*/ 275247 h 4571455"/>
              <a:gd name="connsiteX0-83" fmla="*/ 0 w 2111887"/>
              <a:gd name="connsiteY0-84" fmla="*/ 268247 h 4564455"/>
              <a:gd name="connsiteX1-85" fmla="*/ 247217 w 2111887"/>
              <a:gd name="connsiteY1-86" fmla="*/ 11505 h 4564455"/>
              <a:gd name="connsiteX2-87" fmla="*/ 612749 w 2111887"/>
              <a:gd name="connsiteY2-88" fmla="*/ 13886 h 4564455"/>
              <a:gd name="connsiteX3-89" fmla="*/ 1103287 w 2111887"/>
              <a:gd name="connsiteY3-90" fmla="*/ 121042 h 4564455"/>
              <a:gd name="connsiteX4-91" fmla="*/ 1864670 w 2111887"/>
              <a:gd name="connsiteY4-92" fmla="*/ 21030 h 4564455"/>
              <a:gd name="connsiteX5-93" fmla="*/ 2111887 w 2111887"/>
              <a:gd name="connsiteY5-94" fmla="*/ 268247 h 4564455"/>
              <a:gd name="connsiteX6-95" fmla="*/ 2111887 w 2111887"/>
              <a:gd name="connsiteY6-96" fmla="*/ 4317238 h 4564455"/>
              <a:gd name="connsiteX7-97" fmla="*/ 1864670 w 2111887"/>
              <a:gd name="connsiteY7-98" fmla="*/ 4564455 h 4564455"/>
              <a:gd name="connsiteX8-99" fmla="*/ 247217 w 2111887"/>
              <a:gd name="connsiteY8-100" fmla="*/ 4564455 h 4564455"/>
              <a:gd name="connsiteX9-101" fmla="*/ 0 w 2111887"/>
              <a:gd name="connsiteY9-102" fmla="*/ 4317238 h 4564455"/>
              <a:gd name="connsiteX10-103" fmla="*/ 0 w 2111887"/>
              <a:gd name="connsiteY10-104" fmla="*/ 268247 h 4564455"/>
              <a:gd name="connsiteX0-105" fmla="*/ 0 w 2111887"/>
              <a:gd name="connsiteY0-106" fmla="*/ 268247 h 4564455"/>
              <a:gd name="connsiteX1-107" fmla="*/ 247217 w 2111887"/>
              <a:gd name="connsiteY1-108" fmla="*/ 11505 h 4564455"/>
              <a:gd name="connsiteX2-109" fmla="*/ 612749 w 2111887"/>
              <a:gd name="connsiteY2-110" fmla="*/ 13886 h 4564455"/>
              <a:gd name="connsiteX3-111" fmla="*/ 784200 w 2111887"/>
              <a:gd name="connsiteY3-112" fmla="*/ 59130 h 4564455"/>
              <a:gd name="connsiteX4-113" fmla="*/ 1103287 w 2111887"/>
              <a:gd name="connsiteY4-114" fmla="*/ 121042 h 4564455"/>
              <a:gd name="connsiteX5-115" fmla="*/ 1864670 w 2111887"/>
              <a:gd name="connsiteY5-116" fmla="*/ 21030 h 4564455"/>
              <a:gd name="connsiteX6-117" fmla="*/ 2111887 w 2111887"/>
              <a:gd name="connsiteY6-118" fmla="*/ 268247 h 4564455"/>
              <a:gd name="connsiteX7-119" fmla="*/ 2111887 w 2111887"/>
              <a:gd name="connsiteY7-120" fmla="*/ 4317238 h 4564455"/>
              <a:gd name="connsiteX8-121" fmla="*/ 1864670 w 2111887"/>
              <a:gd name="connsiteY8-122" fmla="*/ 4564455 h 4564455"/>
              <a:gd name="connsiteX9-123" fmla="*/ 247217 w 2111887"/>
              <a:gd name="connsiteY9-124" fmla="*/ 4564455 h 4564455"/>
              <a:gd name="connsiteX10-125" fmla="*/ 0 w 2111887"/>
              <a:gd name="connsiteY10-126" fmla="*/ 4317238 h 4564455"/>
              <a:gd name="connsiteX11" fmla="*/ 0 w 2111887"/>
              <a:gd name="connsiteY11" fmla="*/ 268247 h 4564455"/>
              <a:gd name="connsiteX0-127" fmla="*/ 0 w 2111887"/>
              <a:gd name="connsiteY0-128" fmla="*/ 268247 h 4564455"/>
              <a:gd name="connsiteX1-129" fmla="*/ 247217 w 2111887"/>
              <a:gd name="connsiteY1-130" fmla="*/ 11505 h 4564455"/>
              <a:gd name="connsiteX2-131" fmla="*/ 612749 w 2111887"/>
              <a:gd name="connsiteY2-132" fmla="*/ 13886 h 4564455"/>
              <a:gd name="connsiteX3-133" fmla="*/ 691331 w 2111887"/>
              <a:gd name="connsiteY3-134" fmla="*/ 101992 h 4564455"/>
              <a:gd name="connsiteX4-135" fmla="*/ 1103287 w 2111887"/>
              <a:gd name="connsiteY4-136" fmla="*/ 121042 h 4564455"/>
              <a:gd name="connsiteX5-137" fmla="*/ 1864670 w 2111887"/>
              <a:gd name="connsiteY5-138" fmla="*/ 21030 h 4564455"/>
              <a:gd name="connsiteX6-139" fmla="*/ 2111887 w 2111887"/>
              <a:gd name="connsiteY6-140" fmla="*/ 268247 h 4564455"/>
              <a:gd name="connsiteX7-141" fmla="*/ 2111887 w 2111887"/>
              <a:gd name="connsiteY7-142" fmla="*/ 4317238 h 4564455"/>
              <a:gd name="connsiteX8-143" fmla="*/ 1864670 w 2111887"/>
              <a:gd name="connsiteY8-144" fmla="*/ 4564455 h 4564455"/>
              <a:gd name="connsiteX9-145" fmla="*/ 247217 w 2111887"/>
              <a:gd name="connsiteY9-146" fmla="*/ 4564455 h 4564455"/>
              <a:gd name="connsiteX10-147" fmla="*/ 0 w 2111887"/>
              <a:gd name="connsiteY10-148" fmla="*/ 4317238 h 4564455"/>
              <a:gd name="connsiteX11-149" fmla="*/ 0 w 2111887"/>
              <a:gd name="connsiteY11-150" fmla="*/ 268247 h 4564455"/>
              <a:gd name="connsiteX0-151" fmla="*/ 0 w 2111887"/>
              <a:gd name="connsiteY0-152" fmla="*/ 268247 h 4564455"/>
              <a:gd name="connsiteX1-153" fmla="*/ 247217 w 2111887"/>
              <a:gd name="connsiteY1-154" fmla="*/ 11505 h 4564455"/>
              <a:gd name="connsiteX2-155" fmla="*/ 612749 w 2111887"/>
              <a:gd name="connsiteY2-156" fmla="*/ 13886 h 4564455"/>
              <a:gd name="connsiteX3-157" fmla="*/ 691331 w 2111887"/>
              <a:gd name="connsiteY3-158" fmla="*/ 101992 h 4564455"/>
              <a:gd name="connsiteX4-159" fmla="*/ 1103287 w 2111887"/>
              <a:gd name="connsiteY4-160" fmla="*/ 121042 h 4564455"/>
              <a:gd name="connsiteX5-161" fmla="*/ 1453331 w 2111887"/>
              <a:gd name="connsiteY5-162" fmla="*/ 123424 h 4564455"/>
              <a:gd name="connsiteX6-163" fmla="*/ 1864670 w 2111887"/>
              <a:gd name="connsiteY6-164" fmla="*/ 21030 h 4564455"/>
              <a:gd name="connsiteX7-165" fmla="*/ 2111887 w 2111887"/>
              <a:gd name="connsiteY7-166" fmla="*/ 268247 h 4564455"/>
              <a:gd name="connsiteX8-167" fmla="*/ 2111887 w 2111887"/>
              <a:gd name="connsiteY8-168" fmla="*/ 4317238 h 4564455"/>
              <a:gd name="connsiteX9-169" fmla="*/ 1864670 w 2111887"/>
              <a:gd name="connsiteY9-170" fmla="*/ 4564455 h 4564455"/>
              <a:gd name="connsiteX10-171" fmla="*/ 247217 w 2111887"/>
              <a:gd name="connsiteY10-172" fmla="*/ 4564455 h 4564455"/>
              <a:gd name="connsiteX11-173" fmla="*/ 0 w 2111887"/>
              <a:gd name="connsiteY11-174" fmla="*/ 4317238 h 4564455"/>
              <a:gd name="connsiteX12" fmla="*/ 0 w 2111887"/>
              <a:gd name="connsiteY12" fmla="*/ 268247 h 4564455"/>
              <a:gd name="connsiteX0-175" fmla="*/ 0 w 2111887"/>
              <a:gd name="connsiteY0-176" fmla="*/ 268247 h 4564455"/>
              <a:gd name="connsiteX1-177" fmla="*/ 247217 w 2111887"/>
              <a:gd name="connsiteY1-178" fmla="*/ 11505 h 4564455"/>
              <a:gd name="connsiteX2-179" fmla="*/ 612749 w 2111887"/>
              <a:gd name="connsiteY2-180" fmla="*/ 13886 h 4564455"/>
              <a:gd name="connsiteX3-181" fmla="*/ 691331 w 2111887"/>
              <a:gd name="connsiteY3-182" fmla="*/ 101992 h 4564455"/>
              <a:gd name="connsiteX4-183" fmla="*/ 1103287 w 2111887"/>
              <a:gd name="connsiteY4-184" fmla="*/ 121042 h 4564455"/>
              <a:gd name="connsiteX5-185" fmla="*/ 1453331 w 2111887"/>
              <a:gd name="connsiteY5-186" fmla="*/ 123424 h 4564455"/>
              <a:gd name="connsiteX6-187" fmla="*/ 1600969 w 2111887"/>
              <a:gd name="connsiteY6-188" fmla="*/ 73418 h 4564455"/>
              <a:gd name="connsiteX7-189" fmla="*/ 1864670 w 2111887"/>
              <a:gd name="connsiteY7-190" fmla="*/ 21030 h 4564455"/>
              <a:gd name="connsiteX8-191" fmla="*/ 2111887 w 2111887"/>
              <a:gd name="connsiteY8-192" fmla="*/ 268247 h 4564455"/>
              <a:gd name="connsiteX9-193" fmla="*/ 2111887 w 2111887"/>
              <a:gd name="connsiteY9-194" fmla="*/ 4317238 h 4564455"/>
              <a:gd name="connsiteX10-195" fmla="*/ 1864670 w 2111887"/>
              <a:gd name="connsiteY10-196" fmla="*/ 4564455 h 4564455"/>
              <a:gd name="connsiteX11-197" fmla="*/ 247217 w 2111887"/>
              <a:gd name="connsiteY11-198" fmla="*/ 4564455 h 4564455"/>
              <a:gd name="connsiteX12-199" fmla="*/ 0 w 2111887"/>
              <a:gd name="connsiteY12-200" fmla="*/ 4317238 h 4564455"/>
              <a:gd name="connsiteX13" fmla="*/ 0 w 2111887"/>
              <a:gd name="connsiteY13" fmla="*/ 268247 h 4564455"/>
              <a:gd name="connsiteX0-201" fmla="*/ 0 w 2111887"/>
              <a:gd name="connsiteY0-202" fmla="*/ 271881 h 4568089"/>
              <a:gd name="connsiteX1-203" fmla="*/ 247217 w 2111887"/>
              <a:gd name="connsiteY1-204" fmla="*/ 15139 h 4568089"/>
              <a:gd name="connsiteX2-205" fmla="*/ 612749 w 2111887"/>
              <a:gd name="connsiteY2-206" fmla="*/ 17520 h 4568089"/>
              <a:gd name="connsiteX3-207" fmla="*/ 691331 w 2111887"/>
              <a:gd name="connsiteY3-208" fmla="*/ 105626 h 4568089"/>
              <a:gd name="connsiteX4-209" fmla="*/ 1103287 w 2111887"/>
              <a:gd name="connsiteY4-210" fmla="*/ 124676 h 4568089"/>
              <a:gd name="connsiteX5-211" fmla="*/ 1453331 w 2111887"/>
              <a:gd name="connsiteY5-212" fmla="*/ 127058 h 4568089"/>
              <a:gd name="connsiteX6-213" fmla="*/ 1520006 w 2111887"/>
              <a:gd name="connsiteY6-214" fmla="*/ 12758 h 4568089"/>
              <a:gd name="connsiteX7-215" fmla="*/ 1864670 w 2111887"/>
              <a:gd name="connsiteY7-216" fmla="*/ 24664 h 4568089"/>
              <a:gd name="connsiteX8-217" fmla="*/ 2111887 w 2111887"/>
              <a:gd name="connsiteY8-218" fmla="*/ 271881 h 4568089"/>
              <a:gd name="connsiteX9-219" fmla="*/ 2111887 w 2111887"/>
              <a:gd name="connsiteY9-220" fmla="*/ 4320872 h 4568089"/>
              <a:gd name="connsiteX10-221" fmla="*/ 1864670 w 2111887"/>
              <a:gd name="connsiteY10-222" fmla="*/ 4568089 h 4568089"/>
              <a:gd name="connsiteX11-223" fmla="*/ 247217 w 2111887"/>
              <a:gd name="connsiteY11-224" fmla="*/ 4568089 h 4568089"/>
              <a:gd name="connsiteX12-225" fmla="*/ 0 w 2111887"/>
              <a:gd name="connsiteY12-226" fmla="*/ 4320872 h 4568089"/>
              <a:gd name="connsiteX13-227" fmla="*/ 0 w 2111887"/>
              <a:gd name="connsiteY13-228" fmla="*/ 271881 h 4568089"/>
              <a:gd name="connsiteX0-229" fmla="*/ 0 w 2111887"/>
              <a:gd name="connsiteY0-230" fmla="*/ 272962 h 4569170"/>
              <a:gd name="connsiteX1-231" fmla="*/ 247217 w 2111887"/>
              <a:gd name="connsiteY1-232" fmla="*/ 16220 h 4569170"/>
              <a:gd name="connsiteX2-233" fmla="*/ 612749 w 2111887"/>
              <a:gd name="connsiteY2-234" fmla="*/ 18601 h 4569170"/>
              <a:gd name="connsiteX3-235" fmla="*/ 691331 w 2111887"/>
              <a:gd name="connsiteY3-236" fmla="*/ 106707 h 4569170"/>
              <a:gd name="connsiteX4-237" fmla="*/ 1103287 w 2111887"/>
              <a:gd name="connsiteY4-238" fmla="*/ 125757 h 4569170"/>
              <a:gd name="connsiteX5-239" fmla="*/ 1453331 w 2111887"/>
              <a:gd name="connsiteY5-240" fmla="*/ 128139 h 4569170"/>
              <a:gd name="connsiteX6-241" fmla="*/ 1520006 w 2111887"/>
              <a:gd name="connsiteY6-242" fmla="*/ 13839 h 4569170"/>
              <a:gd name="connsiteX7-243" fmla="*/ 1888482 w 2111887"/>
              <a:gd name="connsiteY7-244" fmla="*/ 23364 h 4569170"/>
              <a:gd name="connsiteX8-245" fmla="*/ 2111887 w 2111887"/>
              <a:gd name="connsiteY8-246" fmla="*/ 272962 h 4569170"/>
              <a:gd name="connsiteX9-247" fmla="*/ 2111887 w 2111887"/>
              <a:gd name="connsiteY9-248" fmla="*/ 4321953 h 4569170"/>
              <a:gd name="connsiteX10-249" fmla="*/ 1864670 w 2111887"/>
              <a:gd name="connsiteY10-250" fmla="*/ 4569170 h 4569170"/>
              <a:gd name="connsiteX11-251" fmla="*/ 247217 w 2111887"/>
              <a:gd name="connsiteY11-252" fmla="*/ 4569170 h 4569170"/>
              <a:gd name="connsiteX12-253" fmla="*/ 0 w 2111887"/>
              <a:gd name="connsiteY12-254" fmla="*/ 4321953 h 4569170"/>
              <a:gd name="connsiteX13-255" fmla="*/ 0 w 2111887"/>
              <a:gd name="connsiteY13-256" fmla="*/ 272962 h 4569170"/>
              <a:gd name="connsiteX0-257" fmla="*/ 0 w 2111887"/>
              <a:gd name="connsiteY0-258" fmla="*/ 272962 h 4569170"/>
              <a:gd name="connsiteX1-259" fmla="*/ 247217 w 2111887"/>
              <a:gd name="connsiteY1-260" fmla="*/ 16220 h 4569170"/>
              <a:gd name="connsiteX2-261" fmla="*/ 612749 w 2111887"/>
              <a:gd name="connsiteY2-262" fmla="*/ 18601 h 4569170"/>
              <a:gd name="connsiteX3-263" fmla="*/ 693712 w 2111887"/>
              <a:gd name="connsiteY3-264" fmla="*/ 118613 h 4569170"/>
              <a:gd name="connsiteX4-265" fmla="*/ 1103287 w 2111887"/>
              <a:gd name="connsiteY4-266" fmla="*/ 125757 h 4569170"/>
              <a:gd name="connsiteX5-267" fmla="*/ 1453331 w 2111887"/>
              <a:gd name="connsiteY5-268" fmla="*/ 128139 h 4569170"/>
              <a:gd name="connsiteX6-269" fmla="*/ 1520006 w 2111887"/>
              <a:gd name="connsiteY6-270" fmla="*/ 13839 h 4569170"/>
              <a:gd name="connsiteX7-271" fmla="*/ 1888482 w 2111887"/>
              <a:gd name="connsiteY7-272" fmla="*/ 23364 h 4569170"/>
              <a:gd name="connsiteX8-273" fmla="*/ 2111887 w 2111887"/>
              <a:gd name="connsiteY8-274" fmla="*/ 272962 h 4569170"/>
              <a:gd name="connsiteX9-275" fmla="*/ 2111887 w 2111887"/>
              <a:gd name="connsiteY9-276" fmla="*/ 4321953 h 4569170"/>
              <a:gd name="connsiteX10-277" fmla="*/ 1864670 w 2111887"/>
              <a:gd name="connsiteY10-278" fmla="*/ 4569170 h 4569170"/>
              <a:gd name="connsiteX11-279" fmla="*/ 247217 w 2111887"/>
              <a:gd name="connsiteY11-280" fmla="*/ 4569170 h 4569170"/>
              <a:gd name="connsiteX12-281" fmla="*/ 0 w 2111887"/>
              <a:gd name="connsiteY12-282" fmla="*/ 4321953 h 4569170"/>
              <a:gd name="connsiteX13-283" fmla="*/ 0 w 2111887"/>
              <a:gd name="connsiteY13-284" fmla="*/ 272962 h 4569170"/>
              <a:gd name="connsiteX0-285" fmla="*/ 0 w 2111887"/>
              <a:gd name="connsiteY0-286" fmla="*/ 272962 h 4569170"/>
              <a:gd name="connsiteX1-287" fmla="*/ 247217 w 2111887"/>
              <a:gd name="connsiteY1-288" fmla="*/ 16220 h 4569170"/>
              <a:gd name="connsiteX2-289" fmla="*/ 598462 w 2111887"/>
              <a:gd name="connsiteY2-290" fmla="*/ 16220 h 4569170"/>
              <a:gd name="connsiteX3-291" fmla="*/ 693712 w 2111887"/>
              <a:gd name="connsiteY3-292" fmla="*/ 118613 h 4569170"/>
              <a:gd name="connsiteX4-293" fmla="*/ 1103287 w 2111887"/>
              <a:gd name="connsiteY4-294" fmla="*/ 125757 h 4569170"/>
              <a:gd name="connsiteX5-295" fmla="*/ 1453331 w 2111887"/>
              <a:gd name="connsiteY5-296" fmla="*/ 128139 h 4569170"/>
              <a:gd name="connsiteX6-297" fmla="*/ 1520006 w 2111887"/>
              <a:gd name="connsiteY6-298" fmla="*/ 13839 h 4569170"/>
              <a:gd name="connsiteX7-299" fmla="*/ 1888482 w 2111887"/>
              <a:gd name="connsiteY7-300" fmla="*/ 23364 h 4569170"/>
              <a:gd name="connsiteX8-301" fmla="*/ 2111887 w 2111887"/>
              <a:gd name="connsiteY8-302" fmla="*/ 272962 h 4569170"/>
              <a:gd name="connsiteX9-303" fmla="*/ 2111887 w 2111887"/>
              <a:gd name="connsiteY9-304" fmla="*/ 4321953 h 4569170"/>
              <a:gd name="connsiteX10-305" fmla="*/ 1864670 w 2111887"/>
              <a:gd name="connsiteY10-306" fmla="*/ 4569170 h 4569170"/>
              <a:gd name="connsiteX11-307" fmla="*/ 247217 w 2111887"/>
              <a:gd name="connsiteY11-308" fmla="*/ 4569170 h 4569170"/>
              <a:gd name="connsiteX12-309" fmla="*/ 0 w 2111887"/>
              <a:gd name="connsiteY12-310" fmla="*/ 4321953 h 4569170"/>
              <a:gd name="connsiteX13-311" fmla="*/ 0 w 2111887"/>
              <a:gd name="connsiteY13-312" fmla="*/ 272962 h 4569170"/>
              <a:gd name="connsiteX0-313" fmla="*/ 0 w 2111887"/>
              <a:gd name="connsiteY0-314" fmla="*/ 272962 h 4569170"/>
              <a:gd name="connsiteX1-315" fmla="*/ 247217 w 2111887"/>
              <a:gd name="connsiteY1-316" fmla="*/ 16220 h 4569170"/>
              <a:gd name="connsiteX2-317" fmla="*/ 598462 w 2111887"/>
              <a:gd name="connsiteY2-318" fmla="*/ 16220 h 4569170"/>
              <a:gd name="connsiteX3-319" fmla="*/ 693712 w 2111887"/>
              <a:gd name="connsiteY3-320" fmla="*/ 118613 h 4569170"/>
              <a:gd name="connsiteX4-321" fmla="*/ 1103287 w 2111887"/>
              <a:gd name="connsiteY4-322" fmla="*/ 125757 h 4569170"/>
              <a:gd name="connsiteX5-323" fmla="*/ 1453331 w 2111887"/>
              <a:gd name="connsiteY5-324" fmla="*/ 120995 h 4569170"/>
              <a:gd name="connsiteX6-325" fmla="*/ 1520006 w 2111887"/>
              <a:gd name="connsiteY6-326" fmla="*/ 13839 h 4569170"/>
              <a:gd name="connsiteX7-327" fmla="*/ 1888482 w 2111887"/>
              <a:gd name="connsiteY7-328" fmla="*/ 23364 h 4569170"/>
              <a:gd name="connsiteX8-329" fmla="*/ 2111887 w 2111887"/>
              <a:gd name="connsiteY8-330" fmla="*/ 272962 h 4569170"/>
              <a:gd name="connsiteX9-331" fmla="*/ 2111887 w 2111887"/>
              <a:gd name="connsiteY9-332" fmla="*/ 4321953 h 4569170"/>
              <a:gd name="connsiteX10-333" fmla="*/ 1864670 w 2111887"/>
              <a:gd name="connsiteY10-334" fmla="*/ 4569170 h 4569170"/>
              <a:gd name="connsiteX11-335" fmla="*/ 247217 w 2111887"/>
              <a:gd name="connsiteY11-336" fmla="*/ 4569170 h 4569170"/>
              <a:gd name="connsiteX12-337" fmla="*/ 0 w 2111887"/>
              <a:gd name="connsiteY12-338" fmla="*/ 4321953 h 4569170"/>
              <a:gd name="connsiteX13-339" fmla="*/ 0 w 2111887"/>
              <a:gd name="connsiteY13-340" fmla="*/ 272962 h 4569170"/>
              <a:gd name="connsiteX0-341" fmla="*/ 0 w 2111887"/>
              <a:gd name="connsiteY0-342" fmla="*/ 272962 h 4569170"/>
              <a:gd name="connsiteX1-343" fmla="*/ 247217 w 2111887"/>
              <a:gd name="connsiteY1-344" fmla="*/ 16220 h 4569170"/>
              <a:gd name="connsiteX2-345" fmla="*/ 598462 w 2111887"/>
              <a:gd name="connsiteY2-346" fmla="*/ 16220 h 4569170"/>
              <a:gd name="connsiteX3-347" fmla="*/ 693712 w 2111887"/>
              <a:gd name="connsiteY3-348" fmla="*/ 118613 h 4569170"/>
              <a:gd name="connsiteX4-349" fmla="*/ 1055662 w 2111887"/>
              <a:gd name="connsiteY4-350" fmla="*/ 125757 h 4569170"/>
              <a:gd name="connsiteX5-351" fmla="*/ 1453331 w 2111887"/>
              <a:gd name="connsiteY5-352" fmla="*/ 120995 h 4569170"/>
              <a:gd name="connsiteX6-353" fmla="*/ 1520006 w 2111887"/>
              <a:gd name="connsiteY6-354" fmla="*/ 13839 h 4569170"/>
              <a:gd name="connsiteX7-355" fmla="*/ 1888482 w 2111887"/>
              <a:gd name="connsiteY7-356" fmla="*/ 23364 h 4569170"/>
              <a:gd name="connsiteX8-357" fmla="*/ 2111887 w 2111887"/>
              <a:gd name="connsiteY8-358" fmla="*/ 272962 h 4569170"/>
              <a:gd name="connsiteX9-359" fmla="*/ 2111887 w 2111887"/>
              <a:gd name="connsiteY9-360" fmla="*/ 4321953 h 4569170"/>
              <a:gd name="connsiteX10-361" fmla="*/ 1864670 w 2111887"/>
              <a:gd name="connsiteY10-362" fmla="*/ 4569170 h 4569170"/>
              <a:gd name="connsiteX11-363" fmla="*/ 247217 w 2111887"/>
              <a:gd name="connsiteY11-364" fmla="*/ 4569170 h 4569170"/>
              <a:gd name="connsiteX12-365" fmla="*/ 0 w 2111887"/>
              <a:gd name="connsiteY12-366" fmla="*/ 4321953 h 4569170"/>
              <a:gd name="connsiteX13-367" fmla="*/ 0 w 2111887"/>
              <a:gd name="connsiteY13-368" fmla="*/ 272962 h 4569170"/>
              <a:gd name="connsiteX0-369" fmla="*/ 0 w 2111887"/>
              <a:gd name="connsiteY0-370" fmla="*/ 272962 h 4569170"/>
              <a:gd name="connsiteX1-371" fmla="*/ 247217 w 2111887"/>
              <a:gd name="connsiteY1-372" fmla="*/ 16220 h 4569170"/>
              <a:gd name="connsiteX2-373" fmla="*/ 598462 w 2111887"/>
              <a:gd name="connsiteY2-374" fmla="*/ 16220 h 4569170"/>
              <a:gd name="connsiteX3-375" fmla="*/ 693712 w 2111887"/>
              <a:gd name="connsiteY3-376" fmla="*/ 118613 h 4569170"/>
              <a:gd name="connsiteX4-377" fmla="*/ 1055662 w 2111887"/>
              <a:gd name="connsiteY4-378" fmla="*/ 125757 h 4569170"/>
              <a:gd name="connsiteX5-379" fmla="*/ 1453331 w 2111887"/>
              <a:gd name="connsiteY5-380" fmla="*/ 120995 h 4569170"/>
              <a:gd name="connsiteX6-381" fmla="*/ 1520006 w 2111887"/>
              <a:gd name="connsiteY6-382" fmla="*/ 13839 h 4569170"/>
              <a:gd name="connsiteX7-383" fmla="*/ 1888482 w 2111887"/>
              <a:gd name="connsiteY7-384" fmla="*/ 23364 h 4569170"/>
              <a:gd name="connsiteX8-385" fmla="*/ 2111887 w 2111887"/>
              <a:gd name="connsiteY8-386" fmla="*/ 272962 h 4569170"/>
              <a:gd name="connsiteX9-387" fmla="*/ 2111887 w 2111887"/>
              <a:gd name="connsiteY9-388" fmla="*/ 4321953 h 4569170"/>
              <a:gd name="connsiteX10-389" fmla="*/ 1864670 w 2111887"/>
              <a:gd name="connsiteY10-390" fmla="*/ 4569170 h 4569170"/>
              <a:gd name="connsiteX11-391" fmla="*/ 247217 w 2111887"/>
              <a:gd name="connsiteY11-392" fmla="*/ 4569170 h 4569170"/>
              <a:gd name="connsiteX12-393" fmla="*/ 0 w 2111887"/>
              <a:gd name="connsiteY12-394" fmla="*/ 4321953 h 4569170"/>
              <a:gd name="connsiteX13-395" fmla="*/ 0 w 2111887"/>
              <a:gd name="connsiteY13-396" fmla="*/ 272962 h 4569170"/>
              <a:gd name="connsiteX0-397" fmla="*/ 0 w 2111887"/>
              <a:gd name="connsiteY0-398" fmla="*/ 273465 h 4569673"/>
              <a:gd name="connsiteX1-399" fmla="*/ 247217 w 2111887"/>
              <a:gd name="connsiteY1-400" fmla="*/ 16723 h 4569673"/>
              <a:gd name="connsiteX2-401" fmla="*/ 579412 w 2111887"/>
              <a:gd name="connsiteY2-402" fmla="*/ 9580 h 4569673"/>
              <a:gd name="connsiteX3-403" fmla="*/ 693712 w 2111887"/>
              <a:gd name="connsiteY3-404" fmla="*/ 119116 h 4569673"/>
              <a:gd name="connsiteX4-405" fmla="*/ 1055662 w 2111887"/>
              <a:gd name="connsiteY4-406" fmla="*/ 126260 h 4569673"/>
              <a:gd name="connsiteX5-407" fmla="*/ 1453331 w 2111887"/>
              <a:gd name="connsiteY5-408" fmla="*/ 121498 h 4569673"/>
              <a:gd name="connsiteX6-409" fmla="*/ 1520006 w 2111887"/>
              <a:gd name="connsiteY6-410" fmla="*/ 14342 h 4569673"/>
              <a:gd name="connsiteX7-411" fmla="*/ 1888482 w 2111887"/>
              <a:gd name="connsiteY7-412" fmla="*/ 23867 h 4569673"/>
              <a:gd name="connsiteX8-413" fmla="*/ 2111887 w 2111887"/>
              <a:gd name="connsiteY8-414" fmla="*/ 273465 h 4569673"/>
              <a:gd name="connsiteX9-415" fmla="*/ 2111887 w 2111887"/>
              <a:gd name="connsiteY9-416" fmla="*/ 4322456 h 4569673"/>
              <a:gd name="connsiteX10-417" fmla="*/ 1864670 w 2111887"/>
              <a:gd name="connsiteY10-418" fmla="*/ 4569673 h 4569673"/>
              <a:gd name="connsiteX11-419" fmla="*/ 247217 w 2111887"/>
              <a:gd name="connsiteY11-420" fmla="*/ 4569673 h 4569673"/>
              <a:gd name="connsiteX12-421" fmla="*/ 0 w 2111887"/>
              <a:gd name="connsiteY12-422" fmla="*/ 4322456 h 4569673"/>
              <a:gd name="connsiteX13-423" fmla="*/ 0 w 2111887"/>
              <a:gd name="connsiteY13-424" fmla="*/ 273465 h 4569673"/>
              <a:gd name="connsiteX0-425" fmla="*/ 0 w 2111887"/>
              <a:gd name="connsiteY0-426" fmla="*/ 274360 h 4570568"/>
              <a:gd name="connsiteX1-427" fmla="*/ 235311 w 2111887"/>
              <a:gd name="connsiteY1-428" fmla="*/ 15237 h 4570568"/>
              <a:gd name="connsiteX2-429" fmla="*/ 579412 w 2111887"/>
              <a:gd name="connsiteY2-430" fmla="*/ 10475 h 4570568"/>
              <a:gd name="connsiteX3-431" fmla="*/ 693712 w 2111887"/>
              <a:gd name="connsiteY3-432" fmla="*/ 120011 h 4570568"/>
              <a:gd name="connsiteX4-433" fmla="*/ 1055662 w 2111887"/>
              <a:gd name="connsiteY4-434" fmla="*/ 127155 h 4570568"/>
              <a:gd name="connsiteX5-435" fmla="*/ 1453331 w 2111887"/>
              <a:gd name="connsiteY5-436" fmla="*/ 122393 h 4570568"/>
              <a:gd name="connsiteX6-437" fmla="*/ 1520006 w 2111887"/>
              <a:gd name="connsiteY6-438" fmla="*/ 15237 h 4570568"/>
              <a:gd name="connsiteX7-439" fmla="*/ 1888482 w 2111887"/>
              <a:gd name="connsiteY7-440" fmla="*/ 24762 h 4570568"/>
              <a:gd name="connsiteX8-441" fmla="*/ 2111887 w 2111887"/>
              <a:gd name="connsiteY8-442" fmla="*/ 274360 h 4570568"/>
              <a:gd name="connsiteX9-443" fmla="*/ 2111887 w 2111887"/>
              <a:gd name="connsiteY9-444" fmla="*/ 4323351 h 4570568"/>
              <a:gd name="connsiteX10-445" fmla="*/ 1864670 w 2111887"/>
              <a:gd name="connsiteY10-446" fmla="*/ 4570568 h 4570568"/>
              <a:gd name="connsiteX11-447" fmla="*/ 247217 w 2111887"/>
              <a:gd name="connsiteY11-448" fmla="*/ 4570568 h 4570568"/>
              <a:gd name="connsiteX12-449" fmla="*/ 0 w 2111887"/>
              <a:gd name="connsiteY12-450" fmla="*/ 4323351 h 4570568"/>
              <a:gd name="connsiteX13-451" fmla="*/ 0 w 2111887"/>
              <a:gd name="connsiteY13-452" fmla="*/ 274360 h 4570568"/>
              <a:gd name="connsiteX0-453" fmla="*/ 0 w 2111887"/>
              <a:gd name="connsiteY0-454" fmla="*/ 274360 h 4570568"/>
              <a:gd name="connsiteX1-455" fmla="*/ 235311 w 2111887"/>
              <a:gd name="connsiteY1-456" fmla="*/ 15237 h 4570568"/>
              <a:gd name="connsiteX2-457" fmla="*/ 579412 w 2111887"/>
              <a:gd name="connsiteY2-458" fmla="*/ 10475 h 4570568"/>
              <a:gd name="connsiteX3-459" fmla="*/ 693712 w 2111887"/>
              <a:gd name="connsiteY3-460" fmla="*/ 120011 h 4570568"/>
              <a:gd name="connsiteX4-461" fmla="*/ 1055662 w 2111887"/>
              <a:gd name="connsiteY4-462" fmla="*/ 127155 h 4570568"/>
              <a:gd name="connsiteX5-463" fmla="*/ 1453331 w 2111887"/>
              <a:gd name="connsiteY5-464" fmla="*/ 122393 h 4570568"/>
              <a:gd name="connsiteX6-465" fmla="*/ 1520006 w 2111887"/>
              <a:gd name="connsiteY6-466" fmla="*/ 15237 h 4570568"/>
              <a:gd name="connsiteX7-467" fmla="*/ 1888482 w 2111887"/>
              <a:gd name="connsiteY7-468" fmla="*/ 24762 h 4570568"/>
              <a:gd name="connsiteX8-469" fmla="*/ 2111887 w 2111887"/>
              <a:gd name="connsiteY8-470" fmla="*/ 274360 h 4570568"/>
              <a:gd name="connsiteX9-471" fmla="*/ 2111887 w 2111887"/>
              <a:gd name="connsiteY9-472" fmla="*/ 4323351 h 4570568"/>
              <a:gd name="connsiteX10-473" fmla="*/ 1864670 w 2111887"/>
              <a:gd name="connsiteY10-474" fmla="*/ 4570568 h 4570568"/>
              <a:gd name="connsiteX11-475" fmla="*/ 247217 w 2111887"/>
              <a:gd name="connsiteY11-476" fmla="*/ 4570568 h 4570568"/>
              <a:gd name="connsiteX12-477" fmla="*/ 0 w 2111887"/>
              <a:gd name="connsiteY12-478" fmla="*/ 4323351 h 4570568"/>
              <a:gd name="connsiteX13-479" fmla="*/ 0 w 2111887"/>
              <a:gd name="connsiteY13-480" fmla="*/ 274360 h 4570568"/>
              <a:gd name="connsiteX0-481" fmla="*/ 0 w 2111887"/>
              <a:gd name="connsiteY0-482" fmla="*/ 274360 h 4570568"/>
              <a:gd name="connsiteX1-483" fmla="*/ 235311 w 2111887"/>
              <a:gd name="connsiteY1-484" fmla="*/ 15237 h 4570568"/>
              <a:gd name="connsiteX2-485" fmla="*/ 579412 w 2111887"/>
              <a:gd name="connsiteY2-486" fmla="*/ 10475 h 4570568"/>
              <a:gd name="connsiteX3-487" fmla="*/ 693712 w 2111887"/>
              <a:gd name="connsiteY3-488" fmla="*/ 120011 h 4570568"/>
              <a:gd name="connsiteX4-489" fmla="*/ 1055662 w 2111887"/>
              <a:gd name="connsiteY4-490" fmla="*/ 127155 h 4570568"/>
              <a:gd name="connsiteX5-491" fmla="*/ 1453331 w 2111887"/>
              <a:gd name="connsiteY5-492" fmla="*/ 122393 h 4570568"/>
              <a:gd name="connsiteX6-493" fmla="*/ 1520006 w 2111887"/>
              <a:gd name="connsiteY6-494" fmla="*/ 15237 h 4570568"/>
              <a:gd name="connsiteX7-495" fmla="*/ 1888482 w 2111887"/>
              <a:gd name="connsiteY7-496" fmla="*/ 24762 h 4570568"/>
              <a:gd name="connsiteX8-497" fmla="*/ 2111887 w 2111887"/>
              <a:gd name="connsiteY8-498" fmla="*/ 274360 h 4570568"/>
              <a:gd name="connsiteX9-499" fmla="*/ 2111887 w 2111887"/>
              <a:gd name="connsiteY9-500" fmla="*/ 4323351 h 4570568"/>
              <a:gd name="connsiteX10-501" fmla="*/ 1864670 w 2111887"/>
              <a:gd name="connsiteY10-502" fmla="*/ 4570568 h 4570568"/>
              <a:gd name="connsiteX11-503" fmla="*/ 247217 w 2111887"/>
              <a:gd name="connsiteY11-504" fmla="*/ 4570568 h 4570568"/>
              <a:gd name="connsiteX12-505" fmla="*/ 0 w 2111887"/>
              <a:gd name="connsiteY12-506" fmla="*/ 4323351 h 4570568"/>
              <a:gd name="connsiteX13-507" fmla="*/ 0 w 2111887"/>
              <a:gd name="connsiteY13-508" fmla="*/ 274360 h 4570568"/>
              <a:gd name="connsiteX0-509" fmla="*/ 0 w 2111887"/>
              <a:gd name="connsiteY0-510" fmla="*/ 274360 h 4570568"/>
              <a:gd name="connsiteX1-511" fmla="*/ 235311 w 2111887"/>
              <a:gd name="connsiteY1-512" fmla="*/ 15237 h 4570568"/>
              <a:gd name="connsiteX2-513" fmla="*/ 579412 w 2111887"/>
              <a:gd name="connsiteY2-514" fmla="*/ 10475 h 4570568"/>
              <a:gd name="connsiteX3-515" fmla="*/ 698474 w 2111887"/>
              <a:gd name="connsiteY3-516" fmla="*/ 122393 h 4570568"/>
              <a:gd name="connsiteX4-517" fmla="*/ 1055662 w 2111887"/>
              <a:gd name="connsiteY4-518" fmla="*/ 127155 h 4570568"/>
              <a:gd name="connsiteX5-519" fmla="*/ 1453331 w 2111887"/>
              <a:gd name="connsiteY5-520" fmla="*/ 122393 h 4570568"/>
              <a:gd name="connsiteX6-521" fmla="*/ 1520006 w 2111887"/>
              <a:gd name="connsiteY6-522" fmla="*/ 15237 h 4570568"/>
              <a:gd name="connsiteX7-523" fmla="*/ 1888482 w 2111887"/>
              <a:gd name="connsiteY7-524" fmla="*/ 24762 h 4570568"/>
              <a:gd name="connsiteX8-525" fmla="*/ 2111887 w 2111887"/>
              <a:gd name="connsiteY8-526" fmla="*/ 274360 h 4570568"/>
              <a:gd name="connsiteX9-527" fmla="*/ 2111887 w 2111887"/>
              <a:gd name="connsiteY9-528" fmla="*/ 4323351 h 4570568"/>
              <a:gd name="connsiteX10-529" fmla="*/ 1864670 w 2111887"/>
              <a:gd name="connsiteY10-530" fmla="*/ 4570568 h 4570568"/>
              <a:gd name="connsiteX11-531" fmla="*/ 247217 w 2111887"/>
              <a:gd name="connsiteY11-532" fmla="*/ 4570568 h 4570568"/>
              <a:gd name="connsiteX12-533" fmla="*/ 0 w 2111887"/>
              <a:gd name="connsiteY12-534" fmla="*/ 4323351 h 4570568"/>
              <a:gd name="connsiteX13-535" fmla="*/ 0 w 2111887"/>
              <a:gd name="connsiteY13-536" fmla="*/ 274360 h 4570568"/>
              <a:gd name="connsiteX0-537" fmla="*/ 0 w 2111887"/>
              <a:gd name="connsiteY0-538" fmla="*/ 274360 h 4570568"/>
              <a:gd name="connsiteX1-539" fmla="*/ 235311 w 2111887"/>
              <a:gd name="connsiteY1-540" fmla="*/ 15237 h 4570568"/>
              <a:gd name="connsiteX2-541" fmla="*/ 579412 w 2111887"/>
              <a:gd name="connsiteY2-542" fmla="*/ 10475 h 4570568"/>
              <a:gd name="connsiteX3-543" fmla="*/ 698474 w 2111887"/>
              <a:gd name="connsiteY3-544" fmla="*/ 122393 h 4570568"/>
              <a:gd name="connsiteX4-545" fmla="*/ 1055662 w 2111887"/>
              <a:gd name="connsiteY4-546" fmla="*/ 127155 h 4570568"/>
              <a:gd name="connsiteX5-547" fmla="*/ 1427138 w 2111887"/>
              <a:gd name="connsiteY5-548" fmla="*/ 124774 h 4570568"/>
              <a:gd name="connsiteX6-549" fmla="*/ 1520006 w 2111887"/>
              <a:gd name="connsiteY6-550" fmla="*/ 15237 h 4570568"/>
              <a:gd name="connsiteX7-551" fmla="*/ 1888482 w 2111887"/>
              <a:gd name="connsiteY7-552" fmla="*/ 24762 h 4570568"/>
              <a:gd name="connsiteX8-553" fmla="*/ 2111887 w 2111887"/>
              <a:gd name="connsiteY8-554" fmla="*/ 274360 h 4570568"/>
              <a:gd name="connsiteX9-555" fmla="*/ 2111887 w 2111887"/>
              <a:gd name="connsiteY9-556" fmla="*/ 4323351 h 4570568"/>
              <a:gd name="connsiteX10-557" fmla="*/ 1864670 w 2111887"/>
              <a:gd name="connsiteY10-558" fmla="*/ 4570568 h 4570568"/>
              <a:gd name="connsiteX11-559" fmla="*/ 247217 w 2111887"/>
              <a:gd name="connsiteY11-560" fmla="*/ 4570568 h 4570568"/>
              <a:gd name="connsiteX12-561" fmla="*/ 0 w 2111887"/>
              <a:gd name="connsiteY12-562" fmla="*/ 4323351 h 4570568"/>
              <a:gd name="connsiteX13-563" fmla="*/ 0 w 2111887"/>
              <a:gd name="connsiteY13-564" fmla="*/ 274360 h 4570568"/>
              <a:gd name="connsiteX0-565" fmla="*/ 0 w 2111887"/>
              <a:gd name="connsiteY0-566" fmla="*/ 275652 h 4571860"/>
              <a:gd name="connsiteX1-567" fmla="*/ 235311 w 2111887"/>
              <a:gd name="connsiteY1-568" fmla="*/ 16529 h 4571860"/>
              <a:gd name="connsiteX2-569" fmla="*/ 579412 w 2111887"/>
              <a:gd name="connsiteY2-570" fmla="*/ 11767 h 4571860"/>
              <a:gd name="connsiteX3-571" fmla="*/ 698474 w 2111887"/>
              <a:gd name="connsiteY3-572" fmla="*/ 123685 h 4571860"/>
              <a:gd name="connsiteX4-573" fmla="*/ 1055662 w 2111887"/>
              <a:gd name="connsiteY4-574" fmla="*/ 128447 h 4571860"/>
              <a:gd name="connsiteX5-575" fmla="*/ 1427138 w 2111887"/>
              <a:gd name="connsiteY5-576" fmla="*/ 126066 h 4571860"/>
              <a:gd name="connsiteX6-577" fmla="*/ 1520006 w 2111887"/>
              <a:gd name="connsiteY6-578" fmla="*/ 11766 h 4571860"/>
              <a:gd name="connsiteX7-579" fmla="*/ 1888482 w 2111887"/>
              <a:gd name="connsiteY7-580" fmla="*/ 26054 h 4571860"/>
              <a:gd name="connsiteX8-581" fmla="*/ 2111887 w 2111887"/>
              <a:gd name="connsiteY8-582" fmla="*/ 275652 h 4571860"/>
              <a:gd name="connsiteX9-583" fmla="*/ 2111887 w 2111887"/>
              <a:gd name="connsiteY9-584" fmla="*/ 4324643 h 4571860"/>
              <a:gd name="connsiteX10-585" fmla="*/ 1864670 w 2111887"/>
              <a:gd name="connsiteY10-586" fmla="*/ 4571860 h 4571860"/>
              <a:gd name="connsiteX11-587" fmla="*/ 247217 w 2111887"/>
              <a:gd name="connsiteY11-588" fmla="*/ 4571860 h 4571860"/>
              <a:gd name="connsiteX12-589" fmla="*/ 0 w 2111887"/>
              <a:gd name="connsiteY12-590" fmla="*/ 4324643 h 4571860"/>
              <a:gd name="connsiteX13-591" fmla="*/ 0 w 2111887"/>
              <a:gd name="connsiteY13-592" fmla="*/ 275652 h 4571860"/>
              <a:gd name="connsiteX0-593" fmla="*/ 0 w 2111887"/>
              <a:gd name="connsiteY0-594" fmla="*/ 277724 h 4573932"/>
              <a:gd name="connsiteX1-595" fmla="*/ 235311 w 2111887"/>
              <a:gd name="connsiteY1-596" fmla="*/ 18601 h 4573932"/>
              <a:gd name="connsiteX2-597" fmla="*/ 579412 w 2111887"/>
              <a:gd name="connsiteY2-598" fmla="*/ 13839 h 4573932"/>
              <a:gd name="connsiteX3-599" fmla="*/ 698474 w 2111887"/>
              <a:gd name="connsiteY3-600" fmla="*/ 125757 h 4573932"/>
              <a:gd name="connsiteX4-601" fmla="*/ 1055662 w 2111887"/>
              <a:gd name="connsiteY4-602" fmla="*/ 130519 h 4573932"/>
              <a:gd name="connsiteX5-603" fmla="*/ 1427138 w 2111887"/>
              <a:gd name="connsiteY5-604" fmla="*/ 128138 h 4573932"/>
              <a:gd name="connsiteX6-605" fmla="*/ 1520006 w 2111887"/>
              <a:gd name="connsiteY6-606" fmla="*/ 13838 h 4573932"/>
              <a:gd name="connsiteX7-607" fmla="*/ 1895626 w 2111887"/>
              <a:gd name="connsiteY7-608" fmla="*/ 23364 h 4573932"/>
              <a:gd name="connsiteX8-609" fmla="*/ 2111887 w 2111887"/>
              <a:gd name="connsiteY8-610" fmla="*/ 277724 h 4573932"/>
              <a:gd name="connsiteX9-611" fmla="*/ 2111887 w 2111887"/>
              <a:gd name="connsiteY9-612" fmla="*/ 4326715 h 4573932"/>
              <a:gd name="connsiteX10-613" fmla="*/ 1864670 w 2111887"/>
              <a:gd name="connsiteY10-614" fmla="*/ 4573932 h 4573932"/>
              <a:gd name="connsiteX11-615" fmla="*/ 247217 w 2111887"/>
              <a:gd name="connsiteY11-616" fmla="*/ 4573932 h 4573932"/>
              <a:gd name="connsiteX12-617" fmla="*/ 0 w 2111887"/>
              <a:gd name="connsiteY12-618" fmla="*/ 4326715 h 4573932"/>
              <a:gd name="connsiteX13-619" fmla="*/ 0 w 2111887"/>
              <a:gd name="connsiteY13-620" fmla="*/ 277724 h 4573932"/>
              <a:gd name="connsiteX0-621" fmla="*/ 0 w 2111887"/>
              <a:gd name="connsiteY0-622" fmla="*/ 277724 h 4573932"/>
              <a:gd name="connsiteX1-623" fmla="*/ 235311 w 2111887"/>
              <a:gd name="connsiteY1-624" fmla="*/ 18601 h 4573932"/>
              <a:gd name="connsiteX2-625" fmla="*/ 579412 w 2111887"/>
              <a:gd name="connsiteY2-626" fmla="*/ 13839 h 4573932"/>
              <a:gd name="connsiteX3-627" fmla="*/ 762768 w 2111887"/>
              <a:gd name="connsiteY3-628" fmla="*/ 28126 h 4573932"/>
              <a:gd name="connsiteX4-629" fmla="*/ 1055662 w 2111887"/>
              <a:gd name="connsiteY4-630" fmla="*/ 130519 h 4573932"/>
              <a:gd name="connsiteX5-631" fmla="*/ 1427138 w 2111887"/>
              <a:gd name="connsiteY5-632" fmla="*/ 128138 h 4573932"/>
              <a:gd name="connsiteX6-633" fmla="*/ 1520006 w 2111887"/>
              <a:gd name="connsiteY6-634" fmla="*/ 13838 h 4573932"/>
              <a:gd name="connsiteX7-635" fmla="*/ 1895626 w 2111887"/>
              <a:gd name="connsiteY7-636" fmla="*/ 23364 h 4573932"/>
              <a:gd name="connsiteX8-637" fmla="*/ 2111887 w 2111887"/>
              <a:gd name="connsiteY8-638" fmla="*/ 277724 h 4573932"/>
              <a:gd name="connsiteX9-639" fmla="*/ 2111887 w 2111887"/>
              <a:gd name="connsiteY9-640" fmla="*/ 4326715 h 4573932"/>
              <a:gd name="connsiteX10-641" fmla="*/ 1864670 w 2111887"/>
              <a:gd name="connsiteY10-642" fmla="*/ 4573932 h 4573932"/>
              <a:gd name="connsiteX11-643" fmla="*/ 247217 w 2111887"/>
              <a:gd name="connsiteY11-644" fmla="*/ 4573932 h 4573932"/>
              <a:gd name="connsiteX12-645" fmla="*/ 0 w 2111887"/>
              <a:gd name="connsiteY12-646" fmla="*/ 4326715 h 4573932"/>
              <a:gd name="connsiteX13-647" fmla="*/ 0 w 2111887"/>
              <a:gd name="connsiteY13-648" fmla="*/ 277724 h 4573932"/>
              <a:gd name="connsiteX0-649" fmla="*/ 0 w 2111887"/>
              <a:gd name="connsiteY0-650" fmla="*/ 271997 h 4568205"/>
              <a:gd name="connsiteX1-651" fmla="*/ 235311 w 2111887"/>
              <a:gd name="connsiteY1-652" fmla="*/ 12874 h 4568205"/>
              <a:gd name="connsiteX2-653" fmla="*/ 579412 w 2111887"/>
              <a:gd name="connsiteY2-654" fmla="*/ 8112 h 4568205"/>
              <a:gd name="connsiteX3-655" fmla="*/ 762768 w 2111887"/>
              <a:gd name="connsiteY3-656" fmla="*/ 22399 h 4568205"/>
              <a:gd name="connsiteX4-657" fmla="*/ 1055662 w 2111887"/>
              <a:gd name="connsiteY4-658" fmla="*/ 124792 h 4568205"/>
              <a:gd name="connsiteX5-659" fmla="*/ 1272357 w 2111887"/>
              <a:gd name="connsiteY5-660" fmla="*/ 22398 h 4568205"/>
              <a:gd name="connsiteX6-661" fmla="*/ 1520006 w 2111887"/>
              <a:gd name="connsiteY6-662" fmla="*/ 8111 h 4568205"/>
              <a:gd name="connsiteX7-663" fmla="*/ 1895626 w 2111887"/>
              <a:gd name="connsiteY7-664" fmla="*/ 17637 h 4568205"/>
              <a:gd name="connsiteX8-665" fmla="*/ 2111887 w 2111887"/>
              <a:gd name="connsiteY8-666" fmla="*/ 271997 h 4568205"/>
              <a:gd name="connsiteX9-667" fmla="*/ 2111887 w 2111887"/>
              <a:gd name="connsiteY9-668" fmla="*/ 4320988 h 4568205"/>
              <a:gd name="connsiteX10-669" fmla="*/ 1864670 w 2111887"/>
              <a:gd name="connsiteY10-670" fmla="*/ 4568205 h 4568205"/>
              <a:gd name="connsiteX11-671" fmla="*/ 247217 w 2111887"/>
              <a:gd name="connsiteY11-672" fmla="*/ 4568205 h 4568205"/>
              <a:gd name="connsiteX12-673" fmla="*/ 0 w 2111887"/>
              <a:gd name="connsiteY12-674" fmla="*/ 4320988 h 4568205"/>
              <a:gd name="connsiteX13-675" fmla="*/ 0 w 2111887"/>
              <a:gd name="connsiteY13-676" fmla="*/ 271997 h 4568205"/>
              <a:gd name="connsiteX0-677" fmla="*/ 0 w 2111887"/>
              <a:gd name="connsiteY0-678" fmla="*/ 271997 h 4568205"/>
              <a:gd name="connsiteX1-679" fmla="*/ 235311 w 2111887"/>
              <a:gd name="connsiteY1-680" fmla="*/ 12874 h 4568205"/>
              <a:gd name="connsiteX2-681" fmla="*/ 579412 w 2111887"/>
              <a:gd name="connsiteY2-682" fmla="*/ 8112 h 4568205"/>
              <a:gd name="connsiteX3-683" fmla="*/ 762768 w 2111887"/>
              <a:gd name="connsiteY3-684" fmla="*/ 22399 h 4568205"/>
              <a:gd name="connsiteX4-685" fmla="*/ 1046137 w 2111887"/>
              <a:gd name="connsiteY4-686" fmla="*/ 15255 h 4568205"/>
              <a:gd name="connsiteX5-687" fmla="*/ 1272357 w 2111887"/>
              <a:gd name="connsiteY5-688" fmla="*/ 22398 h 4568205"/>
              <a:gd name="connsiteX6-689" fmla="*/ 1520006 w 2111887"/>
              <a:gd name="connsiteY6-690" fmla="*/ 8111 h 4568205"/>
              <a:gd name="connsiteX7-691" fmla="*/ 1895626 w 2111887"/>
              <a:gd name="connsiteY7-692" fmla="*/ 17637 h 4568205"/>
              <a:gd name="connsiteX8-693" fmla="*/ 2111887 w 2111887"/>
              <a:gd name="connsiteY8-694" fmla="*/ 271997 h 4568205"/>
              <a:gd name="connsiteX9-695" fmla="*/ 2111887 w 2111887"/>
              <a:gd name="connsiteY9-696" fmla="*/ 4320988 h 4568205"/>
              <a:gd name="connsiteX10-697" fmla="*/ 1864670 w 2111887"/>
              <a:gd name="connsiteY10-698" fmla="*/ 4568205 h 4568205"/>
              <a:gd name="connsiteX11-699" fmla="*/ 247217 w 2111887"/>
              <a:gd name="connsiteY11-700" fmla="*/ 4568205 h 4568205"/>
              <a:gd name="connsiteX12-701" fmla="*/ 0 w 2111887"/>
              <a:gd name="connsiteY12-702" fmla="*/ 4320988 h 4568205"/>
              <a:gd name="connsiteX13-703" fmla="*/ 0 w 2111887"/>
              <a:gd name="connsiteY13-704" fmla="*/ 271997 h 4568205"/>
              <a:gd name="connsiteX0-705" fmla="*/ 0 w 2111887"/>
              <a:gd name="connsiteY0-706" fmla="*/ 271997 h 4568205"/>
              <a:gd name="connsiteX1-707" fmla="*/ 235311 w 2111887"/>
              <a:gd name="connsiteY1-708" fmla="*/ 12874 h 4568205"/>
              <a:gd name="connsiteX2-709" fmla="*/ 579412 w 2111887"/>
              <a:gd name="connsiteY2-710" fmla="*/ 8112 h 4568205"/>
              <a:gd name="connsiteX3-711" fmla="*/ 762768 w 2111887"/>
              <a:gd name="connsiteY3-712" fmla="*/ 22399 h 4568205"/>
              <a:gd name="connsiteX4-713" fmla="*/ 1272357 w 2111887"/>
              <a:gd name="connsiteY4-714" fmla="*/ 22398 h 4568205"/>
              <a:gd name="connsiteX5-715" fmla="*/ 1520006 w 2111887"/>
              <a:gd name="connsiteY5-716" fmla="*/ 8111 h 4568205"/>
              <a:gd name="connsiteX6-717" fmla="*/ 1895626 w 2111887"/>
              <a:gd name="connsiteY6-718" fmla="*/ 17637 h 4568205"/>
              <a:gd name="connsiteX7-719" fmla="*/ 2111887 w 2111887"/>
              <a:gd name="connsiteY7-720" fmla="*/ 271997 h 4568205"/>
              <a:gd name="connsiteX8-721" fmla="*/ 2111887 w 2111887"/>
              <a:gd name="connsiteY8-722" fmla="*/ 4320988 h 4568205"/>
              <a:gd name="connsiteX9-723" fmla="*/ 1864670 w 2111887"/>
              <a:gd name="connsiteY9-724" fmla="*/ 4568205 h 4568205"/>
              <a:gd name="connsiteX10-725" fmla="*/ 247217 w 2111887"/>
              <a:gd name="connsiteY10-726" fmla="*/ 4568205 h 4568205"/>
              <a:gd name="connsiteX11-727" fmla="*/ 0 w 2111887"/>
              <a:gd name="connsiteY11-728" fmla="*/ 4320988 h 4568205"/>
              <a:gd name="connsiteX12-729" fmla="*/ 0 w 2111887"/>
              <a:gd name="connsiteY12-730" fmla="*/ 271997 h 4568205"/>
              <a:gd name="connsiteX0-731" fmla="*/ 0 w 2111887"/>
              <a:gd name="connsiteY0-732" fmla="*/ 275715 h 4571923"/>
              <a:gd name="connsiteX1-733" fmla="*/ 235311 w 2111887"/>
              <a:gd name="connsiteY1-734" fmla="*/ 16592 h 4571923"/>
              <a:gd name="connsiteX2-735" fmla="*/ 762768 w 2111887"/>
              <a:gd name="connsiteY2-736" fmla="*/ 26117 h 4571923"/>
              <a:gd name="connsiteX3-737" fmla="*/ 1272357 w 2111887"/>
              <a:gd name="connsiteY3-738" fmla="*/ 26116 h 4571923"/>
              <a:gd name="connsiteX4-739" fmla="*/ 1520006 w 2111887"/>
              <a:gd name="connsiteY4-740" fmla="*/ 11829 h 4571923"/>
              <a:gd name="connsiteX5-741" fmla="*/ 1895626 w 2111887"/>
              <a:gd name="connsiteY5-742" fmla="*/ 21355 h 4571923"/>
              <a:gd name="connsiteX6-743" fmla="*/ 2111887 w 2111887"/>
              <a:gd name="connsiteY6-744" fmla="*/ 275715 h 4571923"/>
              <a:gd name="connsiteX7-745" fmla="*/ 2111887 w 2111887"/>
              <a:gd name="connsiteY7-746" fmla="*/ 4324706 h 4571923"/>
              <a:gd name="connsiteX8-747" fmla="*/ 1864670 w 2111887"/>
              <a:gd name="connsiteY8-748" fmla="*/ 4571923 h 4571923"/>
              <a:gd name="connsiteX9-749" fmla="*/ 247217 w 2111887"/>
              <a:gd name="connsiteY9-750" fmla="*/ 4571923 h 4571923"/>
              <a:gd name="connsiteX10-751" fmla="*/ 0 w 2111887"/>
              <a:gd name="connsiteY10-752" fmla="*/ 4324706 h 4571923"/>
              <a:gd name="connsiteX11-753" fmla="*/ 0 w 2111887"/>
              <a:gd name="connsiteY11-754" fmla="*/ 275715 h 4571923"/>
              <a:gd name="connsiteX0-755" fmla="*/ 0 w 2111887"/>
              <a:gd name="connsiteY0-756" fmla="*/ 275289 h 4571497"/>
              <a:gd name="connsiteX1-757" fmla="*/ 235311 w 2111887"/>
              <a:gd name="connsiteY1-758" fmla="*/ 16166 h 4571497"/>
              <a:gd name="connsiteX2-759" fmla="*/ 1272357 w 2111887"/>
              <a:gd name="connsiteY2-760" fmla="*/ 25690 h 4571497"/>
              <a:gd name="connsiteX3-761" fmla="*/ 1520006 w 2111887"/>
              <a:gd name="connsiteY3-762" fmla="*/ 11403 h 4571497"/>
              <a:gd name="connsiteX4-763" fmla="*/ 1895626 w 2111887"/>
              <a:gd name="connsiteY4-764" fmla="*/ 20929 h 4571497"/>
              <a:gd name="connsiteX5-765" fmla="*/ 2111887 w 2111887"/>
              <a:gd name="connsiteY5-766" fmla="*/ 275289 h 4571497"/>
              <a:gd name="connsiteX6-767" fmla="*/ 2111887 w 2111887"/>
              <a:gd name="connsiteY6-768" fmla="*/ 4324280 h 4571497"/>
              <a:gd name="connsiteX7-769" fmla="*/ 1864670 w 2111887"/>
              <a:gd name="connsiteY7-770" fmla="*/ 4571497 h 4571497"/>
              <a:gd name="connsiteX8-771" fmla="*/ 247217 w 2111887"/>
              <a:gd name="connsiteY8-772" fmla="*/ 4571497 h 4571497"/>
              <a:gd name="connsiteX9-773" fmla="*/ 0 w 2111887"/>
              <a:gd name="connsiteY9-774" fmla="*/ 4324280 h 4571497"/>
              <a:gd name="connsiteX10-775" fmla="*/ 0 w 2111887"/>
              <a:gd name="connsiteY10-776" fmla="*/ 275289 h 4571497"/>
              <a:gd name="connsiteX0-777" fmla="*/ 0 w 2111887"/>
              <a:gd name="connsiteY0-778" fmla="*/ 280184 h 4576392"/>
              <a:gd name="connsiteX1-779" fmla="*/ 235311 w 2111887"/>
              <a:gd name="connsiteY1-780" fmla="*/ 21061 h 4576392"/>
              <a:gd name="connsiteX2-781" fmla="*/ 1520006 w 2111887"/>
              <a:gd name="connsiteY2-782" fmla="*/ 16298 h 4576392"/>
              <a:gd name="connsiteX3-783" fmla="*/ 1895626 w 2111887"/>
              <a:gd name="connsiteY3-784" fmla="*/ 25824 h 4576392"/>
              <a:gd name="connsiteX4-785" fmla="*/ 2111887 w 2111887"/>
              <a:gd name="connsiteY4-786" fmla="*/ 280184 h 4576392"/>
              <a:gd name="connsiteX5-787" fmla="*/ 2111887 w 2111887"/>
              <a:gd name="connsiteY5-788" fmla="*/ 4329175 h 4576392"/>
              <a:gd name="connsiteX6-789" fmla="*/ 1864670 w 2111887"/>
              <a:gd name="connsiteY6-790" fmla="*/ 4576392 h 4576392"/>
              <a:gd name="connsiteX7-791" fmla="*/ 247217 w 2111887"/>
              <a:gd name="connsiteY7-792" fmla="*/ 4576392 h 4576392"/>
              <a:gd name="connsiteX8-793" fmla="*/ 0 w 2111887"/>
              <a:gd name="connsiteY8-794" fmla="*/ 4329175 h 4576392"/>
              <a:gd name="connsiteX9-795" fmla="*/ 0 w 2111887"/>
              <a:gd name="connsiteY9-796" fmla="*/ 280184 h 4576392"/>
              <a:gd name="connsiteX0-797" fmla="*/ 0 w 2111887"/>
              <a:gd name="connsiteY0-798" fmla="*/ 288917 h 4585125"/>
              <a:gd name="connsiteX1-799" fmla="*/ 235311 w 2111887"/>
              <a:gd name="connsiteY1-800" fmla="*/ 29794 h 4585125"/>
              <a:gd name="connsiteX2-801" fmla="*/ 1895626 w 2111887"/>
              <a:gd name="connsiteY2-802" fmla="*/ 34557 h 4585125"/>
              <a:gd name="connsiteX3-803" fmla="*/ 2111887 w 2111887"/>
              <a:gd name="connsiteY3-804" fmla="*/ 288917 h 4585125"/>
              <a:gd name="connsiteX4-805" fmla="*/ 2111887 w 2111887"/>
              <a:gd name="connsiteY4-806" fmla="*/ 4337908 h 4585125"/>
              <a:gd name="connsiteX5-807" fmla="*/ 1864670 w 2111887"/>
              <a:gd name="connsiteY5-808" fmla="*/ 4585125 h 4585125"/>
              <a:gd name="connsiteX6-809" fmla="*/ 247217 w 2111887"/>
              <a:gd name="connsiteY6-810" fmla="*/ 4585125 h 4585125"/>
              <a:gd name="connsiteX7-811" fmla="*/ 0 w 2111887"/>
              <a:gd name="connsiteY7-812" fmla="*/ 4337908 h 4585125"/>
              <a:gd name="connsiteX8-813" fmla="*/ 0 w 2111887"/>
              <a:gd name="connsiteY8-814" fmla="*/ 288917 h 4585125"/>
              <a:gd name="connsiteX0-815" fmla="*/ 0 w 2111887"/>
              <a:gd name="connsiteY0-816" fmla="*/ 316063 h 4612271"/>
              <a:gd name="connsiteX1-817" fmla="*/ 235311 w 2111887"/>
              <a:gd name="connsiteY1-818" fmla="*/ 56940 h 4612271"/>
              <a:gd name="connsiteX2-819" fmla="*/ 1888483 w 2111887"/>
              <a:gd name="connsiteY2-820" fmla="*/ 18841 h 4612271"/>
              <a:gd name="connsiteX3-821" fmla="*/ 2111887 w 2111887"/>
              <a:gd name="connsiteY3-822" fmla="*/ 316063 h 4612271"/>
              <a:gd name="connsiteX4-823" fmla="*/ 2111887 w 2111887"/>
              <a:gd name="connsiteY4-824" fmla="*/ 4365054 h 4612271"/>
              <a:gd name="connsiteX5-825" fmla="*/ 1864670 w 2111887"/>
              <a:gd name="connsiteY5-826" fmla="*/ 4612271 h 4612271"/>
              <a:gd name="connsiteX6-827" fmla="*/ 247217 w 2111887"/>
              <a:gd name="connsiteY6-828" fmla="*/ 4612271 h 4612271"/>
              <a:gd name="connsiteX7-829" fmla="*/ 0 w 2111887"/>
              <a:gd name="connsiteY7-830" fmla="*/ 4365054 h 4612271"/>
              <a:gd name="connsiteX8-831" fmla="*/ 0 w 2111887"/>
              <a:gd name="connsiteY8-832" fmla="*/ 316063 h 4612271"/>
              <a:gd name="connsiteX0-833" fmla="*/ 0 w 2111887"/>
              <a:gd name="connsiteY0-834" fmla="*/ 327050 h 4623258"/>
              <a:gd name="connsiteX1-835" fmla="*/ 223404 w 2111887"/>
              <a:gd name="connsiteY1-836" fmla="*/ 34589 h 4623258"/>
              <a:gd name="connsiteX2-837" fmla="*/ 1888483 w 2111887"/>
              <a:gd name="connsiteY2-838" fmla="*/ 29828 h 4623258"/>
              <a:gd name="connsiteX3-839" fmla="*/ 2111887 w 2111887"/>
              <a:gd name="connsiteY3-840" fmla="*/ 327050 h 4623258"/>
              <a:gd name="connsiteX4-841" fmla="*/ 2111887 w 2111887"/>
              <a:gd name="connsiteY4-842" fmla="*/ 4376041 h 4623258"/>
              <a:gd name="connsiteX5-843" fmla="*/ 1864670 w 2111887"/>
              <a:gd name="connsiteY5-844" fmla="*/ 4623258 h 4623258"/>
              <a:gd name="connsiteX6-845" fmla="*/ 247217 w 2111887"/>
              <a:gd name="connsiteY6-846" fmla="*/ 4623258 h 4623258"/>
              <a:gd name="connsiteX7-847" fmla="*/ 0 w 2111887"/>
              <a:gd name="connsiteY7-848" fmla="*/ 4376041 h 4623258"/>
              <a:gd name="connsiteX8-849" fmla="*/ 0 w 2111887"/>
              <a:gd name="connsiteY8-850" fmla="*/ 327050 h 4623258"/>
              <a:gd name="connsiteX0-851" fmla="*/ 0 w 2111887"/>
              <a:gd name="connsiteY0-852" fmla="*/ 318359 h 4614567"/>
              <a:gd name="connsiteX1-853" fmla="*/ 223404 w 2111887"/>
              <a:gd name="connsiteY1-854" fmla="*/ 25898 h 4614567"/>
              <a:gd name="connsiteX2-855" fmla="*/ 1888483 w 2111887"/>
              <a:gd name="connsiteY2-856" fmla="*/ 21137 h 4614567"/>
              <a:gd name="connsiteX3-857" fmla="*/ 2111887 w 2111887"/>
              <a:gd name="connsiteY3-858" fmla="*/ 318359 h 4614567"/>
              <a:gd name="connsiteX4-859" fmla="*/ 2111887 w 2111887"/>
              <a:gd name="connsiteY4-860" fmla="*/ 4367350 h 4614567"/>
              <a:gd name="connsiteX5-861" fmla="*/ 1864670 w 2111887"/>
              <a:gd name="connsiteY5-862" fmla="*/ 4614567 h 4614567"/>
              <a:gd name="connsiteX6-863" fmla="*/ 247217 w 2111887"/>
              <a:gd name="connsiteY6-864" fmla="*/ 4614567 h 4614567"/>
              <a:gd name="connsiteX7-865" fmla="*/ 0 w 2111887"/>
              <a:gd name="connsiteY7-866" fmla="*/ 4367350 h 4614567"/>
              <a:gd name="connsiteX8-867" fmla="*/ 0 w 2111887"/>
              <a:gd name="connsiteY8-868" fmla="*/ 318359 h 4614567"/>
              <a:gd name="connsiteX0-869" fmla="*/ 0 w 2111887"/>
              <a:gd name="connsiteY0-870" fmla="*/ 308933 h 4605141"/>
              <a:gd name="connsiteX1-871" fmla="*/ 223404 w 2111887"/>
              <a:gd name="connsiteY1-872" fmla="*/ 16472 h 4605141"/>
              <a:gd name="connsiteX2-873" fmla="*/ 1888483 w 2111887"/>
              <a:gd name="connsiteY2-874" fmla="*/ 11711 h 4605141"/>
              <a:gd name="connsiteX3-875" fmla="*/ 2111887 w 2111887"/>
              <a:gd name="connsiteY3-876" fmla="*/ 308933 h 4605141"/>
              <a:gd name="connsiteX4-877" fmla="*/ 2111887 w 2111887"/>
              <a:gd name="connsiteY4-878" fmla="*/ 4357924 h 4605141"/>
              <a:gd name="connsiteX5-879" fmla="*/ 1864670 w 2111887"/>
              <a:gd name="connsiteY5-880" fmla="*/ 4605141 h 4605141"/>
              <a:gd name="connsiteX6-881" fmla="*/ 247217 w 2111887"/>
              <a:gd name="connsiteY6-882" fmla="*/ 4605141 h 4605141"/>
              <a:gd name="connsiteX7-883" fmla="*/ 0 w 2111887"/>
              <a:gd name="connsiteY7-884" fmla="*/ 4357924 h 4605141"/>
              <a:gd name="connsiteX8-885" fmla="*/ 0 w 2111887"/>
              <a:gd name="connsiteY8-886" fmla="*/ 308933 h 4605141"/>
              <a:gd name="connsiteX0-887" fmla="*/ 0 w 2111887"/>
              <a:gd name="connsiteY0-888" fmla="*/ 308933 h 4605141"/>
              <a:gd name="connsiteX1-889" fmla="*/ 223404 w 2111887"/>
              <a:gd name="connsiteY1-890" fmla="*/ 16472 h 4605141"/>
              <a:gd name="connsiteX2-891" fmla="*/ 1888483 w 2111887"/>
              <a:gd name="connsiteY2-892" fmla="*/ 11711 h 4605141"/>
              <a:gd name="connsiteX3-893" fmla="*/ 2111887 w 2111887"/>
              <a:gd name="connsiteY3-894" fmla="*/ 308933 h 4605141"/>
              <a:gd name="connsiteX4-895" fmla="*/ 2111887 w 2111887"/>
              <a:gd name="connsiteY4-896" fmla="*/ 4357924 h 4605141"/>
              <a:gd name="connsiteX5-897" fmla="*/ 1864670 w 2111887"/>
              <a:gd name="connsiteY5-898" fmla="*/ 4605141 h 4605141"/>
              <a:gd name="connsiteX6-899" fmla="*/ 247217 w 2111887"/>
              <a:gd name="connsiteY6-900" fmla="*/ 4605141 h 4605141"/>
              <a:gd name="connsiteX7-901" fmla="*/ 0 w 2111887"/>
              <a:gd name="connsiteY7-902" fmla="*/ 4357924 h 4605141"/>
              <a:gd name="connsiteX8-903" fmla="*/ 0 w 2111887"/>
              <a:gd name="connsiteY8-904" fmla="*/ 308933 h 4605141"/>
              <a:gd name="connsiteX0-905" fmla="*/ 0 w 2119031"/>
              <a:gd name="connsiteY0-906" fmla="*/ 292265 h 4605141"/>
              <a:gd name="connsiteX1-907" fmla="*/ 230548 w 2119031"/>
              <a:gd name="connsiteY1-908" fmla="*/ 16472 h 4605141"/>
              <a:gd name="connsiteX2-909" fmla="*/ 1895627 w 2119031"/>
              <a:gd name="connsiteY2-910" fmla="*/ 11711 h 4605141"/>
              <a:gd name="connsiteX3-911" fmla="*/ 2119031 w 2119031"/>
              <a:gd name="connsiteY3-912" fmla="*/ 308933 h 4605141"/>
              <a:gd name="connsiteX4-913" fmla="*/ 2119031 w 2119031"/>
              <a:gd name="connsiteY4-914" fmla="*/ 4357924 h 4605141"/>
              <a:gd name="connsiteX5-915" fmla="*/ 1871814 w 2119031"/>
              <a:gd name="connsiteY5-916" fmla="*/ 4605141 h 4605141"/>
              <a:gd name="connsiteX6-917" fmla="*/ 254361 w 2119031"/>
              <a:gd name="connsiteY6-918" fmla="*/ 4605141 h 4605141"/>
              <a:gd name="connsiteX7-919" fmla="*/ 7144 w 2119031"/>
              <a:gd name="connsiteY7-920" fmla="*/ 4357924 h 4605141"/>
              <a:gd name="connsiteX8-921" fmla="*/ 0 w 2119031"/>
              <a:gd name="connsiteY8-922" fmla="*/ 292265 h 4605141"/>
              <a:gd name="connsiteX0-923" fmla="*/ 0 w 2128556"/>
              <a:gd name="connsiteY0-924" fmla="*/ 292265 h 4605141"/>
              <a:gd name="connsiteX1-925" fmla="*/ 230548 w 2128556"/>
              <a:gd name="connsiteY1-926" fmla="*/ 16472 h 4605141"/>
              <a:gd name="connsiteX2-927" fmla="*/ 1895627 w 2128556"/>
              <a:gd name="connsiteY2-928" fmla="*/ 11711 h 4605141"/>
              <a:gd name="connsiteX3-929" fmla="*/ 2128556 w 2128556"/>
              <a:gd name="connsiteY3-930" fmla="*/ 297027 h 4605141"/>
              <a:gd name="connsiteX4-931" fmla="*/ 2119031 w 2128556"/>
              <a:gd name="connsiteY4-932" fmla="*/ 4357924 h 4605141"/>
              <a:gd name="connsiteX5-933" fmla="*/ 1871814 w 2128556"/>
              <a:gd name="connsiteY5-934" fmla="*/ 4605141 h 4605141"/>
              <a:gd name="connsiteX6-935" fmla="*/ 254361 w 2128556"/>
              <a:gd name="connsiteY6-936" fmla="*/ 4605141 h 4605141"/>
              <a:gd name="connsiteX7-937" fmla="*/ 7144 w 2128556"/>
              <a:gd name="connsiteY7-938" fmla="*/ 4357924 h 4605141"/>
              <a:gd name="connsiteX8-939" fmla="*/ 0 w 2128556"/>
              <a:gd name="connsiteY8-940" fmla="*/ 292265 h 4605141"/>
              <a:gd name="connsiteX0-941" fmla="*/ 0 w 2128556"/>
              <a:gd name="connsiteY0-942" fmla="*/ 292265 h 4605141"/>
              <a:gd name="connsiteX1-943" fmla="*/ 230548 w 2128556"/>
              <a:gd name="connsiteY1-944" fmla="*/ 16472 h 4605141"/>
              <a:gd name="connsiteX2-945" fmla="*/ 1895627 w 2128556"/>
              <a:gd name="connsiteY2-946" fmla="*/ 11711 h 4605141"/>
              <a:gd name="connsiteX3-947" fmla="*/ 2128556 w 2128556"/>
              <a:gd name="connsiteY3-948" fmla="*/ 297027 h 4605141"/>
              <a:gd name="connsiteX4-949" fmla="*/ 2128556 w 2128556"/>
              <a:gd name="connsiteY4-950" fmla="*/ 4360305 h 4605141"/>
              <a:gd name="connsiteX5-951" fmla="*/ 1871814 w 2128556"/>
              <a:gd name="connsiteY5-952" fmla="*/ 4605141 h 4605141"/>
              <a:gd name="connsiteX6-953" fmla="*/ 254361 w 2128556"/>
              <a:gd name="connsiteY6-954" fmla="*/ 4605141 h 4605141"/>
              <a:gd name="connsiteX7-955" fmla="*/ 7144 w 2128556"/>
              <a:gd name="connsiteY7-956" fmla="*/ 4357924 h 4605141"/>
              <a:gd name="connsiteX8-957" fmla="*/ 0 w 2128556"/>
              <a:gd name="connsiteY8-958" fmla="*/ 292265 h 4605141"/>
              <a:gd name="connsiteX0-959" fmla="*/ 0 w 2128556"/>
              <a:gd name="connsiteY0-960" fmla="*/ 292265 h 4626572"/>
              <a:gd name="connsiteX1-961" fmla="*/ 230548 w 2128556"/>
              <a:gd name="connsiteY1-962" fmla="*/ 16472 h 4626572"/>
              <a:gd name="connsiteX2-963" fmla="*/ 1895627 w 2128556"/>
              <a:gd name="connsiteY2-964" fmla="*/ 11711 h 4626572"/>
              <a:gd name="connsiteX3-965" fmla="*/ 2128556 w 2128556"/>
              <a:gd name="connsiteY3-966" fmla="*/ 297027 h 4626572"/>
              <a:gd name="connsiteX4-967" fmla="*/ 2128556 w 2128556"/>
              <a:gd name="connsiteY4-968" fmla="*/ 4360305 h 4626572"/>
              <a:gd name="connsiteX5-969" fmla="*/ 1867051 w 2128556"/>
              <a:gd name="connsiteY5-970" fmla="*/ 4626572 h 4626572"/>
              <a:gd name="connsiteX6-971" fmla="*/ 254361 w 2128556"/>
              <a:gd name="connsiteY6-972" fmla="*/ 4605141 h 4626572"/>
              <a:gd name="connsiteX7-973" fmla="*/ 7144 w 2128556"/>
              <a:gd name="connsiteY7-974" fmla="*/ 4357924 h 4626572"/>
              <a:gd name="connsiteX8-975" fmla="*/ 0 w 2128556"/>
              <a:gd name="connsiteY8-976" fmla="*/ 292265 h 4626572"/>
              <a:gd name="connsiteX0-977" fmla="*/ 0 w 2128556"/>
              <a:gd name="connsiteY0-978" fmla="*/ 292265 h 4626572"/>
              <a:gd name="connsiteX1-979" fmla="*/ 230548 w 2128556"/>
              <a:gd name="connsiteY1-980" fmla="*/ 16472 h 4626572"/>
              <a:gd name="connsiteX2-981" fmla="*/ 1895627 w 2128556"/>
              <a:gd name="connsiteY2-982" fmla="*/ 11711 h 4626572"/>
              <a:gd name="connsiteX3-983" fmla="*/ 2128556 w 2128556"/>
              <a:gd name="connsiteY3-984" fmla="*/ 297027 h 4626572"/>
              <a:gd name="connsiteX4-985" fmla="*/ 2128556 w 2128556"/>
              <a:gd name="connsiteY4-986" fmla="*/ 4360305 h 4626572"/>
              <a:gd name="connsiteX5-987" fmla="*/ 1867051 w 2128556"/>
              <a:gd name="connsiteY5-988" fmla="*/ 4626572 h 4626572"/>
              <a:gd name="connsiteX6-989" fmla="*/ 254361 w 2128556"/>
              <a:gd name="connsiteY6-990" fmla="*/ 4624191 h 4626572"/>
              <a:gd name="connsiteX7-991" fmla="*/ 7144 w 2128556"/>
              <a:gd name="connsiteY7-992" fmla="*/ 4357924 h 4626572"/>
              <a:gd name="connsiteX8-993" fmla="*/ 0 w 2128556"/>
              <a:gd name="connsiteY8-994" fmla="*/ 292265 h 4626572"/>
              <a:gd name="connsiteX0-995" fmla="*/ 2874 w 2131430"/>
              <a:gd name="connsiteY0-996" fmla="*/ 292265 h 4626572"/>
              <a:gd name="connsiteX1-997" fmla="*/ 233422 w 2131430"/>
              <a:gd name="connsiteY1-998" fmla="*/ 16472 h 4626572"/>
              <a:gd name="connsiteX2-999" fmla="*/ 1898501 w 2131430"/>
              <a:gd name="connsiteY2-1000" fmla="*/ 11711 h 4626572"/>
              <a:gd name="connsiteX3-1001" fmla="*/ 2131430 w 2131430"/>
              <a:gd name="connsiteY3-1002" fmla="*/ 297027 h 4626572"/>
              <a:gd name="connsiteX4-1003" fmla="*/ 2131430 w 2131430"/>
              <a:gd name="connsiteY4-1004" fmla="*/ 4360305 h 4626572"/>
              <a:gd name="connsiteX5-1005" fmla="*/ 1869925 w 2131430"/>
              <a:gd name="connsiteY5-1006" fmla="*/ 4626572 h 4626572"/>
              <a:gd name="connsiteX6-1007" fmla="*/ 257235 w 2131430"/>
              <a:gd name="connsiteY6-1008" fmla="*/ 4624191 h 4626572"/>
              <a:gd name="connsiteX7-1009" fmla="*/ 493 w 2131430"/>
              <a:gd name="connsiteY7-1010" fmla="*/ 4357924 h 4626572"/>
              <a:gd name="connsiteX8-1011" fmla="*/ 2874 w 2131430"/>
              <a:gd name="connsiteY8-1012" fmla="*/ 292265 h 462657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2131430" h="4626572">
                <a:moveTo>
                  <a:pt x="2874" y="292265"/>
                </a:moveTo>
                <a:cubicBezTo>
                  <a:pt x="2874" y="155731"/>
                  <a:pt x="101650" y="18853"/>
                  <a:pt x="233422" y="16472"/>
                </a:cubicBezTo>
                <a:cubicBezTo>
                  <a:pt x="556504" y="2654"/>
                  <a:pt x="1580975" y="-10045"/>
                  <a:pt x="1898501" y="11711"/>
                </a:cubicBezTo>
                <a:cubicBezTo>
                  <a:pt x="2042179" y="21236"/>
                  <a:pt x="2131430" y="160493"/>
                  <a:pt x="2131430" y="297027"/>
                </a:cubicBezTo>
                <a:lnTo>
                  <a:pt x="2131430" y="4360305"/>
                </a:lnTo>
                <a:cubicBezTo>
                  <a:pt x="2131430" y="4496839"/>
                  <a:pt x="2006459" y="4626572"/>
                  <a:pt x="1869925" y="4626572"/>
                </a:cubicBezTo>
                <a:lnTo>
                  <a:pt x="257235" y="4624191"/>
                </a:lnTo>
                <a:cubicBezTo>
                  <a:pt x="120701" y="4624191"/>
                  <a:pt x="493" y="4494458"/>
                  <a:pt x="493" y="4357924"/>
                </a:cubicBezTo>
                <a:cubicBezTo>
                  <a:pt x="-1888" y="3002704"/>
                  <a:pt x="5255" y="1647485"/>
                  <a:pt x="2874" y="292265"/>
                </a:cubicBez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K2D" panose="00000500000000000000" pitchFamily="2" charset="-34"/>
              </a:defRPr>
            </a:lvl1pPr>
          </a:lstStyle>
          <a:p>
            <a:fld id="{00D1CE85-AA59-46D7-98F4-301D80B40614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K2D" panose="00000500000000000000" pitchFamily="2" charset="-34"/>
              </a:defRPr>
            </a:lvl1pPr>
          </a:lstStyle>
          <a:p>
            <a:fld id="{B9B05A01-6F48-4D1A-BEA9-613C8F70D2D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K2D" panose="00000500000000000000" pitchFamily="2" charset="-34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svg"/><Relationship Id="rId18" Type="http://schemas.openxmlformats.org/officeDocument/2006/relationships/image" Target="../media/image29.png"/><Relationship Id="rId26" Type="http://schemas.openxmlformats.org/officeDocument/2006/relationships/image" Target="../media/image37.png"/><Relationship Id="rId39" Type="http://schemas.openxmlformats.org/officeDocument/2006/relationships/image" Target="../media/image50.svg"/><Relationship Id="rId3" Type="http://schemas.openxmlformats.org/officeDocument/2006/relationships/image" Target="../media/image14.svg"/><Relationship Id="rId21" Type="http://schemas.openxmlformats.org/officeDocument/2006/relationships/image" Target="../media/image32.svg"/><Relationship Id="rId34" Type="http://schemas.openxmlformats.org/officeDocument/2006/relationships/image" Target="../media/image45.png"/><Relationship Id="rId7" Type="http://schemas.openxmlformats.org/officeDocument/2006/relationships/image" Target="../media/image18.svg"/><Relationship Id="rId12" Type="http://schemas.openxmlformats.org/officeDocument/2006/relationships/image" Target="../media/image23.png"/><Relationship Id="rId17" Type="http://schemas.openxmlformats.org/officeDocument/2006/relationships/image" Target="../media/image28.svg"/><Relationship Id="rId25" Type="http://schemas.openxmlformats.org/officeDocument/2006/relationships/image" Target="../media/image36.svg"/><Relationship Id="rId33" Type="http://schemas.openxmlformats.org/officeDocument/2006/relationships/image" Target="../media/image44.svg"/><Relationship Id="rId38" Type="http://schemas.openxmlformats.org/officeDocument/2006/relationships/image" Target="../media/image49.png"/><Relationship Id="rId2" Type="http://schemas.openxmlformats.org/officeDocument/2006/relationships/image" Target="../media/image13.png"/><Relationship Id="rId16" Type="http://schemas.openxmlformats.org/officeDocument/2006/relationships/image" Target="../media/image27.png"/><Relationship Id="rId20" Type="http://schemas.openxmlformats.org/officeDocument/2006/relationships/image" Target="../media/image31.png"/><Relationship Id="rId29" Type="http://schemas.openxmlformats.org/officeDocument/2006/relationships/image" Target="../media/image4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2.svg"/><Relationship Id="rId24" Type="http://schemas.openxmlformats.org/officeDocument/2006/relationships/image" Target="../media/image35.png"/><Relationship Id="rId32" Type="http://schemas.openxmlformats.org/officeDocument/2006/relationships/image" Target="../media/image43.png"/><Relationship Id="rId37" Type="http://schemas.openxmlformats.org/officeDocument/2006/relationships/image" Target="../media/image48.svg"/><Relationship Id="rId5" Type="http://schemas.openxmlformats.org/officeDocument/2006/relationships/image" Target="../media/image16.svg"/><Relationship Id="rId15" Type="http://schemas.openxmlformats.org/officeDocument/2006/relationships/image" Target="../media/image26.svg"/><Relationship Id="rId23" Type="http://schemas.openxmlformats.org/officeDocument/2006/relationships/image" Target="../media/image34.svg"/><Relationship Id="rId28" Type="http://schemas.openxmlformats.org/officeDocument/2006/relationships/image" Target="../media/image39.png"/><Relationship Id="rId36" Type="http://schemas.openxmlformats.org/officeDocument/2006/relationships/image" Target="../media/image47.png"/><Relationship Id="rId10" Type="http://schemas.openxmlformats.org/officeDocument/2006/relationships/image" Target="../media/image21.png"/><Relationship Id="rId19" Type="http://schemas.openxmlformats.org/officeDocument/2006/relationships/image" Target="../media/image30.svg"/><Relationship Id="rId31" Type="http://schemas.openxmlformats.org/officeDocument/2006/relationships/image" Target="../media/image42.svg"/><Relationship Id="rId4" Type="http://schemas.openxmlformats.org/officeDocument/2006/relationships/image" Target="../media/image15.png"/><Relationship Id="rId9" Type="http://schemas.openxmlformats.org/officeDocument/2006/relationships/image" Target="../media/image20.svg"/><Relationship Id="rId14" Type="http://schemas.openxmlformats.org/officeDocument/2006/relationships/image" Target="../media/image25.png"/><Relationship Id="rId22" Type="http://schemas.openxmlformats.org/officeDocument/2006/relationships/image" Target="../media/image33.png"/><Relationship Id="rId27" Type="http://schemas.openxmlformats.org/officeDocument/2006/relationships/image" Target="../media/image38.svg"/><Relationship Id="rId30" Type="http://schemas.openxmlformats.org/officeDocument/2006/relationships/image" Target="../media/image41.png"/><Relationship Id="rId35" Type="http://schemas.openxmlformats.org/officeDocument/2006/relationships/image" Target="../media/image4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1.png"/><Relationship Id="rId18" Type="http://schemas.openxmlformats.org/officeDocument/2006/relationships/image" Target="../media/image66.png"/><Relationship Id="rId26" Type="http://schemas.openxmlformats.org/officeDocument/2006/relationships/image" Target="../media/image74.png"/><Relationship Id="rId39" Type="http://schemas.openxmlformats.org/officeDocument/2006/relationships/image" Target="../media/image87.png"/><Relationship Id="rId21" Type="http://schemas.openxmlformats.org/officeDocument/2006/relationships/image" Target="../media/image69.png"/><Relationship Id="rId34" Type="http://schemas.openxmlformats.org/officeDocument/2006/relationships/image" Target="../media/image82.png"/><Relationship Id="rId42" Type="http://schemas.openxmlformats.org/officeDocument/2006/relationships/image" Target="../media/image90.png"/><Relationship Id="rId47" Type="http://schemas.openxmlformats.org/officeDocument/2006/relationships/image" Target="../media/image95.png"/><Relationship Id="rId50" Type="http://schemas.openxmlformats.org/officeDocument/2006/relationships/image" Target="../media/image98.png"/><Relationship Id="rId55" Type="http://schemas.openxmlformats.org/officeDocument/2006/relationships/image" Target="../media/image103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64.png"/><Relationship Id="rId20" Type="http://schemas.openxmlformats.org/officeDocument/2006/relationships/image" Target="../media/image68.png"/><Relationship Id="rId29" Type="http://schemas.openxmlformats.org/officeDocument/2006/relationships/image" Target="../media/image77.png"/><Relationship Id="rId41" Type="http://schemas.openxmlformats.org/officeDocument/2006/relationships/image" Target="../media/image89.png"/><Relationship Id="rId54" Type="http://schemas.openxmlformats.org/officeDocument/2006/relationships/image" Target="../media/image102.png"/><Relationship Id="rId62" Type="http://schemas.openxmlformats.org/officeDocument/2006/relationships/image" Target="../media/image1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11" Type="http://schemas.openxmlformats.org/officeDocument/2006/relationships/image" Target="../media/image59.png"/><Relationship Id="rId24" Type="http://schemas.openxmlformats.org/officeDocument/2006/relationships/image" Target="../media/image72.png"/><Relationship Id="rId32" Type="http://schemas.openxmlformats.org/officeDocument/2006/relationships/image" Target="../media/image80.png"/><Relationship Id="rId37" Type="http://schemas.openxmlformats.org/officeDocument/2006/relationships/image" Target="../media/image85.png"/><Relationship Id="rId40" Type="http://schemas.openxmlformats.org/officeDocument/2006/relationships/image" Target="../media/image88.png"/><Relationship Id="rId45" Type="http://schemas.openxmlformats.org/officeDocument/2006/relationships/image" Target="../media/image93.png"/><Relationship Id="rId53" Type="http://schemas.openxmlformats.org/officeDocument/2006/relationships/image" Target="../media/image101.png"/><Relationship Id="rId58" Type="http://schemas.openxmlformats.org/officeDocument/2006/relationships/image" Target="../media/image106.png"/><Relationship Id="rId5" Type="http://schemas.openxmlformats.org/officeDocument/2006/relationships/image" Target="../media/image53.png"/><Relationship Id="rId15" Type="http://schemas.openxmlformats.org/officeDocument/2006/relationships/image" Target="../media/image63.png"/><Relationship Id="rId23" Type="http://schemas.openxmlformats.org/officeDocument/2006/relationships/image" Target="../media/image71.png"/><Relationship Id="rId28" Type="http://schemas.openxmlformats.org/officeDocument/2006/relationships/image" Target="../media/image76.png"/><Relationship Id="rId36" Type="http://schemas.openxmlformats.org/officeDocument/2006/relationships/image" Target="../media/image84.png"/><Relationship Id="rId49" Type="http://schemas.openxmlformats.org/officeDocument/2006/relationships/image" Target="../media/image97.png"/><Relationship Id="rId57" Type="http://schemas.openxmlformats.org/officeDocument/2006/relationships/image" Target="../media/image105.png"/><Relationship Id="rId61" Type="http://schemas.openxmlformats.org/officeDocument/2006/relationships/image" Target="../media/image109.png"/><Relationship Id="rId10" Type="http://schemas.openxmlformats.org/officeDocument/2006/relationships/image" Target="../media/image58.png"/><Relationship Id="rId19" Type="http://schemas.openxmlformats.org/officeDocument/2006/relationships/image" Target="../media/image67.png"/><Relationship Id="rId31" Type="http://schemas.openxmlformats.org/officeDocument/2006/relationships/image" Target="../media/image79.png"/><Relationship Id="rId44" Type="http://schemas.openxmlformats.org/officeDocument/2006/relationships/image" Target="../media/image92.png"/><Relationship Id="rId52" Type="http://schemas.openxmlformats.org/officeDocument/2006/relationships/image" Target="../media/image100.png"/><Relationship Id="rId60" Type="http://schemas.openxmlformats.org/officeDocument/2006/relationships/image" Target="../media/image108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Relationship Id="rId14" Type="http://schemas.openxmlformats.org/officeDocument/2006/relationships/image" Target="../media/image62.png"/><Relationship Id="rId22" Type="http://schemas.openxmlformats.org/officeDocument/2006/relationships/image" Target="../media/image70.png"/><Relationship Id="rId27" Type="http://schemas.openxmlformats.org/officeDocument/2006/relationships/image" Target="../media/image75.png"/><Relationship Id="rId30" Type="http://schemas.openxmlformats.org/officeDocument/2006/relationships/image" Target="../media/image78.png"/><Relationship Id="rId35" Type="http://schemas.openxmlformats.org/officeDocument/2006/relationships/image" Target="../media/image83.png"/><Relationship Id="rId43" Type="http://schemas.openxmlformats.org/officeDocument/2006/relationships/image" Target="../media/image91.png"/><Relationship Id="rId48" Type="http://schemas.openxmlformats.org/officeDocument/2006/relationships/image" Target="../media/image96.png"/><Relationship Id="rId56" Type="http://schemas.openxmlformats.org/officeDocument/2006/relationships/image" Target="../media/image104.png"/><Relationship Id="rId8" Type="http://schemas.openxmlformats.org/officeDocument/2006/relationships/image" Target="../media/image56.png"/><Relationship Id="rId51" Type="http://schemas.openxmlformats.org/officeDocument/2006/relationships/image" Target="../media/image99.png"/><Relationship Id="rId3" Type="http://schemas.openxmlformats.org/officeDocument/2006/relationships/image" Target="../media/image51.png"/><Relationship Id="rId12" Type="http://schemas.openxmlformats.org/officeDocument/2006/relationships/image" Target="../media/image60.png"/><Relationship Id="rId17" Type="http://schemas.openxmlformats.org/officeDocument/2006/relationships/image" Target="../media/image65.png"/><Relationship Id="rId25" Type="http://schemas.openxmlformats.org/officeDocument/2006/relationships/image" Target="../media/image73.png"/><Relationship Id="rId33" Type="http://schemas.openxmlformats.org/officeDocument/2006/relationships/image" Target="../media/image81.png"/><Relationship Id="rId38" Type="http://schemas.openxmlformats.org/officeDocument/2006/relationships/image" Target="../media/image86.png"/><Relationship Id="rId46" Type="http://schemas.openxmlformats.org/officeDocument/2006/relationships/image" Target="../media/image94.png"/><Relationship Id="rId59" Type="http://schemas.openxmlformats.org/officeDocument/2006/relationships/image" Target="../media/image10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3143" y="3006090"/>
            <a:ext cx="11205713" cy="1729699"/>
          </a:xfrm>
        </p:spPr>
        <p:txBody>
          <a:bodyPr>
            <a:noAutofit/>
          </a:bodyPr>
          <a:lstStyle/>
          <a:p>
            <a:r>
              <a:rPr lang="en-US" sz="3200"/>
              <a:t>DEVELOPING A WEB APPLICATION FOR MUSIC GENERATION FROM VIDEO USING NATURAL LANGUAGE AS INTERMEDIARY USING OPEN SOURCE AI MODELS</a:t>
            </a:r>
            <a:endParaRPr lang="vi-VN" sz="320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4244555" y="4917898"/>
            <a:ext cx="4513683" cy="1597200"/>
          </a:xfrm>
        </p:spPr>
        <p:txBody>
          <a:bodyPr/>
          <a:lstStyle/>
          <a:p>
            <a:pPr algn="l"/>
            <a:r>
              <a:rPr lang="en-US" dirty="0"/>
              <a:t>Name</a:t>
            </a:r>
            <a:r>
              <a:rPr lang="en-US"/>
              <a:t>: Phan Trung Thuan</a:t>
            </a:r>
            <a:endParaRPr lang="en-US" dirty="0"/>
          </a:p>
          <a:p>
            <a:pPr algn="l"/>
            <a:r>
              <a:rPr lang="en-US" dirty="0"/>
              <a:t>Student code</a:t>
            </a:r>
            <a:r>
              <a:rPr lang="en-US"/>
              <a:t>: B2111957</a:t>
            </a:r>
            <a:endParaRPr lang="en-US" dirty="0"/>
          </a:p>
          <a:p>
            <a:pPr algn="l"/>
            <a:r>
              <a:rPr lang="en-US" dirty="0"/>
              <a:t>Instructor: Dr. Lam Nhut Khang</a:t>
            </a:r>
          </a:p>
          <a:p>
            <a:pPr algn="l"/>
            <a:r>
              <a:rPr lang="en-US" dirty="0"/>
              <a:t>Major: Information and technology</a:t>
            </a:r>
          </a:p>
          <a:p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630146" y="1654073"/>
            <a:ext cx="69317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CCFFFF"/>
                </a:solidFill>
                <a:latin typeface="K2D" panose="00000500000000000000" pitchFamily="2" charset="-34"/>
                <a:cs typeface="K2D" panose="00000500000000000000" pitchFamily="2" charset="-34"/>
              </a:rPr>
              <a:t>UNIVERSITY THESIS DEFENSE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78986" y="2360859"/>
            <a:ext cx="26773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CCFFFF"/>
                </a:solidFill>
                <a:latin typeface="K2D" panose="00000500000000000000" pitchFamily="2" charset="-34"/>
                <a:cs typeface="K2D" panose="00000500000000000000" pitchFamily="2" charset="-34"/>
              </a:rPr>
              <a:t>TOPIC NAME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41280" y="19736"/>
            <a:ext cx="53527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b="1" dirty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rPr>
              <a:t>MINISTRY OF EDUCATION AND TRAINING</a:t>
            </a:r>
            <a:endParaRPr lang="en-US" dirty="0">
              <a:solidFill>
                <a:schemeClr val="bg1"/>
              </a:solidFill>
              <a:latin typeface="Readex Pro" pitchFamily="2" charset="-78"/>
              <a:cs typeface="Readex Pro" pitchFamily="2" charset="-78"/>
            </a:endParaRPr>
          </a:p>
          <a:p>
            <a:pPr algn="ctr"/>
            <a:r>
              <a:rPr lang="es-ES" b="1" dirty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rPr>
              <a:t>CAN THO UNIVERSITY</a:t>
            </a:r>
            <a:endParaRPr lang="en-US" dirty="0">
              <a:solidFill>
                <a:schemeClr val="bg1"/>
              </a:solidFill>
              <a:latin typeface="Readex Pro" pitchFamily="2" charset="-78"/>
              <a:cs typeface="Readex Pro" pitchFamily="2" charset="-78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ctrTitle"/>
          </p:nvPr>
        </p:nvSpPr>
        <p:spPr>
          <a:xfrm>
            <a:off x="493143" y="2924764"/>
            <a:ext cx="11205713" cy="1597200"/>
          </a:xfrm>
        </p:spPr>
        <p:txBody>
          <a:bodyPr>
            <a:noAutofit/>
          </a:bodyPr>
          <a:lstStyle/>
          <a:p>
            <a:r>
              <a:rPr lang="en-US" sz="3200"/>
              <a:t>DEVELOPING A WEB APPLICATION FOR MUSIC GENERATION FROM VIDEO USING NATURAL LANGUAGE AS INTERMEDIARY USING OPEN SOURCE AI MODELS</a:t>
            </a:r>
            <a:endParaRPr lang="vi-VN" sz="3200"/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4244555" y="4917898"/>
            <a:ext cx="4513683" cy="1597200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tx1"/>
                </a:solidFill>
              </a:rPr>
              <a:t>Name</a:t>
            </a:r>
            <a:r>
              <a:rPr lang="en-US">
                <a:solidFill>
                  <a:schemeClr val="tx1"/>
                </a:solidFill>
              </a:rPr>
              <a:t>: Phan Trung Thuan</a:t>
            </a:r>
            <a:endParaRPr lang="en-US" dirty="0">
              <a:solidFill>
                <a:schemeClr val="tx1"/>
              </a:solidFill>
            </a:endParaRPr>
          </a:p>
          <a:p>
            <a:pPr algn="l"/>
            <a:r>
              <a:rPr lang="en-US" dirty="0">
                <a:solidFill>
                  <a:schemeClr val="tx1"/>
                </a:solidFill>
              </a:rPr>
              <a:t>Student code</a:t>
            </a:r>
            <a:r>
              <a:rPr lang="en-US">
                <a:solidFill>
                  <a:schemeClr val="tx1"/>
                </a:solidFill>
              </a:rPr>
              <a:t>: B2111957</a:t>
            </a:r>
            <a:endParaRPr lang="en-US" dirty="0">
              <a:solidFill>
                <a:schemeClr val="tx1"/>
              </a:solidFill>
            </a:endParaRPr>
          </a:p>
          <a:p>
            <a:pPr algn="l"/>
            <a:r>
              <a:rPr lang="en-US" dirty="0">
                <a:solidFill>
                  <a:schemeClr val="tx1"/>
                </a:solidFill>
              </a:rPr>
              <a:t>Instructor: Dr. Lam Nhut Khang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Major: Information and technology</a:t>
            </a:r>
          </a:p>
          <a:p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144496" y="1675597"/>
            <a:ext cx="61798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K2D" panose="00000500000000000000" pitchFamily="2" charset="-34"/>
                <a:cs typeface="K2D" panose="00000500000000000000" pitchFamily="2" charset="-34"/>
              </a:rPr>
              <a:t>UNIVERSITY THESIS DEFENSE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78986" y="2236442"/>
            <a:ext cx="26773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K2D" panose="00000500000000000000" pitchFamily="2" charset="-34"/>
                <a:cs typeface="K2D" panose="00000500000000000000" pitchFamily="2" charset="-34"/>
              </a:rPr>
              <a:t>TOPIC NAME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41280" y="19736"/>
            <a:ext cx="53527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b="1" dirty="0">
                <a:latin typeface="Readex Pro" pitchFamily="2" charset="-78"/>
                <a:cs typeface="Readex Pro" pitchFamily="2" charset="-78"/>
              </a:rPr>
              <a:t>MINISTRY OF EDUCATION AND TRAINING</a:t>
            </a:r>
            <a:endParaRPr lang="en-US" dirty="0">
              <a:latin typeface="Readex Pro" pitchFamily="2" charset="-78"/>
              <a:cs typeface="Readex Pro" pitchFamily="2" charset="-78"/>
            </a:endParaRPr>
          </a:p>
          <a:p>
            <a:pPr algn="ctr"/>
            <a:r>
              <a:rPr lang="es-ES" b="1" dirty="0">
                <a:latin typeface="Readex Pro" pitchFamily="2" charset="-78"/>
                <a:cs typeface="Readex Pro" pitchFamily="2" charset="-78"/>
              </a:rPr>
              <a:t>CAN THO UNIVERSITY</a:t>
            </a:r>
            <a:endParaRPr lang="en-US" dirty="0">
              <a:latin typeface="Readex Pro" pitchFamily="2" charset="-78"/>
              <a:cs typeface="Readex Pro" pitchFamily="2" charset="-78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/>
          <p:cNvGrpSpPr/>
          <p:nvPr>
            <p:custDataLst>
              <p:tags r:id="rId1"/>
            </p:custDataLst>
          </p:nvPr>
        </p:nvGrpSpPr>
        <p:grpSpPr>
          <a:xfrm>
            <a:off x="1574800" y="662458"/>
            <a:ext cx="9274810" cy="5634629"/>
            <a:chOff x="426720" y="274320"/>
            <a:chExt cx="5120640" cy="6236208"/>
          </a:xfrm>
        </p:grpSpPr>
        <p:sp>
          <p:nvSpPr>
            <p:cNvPr id="4" name="Rectangle 3"/>
            <p:cNvSpPr/>
            <p:nvPr/>
          </p:nvSpPr>
          <p:spPr>
            <a:xfrm>
              <a:off x="426720" y="274320"/>
              <a:ext cx="274320" cy="6236208"/>
            </a:xfrm>
            <a:prstGeom prst="rect">
              <a:avLst/>
            </a:prstGeom>
            <a:solidFill>
              <a:srgbClr val="1DB9BE"/>
            </a:solidFill>
            <a:ln>
              <a:solidFill>
                <a:srgbClr val="1DB9B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grpSp>
          <p:nvGrpSpPr>
            <p:cNvPr id="31" name="Group 30"/>
            <p:cNvGrpSpPr/>
            <p:nvPr/>
          </p:nvGrpSpPr>
          <p:grpSpPr>
            <a:xfrm>
              <a:off x="701040" y="274320"/>
              <a:ext cx="4846320" cy="6236208"/>
              <a:chOff x="701040" y="274320"/>
              <a:chExt cx="4846320" cy="6236208"/>
            </a:xfrm>
          </p:grpSpPr>
          <p:grpSp>
            <p:nvGrpSpPr>
              <p:cNvPr id="30" name="Group 29"/>
              <p:cNvGrpSpPr/>
              <p:nvPr/>
            </p:nvGrpSpPr>
            <p:grpSpPr>
              <a:xfrm>
                <a:off x="701040" y="274320"/>
                <a:ext cx="4846320" cy="4974336"/>
                <a:chOff x="701040" y="274320"/>
                <a:chExt cx="4846320" cy="4974336"/>
              </a:xfrm>
            </p:grpSpPr>
            <p:sp>
              <p:nvSpPr>
                <p:cNvPr id="5" name="Chevron 2"/>
                <p:cNvSpPr/>
                <p:nvPr/>
              </p:nvSpPr>
              <p:spPr>
                <a:xfrm>
                  <a:off x="701040" y="274320"/>
                  <a:ext cx="4846320" cy="1188720"/>
                </a:xfrm>
                <a:prstGeom prst="chevron">
                  <a:avLst/>
                </a:prstGeom>
                <a:solidFill>
                  <a:srgbClr val="2BC6C9"/>
                </a:solidFill>
                <a:ln w="3175">
                  <a:solidFill>
                    <a:srgbClr val="2BC6C9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>
                      <a:solidFill>
                        <a:schemeClr val="lt1"/>
                      </a:solidFill>
                    </a:defRPr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/>
                </a:p>
              </p:txBody>
            </p:sp>
            <p:sp>
              <p:nvSpPr>
                <p:cNvPr id="7" name="Rounded Rectangle 4"/>
                <p:cNvSpPr/>
                <p:nvPr>
                  <p:custDataLst>
                    <p:tags r:id="rId4"/>
                  </p:custDataLst>
                </p:nvPr>
              </p:nvSpPr>
              <p:spPr>
                <a:xfrm>
                  <a:off x="838200" y="448055"/>
                  <a:ext cx="822960" cy="914400"/>
                </a:xfrm>
                <a:prstGeom prst="roundRect">
                  <a:avLst/>
                </a:prstGeom>
                <a:solidFill>
                  <a:srgbClr val="FFFFFF"/>
                </a:solidFill>
                <a:ln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>
                      <a:solidFill>
                        <a:schemeClr val="lt1"/>
                      </a:solidFill>
                    </a:defRPr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defRPr sz="2400" b="1">
                      <a:solidFill>
                        <a:srgbClr val="2B6CB8"/>
                      </a:solidFill>
                    </a:defRPr>
                  </a:pPr>
                  <a:r>
                    <a:t>01</a:t>
                  </a:r>
                </a:p>
              </p:txBody>
            </p:sp>
            <p:sp>
              <p:nvSpPr>
                <p:cNvPr id="8" name="TextBox 5"/>
                <p:cNvSpPr txBox="1"/>
                <p:nvPr>
                  <p:custDataLst>
                    <p:tags r:id="rId5"/>
                  </p:custDataLst>
                </p:nvPr>
              </p:nvSpPr>
              <p:spPr>
                <a:xfrm>
                  <a:off x="1935480" y="659034"/>
                  <a:ext cx="2372701" cy="492443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defRPr sz="2600" b="1">
                      <a:solidFill>
                        <a:srgbClr val="FFFFFF"/>
                      </a:solidFill>
                    </a:defRPr>
                  </a:pPr>
                  <a:r>
                    <a:rPr lang="en-US" dirty="0"/>
                    <a:t>INTRODUCTION</a:t>
                  </a:r>
                  <a:endParaRPr dirty="0"/>
                </a:p>
              </p:txBody>
            </p:sp>
            <p:sp>
              <p:nvSpPr>
                <p:cNvPr id="10" name="Chevron 7"/>
                <p:cNvSpPr/>
                <p:nvPr/>
              </p:nvSpPr>
              <p:spPr>
                <a:xfrm>
                  <a:off x="701040" y="1536192"/>
                  <a:ext cx="4846320" cy="1188720"/>
                </a:xfrm>
                <a:prstGeom prst="chevron">
                  <a:avLst/>
                </a:prstGeom>
                <a:solidFill>
                  <a:srgbClr val="58D7D3"/>
                </a:solidFill>
                <a:ln w="3175">
                  <a:solidFill>
                    <a:srgbClr val="58D7D3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>
                      <a:solidFill>
                        <a:schemeClr val="lt1"/>
                      </a:solidFill>
                    </a:defRPr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/>
                </a:p>
              </p:txBody>
            </p:sp>
            <p:sp>
              <p:nvSpPr>
                <p:cNvPr id="12" name="Rounded Rectangle 9"/>
                <p:cNvSpPr/>
                <p:nvPr>
                  <p:custDataLst>
                    <p:tags r:id="rId6"/>
                  </p:custDataLst>
                </p:nvPr>
              </p:nvSpPr>
              <p:spPr>
                <a:xfrm>
                  <a:off x="838200" y="1709928"/>
                  <a:ext cx="822960" cy="914400"/>
                </a:xfrm>
                <a:prstGeom prst="roundRect">
                  <a:avLst/>
                </a:prstGeom>
                <a:solidFill>
                  <a:srgbClr val="FFFFFF"/>
                </a:solidFill>
                <a:ln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>
                      <a:solidFill>
                        <a:schemeClr val="lt1"/>
                      </a:solidFill>
                    </a:defRPr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defRPr sz="2400" b="1">
                      <a:solidFill>
                        <a:srgbClr val="2B6CB8"/>
                      </a:solidFill>
                    </a:defRPr>
                  </a:pPr>
                  <a:r>
                    <a:t>02</a:t>
                  </a:r>
                </a:p>
              </p:txBody>
            </p:sp>
            <p:sp>
              <p:nvSpPr>
                <p:cNvPr id="15" name="Chevron 12"/>
                <p:cNvSpPr/>
                <p:nvPr/>
              </p:nvSpPr>
              <p:spPr>
                <a:xfrm>
                  <a:off x="701040" y="2798064"/>
                  <a:ext cx="4846320" cy="1188720"/>
                </a:xfrm>
                <a:prstGeom prst="chevron">
                  <a:avLst/>
                </a:prstGeom>
                <a:solidFill>
                  <a:srgbClr val="34B3DA"/>
                </a:solidFill>
                <a:ln w="3175">
                  <a:solidFill>
                    <a:srgbClr val="34B3DA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>
                      <a:solidFill>
                        <a:schemeClr val="lt1"/>
                      </a:solidFill>
                    </a:defRPr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/>
                </a:p>
              </p:txBody>
            </p:sp>
            <p:sp>
              <p:nvSpPr>
                <p:cNvPr id="17" name="Rounded Rectangle 14"/>
                <p:cNvSpPr/>
                <p:nvPr>
                  <p:custDataLst>
                    <p:tags r:id="rId7"/>
                  </p:custDataLst>
                </p:nvPr>
              </p:nvSpPr>
              <p:spPr>
                <a:xfrm>
                  <a:off x="838200" y="2971800"/>
                  <a:ext cx="822960" cy="914400"/>
                </a:xfrm>
                <a:prstGeom prst="roundRect">
                  <a:avLst/>
                </a:prstGeom>
                <a:solidFill>
                  <a:srgbClr val="FFFFFF"/>
                </a:solidFill>
                <a:ln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>
                      <a:solidFill>
                        <a:schemeClr val="lt1"/>
                      </a:solidFill>
                    </a:defRPr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defRPr sz="2400" b="1">
                      <a:solidFill>
                        <a:srgbClr val="2B6CB8"/>
                      </a:solidFill>
                    </a:defRPr>
                  </a:pPr>
                  <a:r>
                    <a:t>03</a:t>
                  </a:r>
                </a:p>
              </p:txBody>
            </p:sp>
            <p:sp>
              <p:nvSpPr>
                <p:cNvPr id="18" name="TextBox 15"/>
                <p:cNvSpPr txBox="1"/>
                <p:nvPr>
                  <p:custDataLst>
                    <p:tags r:id="rId8"/>
                  </p:custDataLst>
                </p:nvPr>
              </p:nvSpPr>
              <p:spPr>
                <a:xfrm>
                  <a:off x="1935480" y="1867577"/>
                  <a:ext cx="1960287" cy="53091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defRPr sz="2600" b="1">
                      <a:solidFill>
                        <a:srgbClr val="FFFFFF"/>
                      </a:solidFill>
                    </a:defRPr>
                  </a:pPr>
                  <a:r>
                    <a:rPr lang="en-US"/>
                    <a:t>PROPOSED APPROACHES</a:t>
                  </a:r>
                  <a:endParaRPr dirty="0"/>
                </a:p>
              </p:txBody>
            </p:sp>
            <p:sp>
              <p:nvSpPr>
                <p:cNvPr id="20" name="Chevron 17"/>
                <p:cNvSpPr/>
                <p:nvPr/>
              </p:nvSpPr>
              <p:spPr>
                <a:xfrm>
                  <a:off x="701040" y="4059936"/>
                  <a:ext cx="4846320" cy="1188720"/>
                </a:xfrm>
                <a:prstGeom prst="chevron">
                  <a:avLst/>
                </a:prstGeom>
                <a:solidFill>
                  <a:srgbClr val="2B6CB8"/>
                </a:solidFill>
                <a:ln w="3175">
                  <a:solidFill>
                    <a:srgbClr val="2B6CB8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>
                      <a:solidFill>
                        <a:schemeClr val="lt1"/>
                      </a:solidFill>
                    </a:defRPr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/>
                </a:p>
              </p:txBody>
            </p:sp>
            <p:sp>
              <p:nvSpPr>
                <p:cNvPr id="22" name="Rounded Rectangle 19"/>
                <p:cNvSpPr/>
                <p:nvPr>
                  <p:custDataLst>
                    <p:tags r:id="rId9"/>
                  </p:custDataLst>
                </p:nvPr>
              </p:nvSpPr>
              <p:spPr>
                <a:xfrm>
                  <a:off x="838200" y="4233672"/>
                  <a:ext cx="822960" cy="914400"/>
                </a:xfrm>
                <a:prstGeom prst="roundRect">
                  <a:avLst/>
                </a:prstGeom>
                <a:solidFill>
                  <a:srgbClr val="FFFFFF"/>
                </a:solidFill>
                <a:ln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>
                      <a:solidFill>
                        <a:schemeClr val="lt1"/>
                      </a:solidFill>
                    </a:defRPr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defRPr sz="2400" b="1">
                      <a:solidFill>
                        <a:srgbClr val="2B6CB8"/>
                      </a:solidFill>
                    </a:defRPr>
                  </a:pPr>
                  <a:r>
                    <a:t>04</a:t>
                  </a:r>
                </a:p>
              </p:txBody>
            </p:sp>
            <p:sp>
              <p:nvSpPr>
                <p:cNvPr id="23" name="TextBox 20"/>
                <p:cNvSpPr txBox="1"/>
                <p:nvPr>
                  <p:custDataLst>
                    <p:tags r:id="rId10"/>
                  </p:custDataLst>
                </p:nvPr>
              </p:nvSpPr>
              <p:spPr>
                <a:xfrm>
                  <a:off x="1935480" y="3126965"/>
                  <a:ext cx="1731067" cy="53091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defRPr sz="2600" b="1">
                      <a:solidFill>
                        <a:srgbClr val="FFFFFF"/>
                      </a:solidFill>
                    </a:defRPr>
                  </a:pPr>
                  <a:r>
                    <a:rPr lang="en-US"/>
                    <a:t>EXPERIMENT RESULTS</a:t>
                  </a:r>
                  <a:endParaRPr dirty="0"/>
                </a:p>
              </p:txBody>
            </p:sp>
            <p:sp>
              <p:nvSpPr>
                <p:cNvPr id="33" name="TextBox 20"/>
                <p:cNvSpPr txBox="1"/>
                <p:nvPr>
                  <p:custDataLst>
                    <p:tags r:id="rId11"/>
                  </p:custDataLst>
                </p:nvPr>
              </p:nvSpPr>
              <p:spPr>
                <a:xfrm>
                  <a:off x="1935480" y="4173154"/>
                  <a:ext cx="1508364" cy="962283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defRPr sz="2600" b="1">
                      <a:solidFill>
                        <a:srgbClr val="FFFFFF"/>
                      </a:solidFill>
                    </a:defRPr>
                  </a:pPr>
                  <a:r>
                    <a:rPr lang="en-US"/>
                    <a:t>CONCLUSION AND </a:t>
                  </a:r>
                </a:p>
                <a:p>
                  <a:pPr>
                    <a:defRPr sz="2600" b="1">
                      <a:solidFill>
                        <a:srgbClr val="FFFFFF"/>
                      </a:solidFill>
                    </a:defRPr>
                  </a:pPr>
                  <a:r>
                    <a:rPr lang="en-US"/>
                    <a:t>FUTURE WORK</a:t>
                  </a:r>
                  <a:endParaRPr lang="en-US" dirty="0"/>
                </a:p>
              </p:txBody>
            </p:sp>
          </p:grpSp>
          <p:sp>
            <p:nvSpPr>
              <p:cNvPr id="25" name="Chevron 22"/>
              <p:cNvSpPr/>
              <p:nvPr/>
            </p:nvSpPr>
            <p:spPr>
              <a:xfrm>
                <a:off x="701040" y="5321808"/>
                <a:ext cx="4846320" cy="1188720"/>
              </a:xfrm>
              <a:prstGeom prst="chevron">
                <a:avLst/>
              </a:prstGeom>
              <a:solidFill>
                <a:srgbClr val="113B67"/>
              </a:solidFill>
              <a:ln w="3175">
                <a:solidFill>
                  <a:srgbClr val="113B6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>
                    <a:solidFill>
                      <a:schemeClr val="lt1"/>
                    </a:solidFill>
                  </a:defRPr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dirty="0"/>
              </a:p>
            </p:txBody>
          </p:sp>
          <p:sp>
            <p:nvSpPr>
              <p:cNvPr id="27" name="Rounded Rectangle 24"/>
              <p:cNvSpPr/>
              <p:nvPr>
                <p:custDataLst>
                  <p:tags r:id="rId2"/>
                </p:custDataLst>
              </p:nvPr>
            </p:nvSpPr>
            <p:spPr>
              <a:xfrm>
                <a:off x="838200" y="5495544"/>
                <a:ext cx="822960" cy="914400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>
                    <a:solidFill>
                      <a:schemeClr val="lt1"/>
                    </a:solidFill>
                  </a:defRPr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 sz="2400" b="1">
                    <a:solidFill>
                      <a:srgbClr val="2B6CB8"/>
                    </a:solidFill>
                  </a:defRPr>
                </a:pPr>
                <a:r>
                  <a:rPr dirty="0"/>
                  <a:t>05</a:t>
                </a:r>
              </a:p>
            </p:txBody>
          </p:sp>
          <p:sp>
            <p:nvSpPr>
              <p:cNvPr id="28" name="TextBox 25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1935480" y="5687286"/>
                <a:ext cx="1320698" cy="53091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 sz="2600" b="1">
                    <a:solidFill>
                      <a:srgbClr val="FFFFFF"/>
                    </a:solidFill>
                  </a:defRPr>
                </a:pPr>
                <a:r>
                  <a:rPr lang="en-US"/>
                  <a:t>DEMOSTRATION</a:t>
                </a:r>
                <a:endParaRPr dirty="0"/>
              </a:p>
            </p:txBody>
          </p:sp>
        </p:grpSp>
      </p:grpSp>
      <p:sp>
        <p:nvSpPr>
          <p:cNvPr id="2" name="Text Box 1"/>
          <p:cNvSpPr txBox="1"/>
          <p:nvPr/>
        </p:nvSpPr>
        <p:spPr>
          <a:xfrm>
            <a:off x="4622800" y="3175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/>
              <a:t>TABLE OF CONTENT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701040" y="2360986"/>
            <a:ext cx="7792720" cy="3383280"/>
            <a:chOff x="1440" y="2736"/>
            <a:chExt cx="12272" cy="5328"/>
          </a:xfrm>
          <a:solidFill>
            <a:schemeClr val="accent5">
              <a:lumMod val="75000"/>
            </a:schemeClr>
          </a:solidFill>
        </p:grpSpPr>
        <p:sp>
          <p:nvSpPr>
            <p:cNvPr id="7" name="Rounded Rectangle 6"/>
            <p:cNvSpPr/>
            <p:nvPr/>
          </p:nvSpPr>
          <p:spPr>
            <a:xfrm>
              <a:off x="1440" y="2736"/>
              <a:ext cx="9011" cy="1584"/>
            </a:xfrm>
            <a:prstGeom prst="roundRect">
              <a:avLst/>
            </a:prstGeom>
            <a:grpFill/>
            <a:ln w="9525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just"/>
              <a:r>
                <a:rPr lang="en-US" altLang="en-US" sz="2800" b="1">
                  <a:solidFill>
                    <a:schemeClr val="accent5">
                      <a:lumMod val="20000"/>
                      <a:lumOff val="80000"/>
                    </a:schemeClr>
                  </a:solidFill>
                  <a:cs typeface="Calibri" panose="020F0502020204030204" charset="0"/>
                  <a:sym typeface="+mn-ea"/>
                </a:rPr>
                <a:t>Short duration music segments</a:t>
              </a:r>
              <a:endParaRPr lang="en-US" altLang="en-US" sz="2800" dirty="0">
                <a:solidFill>
                  <a:schemeClr val="accent5">
                    <a:lumMod val="20000"/>
                    <a:lumOff val="80000"/>
                  </a:schemeClr>
                </a:solidFill>
                <a:cs typeface="Calibri" panose="020F0502020204030204" charset="0"/>
                <a:sym typeface="+mn-ea"/>
              </a:endParaRP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1440" y="4608"/>
              <a:ext cx="10503" cy="1584"/>
            </a:xfrm>
            <a:prstGeom prst="roundRect">
              <a:avLst/>
            </a:prstGeom>
            <a:grpFill/>
            <a:ln w="9525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just">
                <a:buClrTx/>
                <a:buSzTx/>
                <a:buFontTx/>
              </a:pPr>
              <a:r>
                <a:rPr lang="en-US" altLang="en-US" sz="2800" b="1">
                  <a:solidFill>
                    <a:schemeClr val="accent5">
                      <a:lumMod val="20000"/>
                      <a:lumOff val="80000"/>
                    </a:schemeClr>
                  </a:solidFill>
                  <a:cs typeface="Calibri" panose="020F0502020204030204" charset="0"/>
                  <a:sym typeface="+mn-ea"/>
                </a:rPr>
                <a:t>End-to-end black-box models</a:t>
              </a:r>
              <a:endParaRPr lang="en-US" altLang="en-US" sz="2800" dirty="0">
                <a:solidFill>
                  <a:schemeClr val="accent5">
                    <a:lumMod val="20000"/>
                    <a:lumOff val="80000"/>
                  </a:schemeClr>
                </a:solidFill>
                <a:cs typeface="Calibri" panose="020F0502020204030204" charset="0"/>
                <a:sym typeface="+mn-ea"/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1440" y="6480"/>
              <a:ext cx="12272" cy="1584"/>
            </a:xfrm>
            <a:prstGeom prst="roundRect">
              <a:avLst/>
            </a:prstGeom>
            <a:grpFill/>
            <a:ln w="9525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just">
                <a:buClrTx/>
                <a:buSzTx/>
                <a:buFontTx/>
              </a:pPr>
              <a:r>
                <a:rPr lang="en-US" altLang="en-US" sz="2800" b="1">
                  <a:solidFill>
                    <a:schemeClr val="accent5">
                      <a:lumMod val="20000"/>
                      <a:lumOff val="80000"/>
                    </a:schemeClr>
                  </a:solidFill>
                  <a:cs typeface="Calibri" panose="020F0502020204030204" charset="0"/>
                  <a:sym typeface="+mn-ea"/>
                </a:rPr>
                <a:t>Limited interpretability and user control</a:t>
              </a:r>
              <a:endParaRPr lang="en-US" altLang="en-US" sz="2800" dirty="0">
                <a:solidFill>
                  <a:schemeClr val="accent5">
                    <a:lumMod val="20000"/>
                    <a:lumOff val="80000"/>
                  </a:schemeClr>
                </a:solidFill>
                <a:cs typeface="Calibri" panose="020F0502020204030204" charset="0"/>
                <a:sym typeface="+mn-ea"/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487680" y="86082"/>
            <a:ext cx="11094720" cy="822960"/>
            <a:chOff x="864" y="1008"/>
            <a:chExt cx="17472" cy="1296"/>
          </a:xfrm>
        </p:grpSpPr>
        <p:sp>
          <p:nvSpPr>
            <p:cNvPr id="5" name="Chevron 22"/>
            <p:cNvSpPr/>
            <p:nvPr/>
          </p:nvSpPr>
          <p:spPr>
            <a:xfrm>
              <a:off x="864" y="1008"/>
              <a:ext cx="17472" cy="1296"/>
            </a:xfrm>
            <a:prstGeom prst="chevron">
              <a:avLst/>
            </a:prstGeom>
            <a:solidFill>
              <a:srgbClr val="106BC6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4"/>
            <p:cNvSpPr/>
            <p:nvPr/>
          </p:nvSpPr>
          <p:spPr>
            <a:xfrm>
              <a:off x="17328" y="1037"/>
              <a:ext cx="864" cy="1267"/>
            </a:xfrm>
            <a:prstGeom prst="rect">
              <a:avLst/>
            </a:prstGeom>
            <a:solidFill>
              <a:srgbClr val="002864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5"/>
            <p:cNvSpPr txBox="1"/>
            <p:nvPr/>
          </p:nvSpPr>
          <p:spPr>
            <a:xfrm>
              <a:off x="6924" y="1210"/>
              <a:ext cx="5352" cy="92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>
                <a:defRPr sz="4000" b="1">
                  <a:solidFill>
                    <a:srgbClr val="122B5E"/>
                  </a:solidFill>
                </a:defRPr>
              </a:pPr>
              <a:r>
                <a:rPr lang="en-US" sz="3200">
                  <a:solidFill>
                    <a:schemeClr val="bg1"/>
                  </a:solidFill>
                  <a:sym typeface="+mn-ea"/>
                </a:rPr>
                <a:t>1 </a:t>
              </a:r>
              <a:r>
                <a:rPr lang="en-US" sz="3200" dirty="0">
                  <a:solidFill>
                    <a:schemeClr val="bg1"/>
                  </a:solidFill>
                  <a:sym typeface="+mn-ea"/>
                </a:rPr>
                <a:t>- INTRODUCTION</a:t>
              </a: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157370" y="1113734"/>
            <a:ext cx="3917226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3000" b="1">
                <a:solidFill>
                  <a:srgbClr val="FFFFFF"/>
                </a:solidFill>
              </a:defRPr>
            </a:pPr>
            <a:r>
              <a:rPr lang="en-US">
                <a:solidFill>
                  <a:schemeClr val="accent1">
                    <a:lumMod val="75000"/>
                  </a:schemeClr>
                </a:solidFill>
              </a:rPr>
              <a:t>PROBLEM STATEMENTS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3" name="Straight Connector 2"/>
          <p:cNvCxnSpPr/>
          <p:nvPr/>
        </p:nvCxnSpPr>
        <p:spPr>
          <a:xfrm>
            <a:off x="1020725" y="1667732"/>
            <a:ext cx="155707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85645-D0E7-F8E0-B390-B92CC86C4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41DC5062-AFF3-2628-DFFA-FE0AE9BB1281}"/>
              </a:ext>
            </a:extLst>
          </p:cNvPr>
          <p:cNvGrpSpPr/>
          <p:nvPr/>
        </p:nvGrpSpPr>
        <p:grpSpPr>
          <a:xfrm>
            <a:off x="701040" y="2360986"/>
            <a:ext cx="10789920" cy="3383280"/>
            <a:chOff x="1440" y="2736"/>
            <a:chExt cx="16992" cy="5328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54D8AD30-8CAA-6DB8-B968-6916E8CEDDAA}"/>
                </a:ext>
              </a:extLst>
            </p:cNvPr>
            <p:cNvSpPr/>
            <p:nvPr/>
          </p:nvSpPr>
          <p:spPr>
            <a:xfrm>
              <a:off x="1440" y="2736"/>
              <a:ext cx="16992" cy="1584"/>
            </a:xfrm>
            <a:prstGeom prst="roundRect">
              <a:avLst/>
            </a:prstGeom>
            <a:solidFill>
              <a:srgbClr val="E9F2FD"/>
            </a:solidFill>
            <a:ln w="9525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just"/>
              <a:r>
                <a:rPr lang="en-US" altLang="en-US" sz="2800" b="1">
                  <a:solidFill>
                    <a:schemeClr val="accent1">
                      <a:lumMod val="50000"/>
                    </a:schemeClr>
                  </a:solidFill>
                  <a:cs typeface="Calibri" panose="020F0502020204030204" charset="0"/>
                  <a:sym typeface="+mn-ea"/>
                </a:rPr>
                <a:t>Propose a language-mediated video-to-music generation framework</a:t>
              </a:r>
              <a:endParaRPr lang="en-US" altLang="en-US" sz="2800" dirty="0">
                <a:solidFill>
                  <a:schemeClr val="accent1">
                    <a:lumMod val="50000"/>
                  </a:schemeClr>
                </a:solidFill>
                <a:cs typeface="Calibri" panose="020F0502020204030204" charset="0"/>
                <a:sym typeface="+mn-ea"/>
              </a:endParaRPr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0D83ADEF-B0FA-2333-437D-2CF771141755}"/>
                </a:ext>
              </a:extLst>
            </p:cNvPr>
            <p:cNvSpPr/>
            <p:nvPr/>
          </p:nvSpPr>
          <p:spPr>
            <a:xfrm>
              <a:off x="1440" y="4608"/>
              <a:ext cx="15638" cy="1584"/>
            </a:xfrm>
            <a:prstGeom prst="roundRect">
              <a:avLst/>
            </a:prstGeom>
            <a:solidFill>
              <a:srgbClr val="E9F2FD"/>
            </a:solidFill>
            <a:ln w="9525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just">
                <a:buClrTx/>
                <a:buSzTx/>
                <a:buFontTx/>
              </a:pPr>
              <a:r>
                <a:rPr lang="en-US" altLang="en-US" sz="2800" b="1">
                  <a:solidFill>
                    <a:schemeClr val="accent1">
                      <a:lumMod val="50000"/>
                    </a:schemeClr>
                  </a:solidFill>
                  <a:cs typeface="Calibri" panose="020F0502020204030204" charset="0"/>
                  <a:sym typeface="+mn-ea"/>
                </a:rPr>
                <a:t>Use natural language as an intermediate semantic representation</a:t>
              </a:r>
              <a:endParaRPr lang="en-US" altLang="en-US" sz="2800" dirty="0">
                <a:solidFill>
                  <a:schemeClr val="accent1">
                    <a:lumMod val="50000"/>
                  </a:schemeClr>
                </a:solidFill>
                <a:cs typeface="Calibri" panose="020F0502020204030204" charset="0"/>
                <a:sym typeface="+mn-ea"/>
              </a:endParaRPr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EA0BCBB9-6D94-BF87-06D5-E72D234EB549}"/>
                </a:ext>
              </a:extLst>
            </p:cNvPr>
            <p:cNvSpPr/>
            <p:nvPr/>
          </p:nvSpPr>
          <p:spPr>
            <a:xfrm>
              <a:off x="1440" y="6480"/>
              <a:ext cx="12463" cy="1584"/>
            </a:xfrm>
            <a:prstGeom prst="roundRect">
              <a:avLst/>
            </a:prstGeom>
            <a:solidFill>
              <a:srgbClr val="E9F2FD"/>
            </a:solidFill>
            <a:ln w="9525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just">
                <a:buClrTx/>
                <a:buSzTx/>
                <a:buFontTx/>
              </a:pPr>
              <a:r>
                <a:rPr lang="en-US" altLang="en-US" sz="2800" b="1">
                  <a:solidFill>
                    <a:schemeClr val="accent1">
                      <a:lumMod val="50000"/>
                    </a:schemeClr>
                  </a:solidFill>
                  <a:cs typeface="Calibri" panose="020F0502020204030204" charset="0"/>
                  <a:sym typeface="+mn-ea"/>
                </a:rPr>
                <a:t>Fully open-source and web-based system</a:t>
              </a:r>
              <a:endParaRPr lang="en-US" altLang="en-US" sz="2800" dirty="0">
                <a:solidFill>
                  <a:schemeClr val="accent1">
                    <a:lumMod val="50000"/>
                  </a:schemeClr>
                </a:solidFill>
                <a:cs typeface="Calibri" panose="020F0502020204030204" charset="0"/>
                <a:sym typeface="+mn-ea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B599955C-2B77-8A4C-9570-ADF928921428}"/>
              </a:ext>
            </a:extLst>
          </p:cNvPr>
          <p:cNvGrpSpPr/>
          <p:nvPr/>
        </p:nvGrpSpPr>
        <p:grpSpPr>
          <a:xfrm>
            <a:off x="487680" y="86082"/>
            <a:ext cx="11094720" cy="822960"/>
            <a:chOff x="864" y="1008"/>
            <a:chExt cx="17472" cy="1296"/>
          </a:xfrm>
        </p:grpSpPr>
        <p:sp>
          <p:nvSpPr>
            <p:cNvPr id="5" name="Chevron 22">
              <a:extLst>
                <a:ext uri="{FF2B5EF4-FFF2-40B4-BE49-F238E27FC236}">
                  <a16:creationId xmlns:a16="http://schemas.microsoft.com/office/drawing/2014/main" id="{5F25275F-30C1-6640-0CA2-A657F41B1300}"/>
                </a:ext>
              </a:extLst>
            </p:cNvPr>
            <p:cNvSpPr/>
            <p:nvPr/>
          </p:nvSpPr>
          <p:spPr>
            <a:xfrm>
              <a:off x="864" y="1008"/>
              <a:ext cx="17472" cy="1296"/>
            </a:xfrm>
            <a:prstGeom prst="chevron">
              <a:avLst/>
            </a:prstGeom>
            <a:solidFill>
              <a:srgbClr val="106BC6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1371528E-03DA-C47C-94D3-9D2A35386F41}"/>
                </a:ext>
              </a:extLst>
            </p:cNvPr>
            <p:cNvSpPr/>
            <p:nvPr/>
          </p:nvSpPr>
          <p:spPr>
            <a:xfrm>
              <a:off x="17328" y="1037"/>
              <a:ext cx="864" cy="1267"/>
            </a:xfrm>
            <a:prstGeom prst="rect">
              <a:avLst/>
            </a:prstGeom>
            <a:solidFill>
              <a:srgbClr val="002864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5">
              <a:extLst>
                <a:ext uri="{FF2B5EF4-FFF2-40B4-BE49-F238E27FC236}">
                  <a16:creationId xmlns:a16="http://schemas.microsoft.com/office/drawing/2014/main" id="{478EE0BD-A642-7ADE-3019-383F412A3687}"/>
                </a:ext>
              </a:extLst>
            </p:cNvPr>
            <p:cNvSpPr txBox="1"/>
            <p:nvPr/>
          </p:nvSpPr>
          <p:spPr>
            <a:xfrm>
              <a:off x="6924" y="1210"/>
              <a:ext cx="5352" cy="92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>
                <a:defRPr sz="4000" b="1">
                  <a:solidFill>
                    <a:srgbClr val="122B5E"/>
                  </a:solidFill>
                </a:defRPr>
              </a:pPr>
              <a:r>
                <a:rPr lang="en-US" sz="3200">
                  <a:solidFill>
                    <a:schemeClr val="bg1"/>
                  </a:solidFill>
                  <a:sym typeface="+mn-ea"/>
                </a:rPr>
                <a:t>1 </a:t>
              </a:r>
              <a:r>
                <a:rPr lang="en-US" sz="3200" dirty="0">
                  <a:solidFill>
                    <a:schemeClr val="bg1"/>
                  </a:solidFill>
                  <a:sym typeface="+mn-ea"/>
                </a:rPr>
                <a:t>- INTRODUCTION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2E505924-23C5-2130-6D37-0EEB24C127AF}"/>
              </a:ext>
            </a:extLst>
          </p:cNvPr>
          <p:cNvSpPr txBox="1"/>
          <p:nvPr/>
        </p:nvSpPr>
        <p:spPr>
          <a:xfrm>
            <a:off x="815146" y="1098216"/>
            <a:ext cx="218835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3000" b="1">
                <a:solidFill>
                  <a:srgbClr val="FFFFFF"/>
                </a:solidFill>
              </a:defRPr>
            </a:pPr>
            <a:r>
              <a:rPr lang="en-US" sz="3200">
                <a:solidFill>
                  <a:schemeClr val="accent1">
                    <a:lumMod val="75000"/>
                  </a:schemeClr>
                </a:solidFill>
              </a:rPr>
              <a:t>OBJECTIVES</a:t>
            </a:r>
            <a:endParaRPr lang="en-US" sz="3200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5AB44EB-0BA2-25A9-2A8B-690BA1B1C0E8}"/>
              </a:ext>
            </a:extLst>
          </p:cNvPr>
          <p:cNvCxnSpPr/>
          <p:nvPr/>
        </p:nvCxnSpPr>
        <p:spPr>
          <a:xfrm>
            <a:off x="1020725" y="1667732"/>
            <a:ext cx="155707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37997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487680" y="86082"/>
            <a:ext cx="11094720" cy="822960"/>
            <a:chOff x="864" y="1008"/>
            <a:chExt cx="17472" cy="1296"/>
          </a:xfrm>
        </p:grpSpPr>
        <p:sp>
          <p:nvSpPr>
            <p:cNvPr id="15" name="Chevron 22"/>
            <p:cNvSpPr/>
            <p:nvPr/>
          </p:nvSpPr>
          <p:spPr>
            <a:xfrm>
              <a:off x="864" y="1008"/>
              <a:ext cx="17472" cy="1296"/>
            </a:xfrm>
            <a:prstGeom prst="chevron">
              <a:avLst/>
            </a:prstGeom>
            <a:solidFill>
              <a:srgbClr val="106BC6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Rectangle 4"/>
            <p:cNvSpPr/>
            <p:nvPr/>
          </p:nvSpPr>
          <p:spPr>
            <a:xfrm>
              <a:off x="17328" y="1037"/>
              <a:ext cx="864" cy="1267"/>
            </a:xfrm>
            <a:prstGeom prst="rect">
              <a:avLst/>
            </a:prstGeom>
            <a:solidFill>
              <a:srgbClr val="002864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TextBox 5"/>
            <p:cNvSpPr txBox="1"/>
            <p:nvPr/>
          </p:nvSpPr>
          <p:spPr>
            <a:xfrm>
              <a:off x="5693" y="1195"/>
              <a:ext cx="7813" cy="92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>
                <a:defRPr sz="4000" b="1">
                  <a:solidFill>
                    <a:srgbClr val="122B5E"/>
                  </a:solidFill>
                </a:defRPr>
              </a:pPr>
              <a:r>
                <a:rPr lang="en-US" sz="3200">
                  <a:solidFill>
                    <a:schemeClr val="bg1"/>
                  </a:solidFill>
                  <a:sym typeface="+mn-ea"/>
                </a:rPr>
                <a:t>2 - PROPOSED APPROACHES</a:t>
              </a: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E8CCF529-0866-EF21-25BD-21805C911154}"/>
              </a:ext>
            </a:extLst>
          </p:cNvPr>
          <p:cNvGrpSpPr/>
          <p:nvPr/>
        </p:nvGrpSpPr>
        <p:grpSpPr>
          <a:xfrm>
            <a:off x="132213" y="1735007"/>
            <a:ext cx="11927573" cy="4504427"/>
            <a:chOff x="328035" y="1441914"/>
            <a:chExt cx="11927573" cy="450442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DB815A8-7AB5-6EA9-23A2-DDDAEBDEBF36}"/>
                </a:ext>
              </a:extLst>
            </p:cNvPr>
            <p:cNvGrpSpPr/>
            <p:nvPr/>
          </p:nvGrpSpPr>
          <p:grpSpPr>
            <a:xfrm>
              <a:off x="328035" y="2805735"/>
              <a:ext cx="891738" cy="1242860"/>
              <a:chOff x="152400" y="2154555"/>
              <a:chExt cx="914400" cy="1274445"/>
            </a:xfrm>
          </p:grpSpPr>
          <p:pic>
            <p:nvPicPr>
              <p:cNvPr id="6" name="Graphic 5" descr="Film strip outline">
                <a:extLst>
                  <a:ext uri="{FF2B5EF4-FFF2-40B4-BE49-F238E27FC236}">
                    <a16:creationId xmlns:a16="http://schemas.microsoft.com/office/drawing/2014/main" id="{53209BBA-4A3B-D6E0-24AD-8A6976B9C8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52400" y="2514600"/>
                <a:ext cx="914400" cy="9144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026236C-5C52-5A5F-5928-3653557FEC74}"/>
                  </a:ext>
                </a:extLst>
              </p:cNvPr>
              <p:cNvSpPr txBox="1"/>
              <p:nvPr/>
            </p:nvSpPr>
            <p:spPr>
              <a:xfrm>
                <a:off x="224398" y="2154555"/>
                <a:ext cx="829432" cy="3787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vi-VN" b="1">
                    <a:solidFill>
                      <a:schemeClr val="accent1"/>
                    </a:solidFill>
                  </a:rPr>
                  <a:t>Video</a:t>
                </a: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37DB74B-68C9-11A8-AB06-F5296B79FD21}"/>
                </a:ext>
              </a:extLst>
            </p:cNvPr>
            <p:cNvGrpSpPr/>
            <p:nvPr/>
          </p:nvGrpSpPr>
          <p:grpSpPr>
            <a:xfrm>
              <a:off x="1465820" y="1441914"/>
              <a:ext cx="1275328" cy="2529155"/>
              <a:chOff x="1722379" y="1233715"/>
              <a:chExt cx="1307738" cy="2593430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116C580D-7625-1E0D-9B0B-74C8EEDB3F74}"/>
                  </a:ext>
                </a:extLst>
              </p:cNvPr>
              <p:cNvGrpSpPr/>
              <p:nvPr/>
            </p:nvGrpSpPr>
            <p:grpSpPr>
              <a:xfrm>
                <a:off x="1722379" y="1541145"/>
                <a:ext cx="1307738" cy="2286000"/>
                <a:chOff x="1734146" y="1541145"/>
                <a:chExt cx="1307738" cy="2286000"/>
              </a:xfrm>
            </p:grpSpPr>
            <p:pic>
              <p:nvPicPr>
                <p:cNvPr id="20" name="Graphic 19" descr="Film strip outline">
                  <a:extLst>
                    <a:ext uri="{FF2B5EF4-FFF2-40B4-BE49-F238E27FC236}">
                      <a16:creationId xmlns:a16="http://schemas.microsoft.com/office/drawing/2014/main" id="{BEA8737C-DFEE-3B83-1858-0088FD9FB57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734146" y="1541145"/>
                  <a:ext cx="914400" cy="914400"/>
                </a:xfrm>
                <a:prstGeom prst="rect">
                  <a:avLst/>
                </a:prstGeom>
              </p:spPr>
            </p:pic>
            <p:pic>
              <p:nvPicPr>
                <p:cNvPr id="21" name="Graphic 20" descr="Film strip outline">
                  <a:extLst>
                    <a:ext uri="{FF2B5EF4-FFF2-40B4-BE49-F238E27FC236}">
                      <a16:creationId xmlns:a16="http://schemas.microsoft.com/office/drawing/2014/main" id="{B992E4A5-96B0-B119-597D-8A91ED0A5FB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832480" y="1884045"/>
                  <a:ext cx="914400" cy="914400"/>
                </a:xfrm>
                <a:prstGeom prst="rect">
                  <a:avLst/>
                </a:prstGeom>
              </p:spPr>
            </p:pic>
            <p:pic>
              <p:nvPicPr>
                <p:cNvPr id="22" name="Graphic 21" descr="Film strip outline">
                  <a:extLst>
                    <a:ext uri="{FF2B5EF4-FFF2-40B4-BE49-F238E27FC236}">
                      <a16:creationId xmlns:a16="http://schemas.microsoft.com/office/drawing/2014/main" id="{0A9AA4A1-B5B0-F451-6CAC-1C7E870FA45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930814" y="2226945"/>
                  <a:ext cx="914400" cy="914400"/>
                </a:xfrm>
                <a:prstGeom prst="rect">
                  <a:avLst/>
                </a:prstGeom>
              </p:spPr>
            </p:pic>
            <p:pic>
              <p:nvPicPr>
                <p:cNvPr id="23" name="Graphic 22" descr="Film strip outline">
                  <a:extLst>
                    <a:ext uri="{FF2B5EF4-FFF2-40B4-BE49-F238E27FC236}">
                      <a16:creationId xmlns:a16="http://schemas.microsoft.com/office/drawing/2014/main" id="{69FE9025-F2B2-2F8B-C30C-D75AF48E5C8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>
                  <a:extLst>
                    <a:ext uri="{96DAC541-7B7A-43D3-8B79-37D633B846F1}">
                      <asvg:svgBlip xmlns:asvg="http://schemas.microsoft.com/office/drawing/2016/SVG/main" r:embed="rId11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029148" y="2569845"/>
                  <a:ext cx="914400" cy="914400"/>
                </a:xfrm>
                <a:prstGeom prst="rect">
                  <a:avLst/>
                </a:prstGeom>
              </p:spPr>
            </p:pic>
            <p:pic>
              <p:nvPicPr>
                <p:cNvPr id="24" name="Graphic 23" descr="Film strip outline">
                  <a:extLst>
                    <a:ext uri="{FF2B5EF4-FFF2-40B4-BE49-F238E27FC236}">
                      <a16:creationId xmlns:a16="http://schemas.microsoft.com/office/drawing/2014/main" id="{4E842454-8A7B-3B7A-2837-59B7CEB6104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127484" y="2912745"/>
                  <a:ext cx="914400" cy="914400"/>
                </a:xfrm>
                <a:prstGeom prst="rect">
                  <a:avLst/>
                </a:prstGeom>
              </p:spPr>
            </p:pic>
          </p:grp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53500B3-BBF1-713C-0AF6-991BE4D821E4}"/>
                  </a:ext>
                </a:extLst>
              </p:cNvPr>
              <p:cNvSpPr txBox="1"/>
              <p:nvPr/>
            </p:nvSpPr>
            <p:spPr>
              <a:xfrm>
                <a:off x="1726474" y="1233715"/>
                <a:ext cx="1017803" cy="3787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vi-VN" b="1">
                    <a:solidFill>
                      <a:schemeClr val="accent1"/>
                    </a:solidFill>
                  </a:rPr>
                  <a:t>Scenes</a:t>
                </a: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9FB2E4D3-23FB-1DC5-CF0D-21CFA7355A41}"/>
                </a:ext>
              </a:extLst>
            </p:cNvPr>
            <p:cNvGrpSpPr/>
            <p:nvPr/>
          </p:nvGrpSpPr>
          <p:grpSpPr>
            <a:xfrm>
              <a:off x="4568808" y="1606816"/>
              <a:ext cx="1390124" cy="1801523"/>
              <a:chOff x="3207110" y="1510574"/>
              <a:chExt cx="1425452" cy="1847306"/>
            </a:xfrm>
          </p:grpSpPr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DEB4DB4-F58A-1C33-7DC3-0A2BA2669E5C}"/>
                  </a:ext>
                </a:extLst>
              </p:cNvPr>
              <p:cNvSpPr txBox="1"/>
              <p:nvPr/>
            </p:nvSpPr>
            <p:spPr>
              <a:xfrm>
                <a:off x="3207110" y="1510574"/>
                <a:ext cx="1425452" cy="3787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vi-VN" b="1">
                    <a:solidFill>
                      <a:schemeClr val="accent1"/>
                    </a:solidFill>
                  </a:rPr>
                  <a:t>Captioning</a:t>
                </a:r>
              </a:p>
            </p:txBody>
          </p:sp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36D9D898-6D7A-B1B4-E133-A4D420C39F28}"/>
                  </a:ext>
                </a:extLst>
              </p:cNvPr>
              <p:cNvGrpSpPr/>
              <p:nvPr/>
            </p:nvGrpSpPr>
            <p:grpSpPr>
              <a:xfrm>
                <a:off x="3414226" y="1865630"/>
                <a:ext cx="1123716" cy="1492250"/>
                <a:chOff x="3524223" y="2038985"/>
                <a:chExt cx="1123716" cy="1492250"/>
              </a:xfrm>
            </p:grpSpPr>
            <p:pic>
              <p:nvPicPr>
                <p:cNvPr id="28" name="Graphic 27" descr="Document outline">
                  <a:extLst>
                    <a:ext uri="{FF2B5EF4-FFF2-40B4-BE49-F238E27FC236}">
                      <a16:creationId xmlns:a16="http://schemas.microsoft.com/office/drawing/2014/main" id="{CC846896-30CC-556A-E459-B1C2FAACC1A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>
                  <a:extLst>
                    <a:ext uri="{96DAC541-7B7A-43D3-8B79-37D633B846F1}">
                      <asvg:svgBlip xmlns:asvg="http://schemas.microsoft.com/office/drawing/2016/SVG/main" r:embed="rId1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24223" y="2038985"/>
                  <a:ext cx="914400" cy="914400"/>
                </a:xfrm>
                <a:prstGeom prst="rect">
                  <a:avLst/>
                </a:prstGeom>
              </p:spPr>
            </p:pic>
            <p:pic>
              <p:nvPicPr>
                <p:cNvPr id="29" name="Graphic 28" descr="Document outline">
                  <a:extLst>
                    <a:ext uri="{FF2B5EF4-FFF2-40B4-BE49-F238E27FC236}">
                      <a16:creationId xmlns:a16="http://schemas.microsoft.com/office/drawing/2014/main" id="{13A8F697-602C-C5DF-9EAF-110F9DD7A5A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>
                  <a:extLst>
                    <a:ext uri="{96DAC541-7B7A-43D3-8B79-37D633B846F1}">
                      <asvg:svgBlip xmlns:asvg="http://schemas.microsoft.com/office/drawing/2016/SVG/main" r:embed="rId1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628882" y="2327910"/>
                  <a:ext cx="914400" cy="914400"/>
                </a:xfrm>
                <a:prstGeom prst="rect">
                  <a:avLst/>
                </a:prstGeom>
              </p:spPr>
            </p:pic>
            <p:pic>
              <p:nvPicPr>
                <p:cNvPr id="30" name="Graphic 29" descr="Document outline">
                  <a:extLst>
                    <a:ext uri="{FF2B5EF4-FFF2-40B4-BE49-F238E27FC236}">
                      <a16:creationId xmlns:a16="http://schemas.microsoft.com/office/drawing/2014/main" id="{AB3CFA11-A1E6-C051-1E97-3276437D30B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>
                  <a:extLst>
                    <a:ext uri="{96DAC541-7B7A-43D3-8B79-37D633B846F1}">
                      <asvg:svgBlip xmlns:asvg="http://schemas.microsoft.com/office/drawing/2016/SVG/main" r:embed="rId1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733539" y="2616835"/>
                  <a:ext cx="914400" cy="914400"/>
                </a:xfrm>
                <a:prstGeom prst="rect">
                  <a:avLst/>
                </a:prstGeom>
              </p:spPr>
            </p:pic>
          </p:grpSp>
        </p:grp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30AE0C7B-F2FC-4681-AF06-4912D8BF09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96478" y="3447582"/>
              <a:ext cx="768096" cy="297307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2F0E080A-EA8E-5B02-DD5D-704956183D8B}"/>
                </a:ext>
              </a:extLst>
            </p:cNvPr>
            <p:cNvCxnSpPr>
              <a:cxnSpLocks/>
            </p:cNvCxnSpPr>
            <p:nvPr/>
          </p:nvCxnSpPr>
          <p:spPr>
            <a:xfrm>
              <a:off x="2633017" y="3447582"/>
              <a:ext cx="614536" cy="658754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E7A0EA4D-26EE-61D0-8FE4-35B5D986A844}"/>
                </a:ext>
              </a:extLst>
            </p:cNvPr>
            <p:cNvCxnSpPr>
              <a:cxnSpLocks/>
              <a:endCxn id="51" idx="1"/>
            </p:cNvCxnSpPr>
            <p:nvPr/>
          </p:nvCxnSpPr>
          <p:spPr>
            <a:xfrm>
              <a:off x="5776836" y="3107558"/>
              <a:ext cx="475664" cy="1166999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761524B-7C40-F71C-65B5-396BB497ED57}"/>
                </a:ext>
              </a:extLst>
            </p:cNvPr>
            <p:cNvSpPr txBox="1"/>
            <p:nvPr/>
          </p:nvSpPr>
          <p:spPr>
            <a:xfrm rot="20216987">
              <a:off x="368687" y="3893343"/>
              <a:ext cx="17748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>
                  <a:solidFill>
                    <a:schemeClr val="accent1"/>
                  </a:solidFill>
                </a:rPr>
                <a:t>PySceneDetect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5D05D51-71D7-B6A6-8F83-5C989BDA6BB6}"/>
                </a:ext>
              </a:extLst>
            </p:cNvPr>
            <p:cNvSpPr txBox="1"/>
            <p:nvPr/>
          </p:nvSpPr>
          <p:spPr>
            <a:xfrm rot="18874945">
              <a:off x="3412191" y="3044375"/>
              <a:ext cx="18091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>
                  <a:solidFill>
                    <a:schemeClr val="accent1"/>
                  </a:solidFill>
                </a:rPr>
                <a:t>VideoChat R1.5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032176F-D334-71DA-99FD-D8B844C02D6E}"/>
                </a:ext>
              </a:extLst>
            </p:cNvPr>
            <p:cNvSpPr txBox="1"/>
            <p:nvPr/>
          </p:nvSpPr>
          <p:spPr>
            <a:xfrm rot="4179055">
              <a:off x="5368384" y="3663746"/>
              <a:ext cx="9156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>
                  <a:solidFill>
                    <a:schemeClr val="accent1"/>
                  </a:solidFill>
                </a:rPr>
                <a:t>Qwen3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998ECCB-B99B-A611-E408-1047205307DC}"/>
                </a:ext>
              </a:extLst>
            </p:cNvPr>
            <p:cNvSpPr txBox="1"/>
            <p:nvPr/>
          </p:nvSpPr>
          <p:spPr>
            <a:xfrm rot="3637326">
              <a:off x="8158257" y="3863929"/>
              <a:ext cx="12234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>
                  <a:solidFill>
                    <a:schemeClr val="accent1"/>
                  </a:solidFill>
                </a:rPr>
                <a:t>MusicGen</a:t>
              </a: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35BFE579-34F3-50AD-D07A-13C6FC304496}"/>
                </a:ext>
              </a:extLst>
            </p:cNvPr>
            <p:cNvCxnSpPr>
              <a:cxnSpLocks/>
            </p:cNvCxnSpPr>
            <p:nvPr/>
          </p:nvCxnSpPr>
          <p:spPr>
            <a:xfrm>
              <a:off x="8585458" y="3233013"/>
              <a:ext cx="527643" cy="1010584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FFD82DE9-8913-F25A-9018-F3A92B9128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44238" y="3233013"/>
              <a:ext cx="742906" cy="1052003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696D4E16-0095-9C54-F295-2460DF59125B}"/>
                </a:ext>
              </a:extLst>
            </p:cNvPr>
            <p:cNvGrpSpPr/>
            <p:nvPr/>
          </p:nvGrpSpPr>
          <p:grpSpPr>
            <a:xfrm>
              <a:off x="3133611" y="3757359"/>
              <a:ext cx="1287532" cy="1824313"/>
              <a:chOff x="1820713" y="1884045"/>
              <a:chExt cx="1320254" cy="1870676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0B45F7AA-8A55-0E25-C5CB-B6A50DFCF83C}"/>
                  </a:ext>
                </a:extLst>
              </p:cNvPr>
              <p:cNvGrpSpPr/>
              <p:nvPr/>
            </p:nvGrpSpPr>
            <p:grpSpPr>
              <a:xfrm>
                <a:off x="1820713" y="1884045"/>
                <a:ext cx="1111068" cy="1600200"/>
                <a:chOff x="1832480" y="1884045"/>
                <a:chExt cx="1111068" cy="1600200"/>
              </a:xfrm>
            </p:grpSpPr>
            <p:pic>
              <p:nvPicPr>
                <p:cNvPr id="43" name="Graphic 42" descr="Film strip outline">
                  <a:extLst>
                    <a:ext uri="{FF2B5EF4-FFF2-40B4-BE49-F238E27FC236}">
                      <a16:creationId xmlns:a16="http://schemas.microsoft.com/office/drawing/2014/main" id="{3DE7B584-91AE-056A-9A02-F4D6B333548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>
                  <a:extLst>
                    <a:ext uri="{96DAC541-7B7A-43D3-8B79-37D633B846F1}">
                      <asvg:svgBlip xmlns:asvg="http://schemas.microsoft.com/office/drawing/2016/SVG/main" r:embed="rId1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832480" y="1884045"/>
                  <a:ext cx="914400" cy="914400"/>
                </a:xfrm>
                <a:prstGeom prst="rect">
                  <a:avLst/>
                </a:prstGeom>
              </p:spPr>
            </p:pic>
            <p:pic>
              <p:nvPicPr>
                <p:cNvPr id="44" name="Graphic 43" descr="Film strip outline">
                  <a:extLst>
                    <a:ext uri="{FF2B5EF4-FFF2-40B4-BE49-F238E27FC236}">
                      <a16:creationId xmlns:a16="http://schemas.microsoft.com/office/drawing/2014/main" id="{D34700A0-1150-5148-E695-7AAAA5C4F0A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0">
                  <a:extLst>
                    <a:ext uri="{96DAC541-7B7A-43D3-8B79-37D633B846F1}">
                      <asvg:svgBlip xmlns:asvg="http://schemas.microsoft.com/office/drawing/2016/SVG/main" r:embed="rId21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930814" y="2226945"/>
                  <a:ext cx="914400" cy="914400"/>
                </a:xfrm>
                <a:prstGeom prst="rect">
                  <a:avLst/>
                </a:prstGeom>
              </p:spPr>
            </p:pic>
            <p:pic>
              <p:nvPicPr>
                <p:cNvPr id="45" name="Graphic 44" descr="Film strip outline">
                  <a:extLst>
                    <a:ext uri="{FF2B5EF4-FFF2-40B4-BE49-F238E27FC236}">
                      <a16:creationId xmlns:a16="http://schemas.microsoft.com/office/drawing/2014/main" id="{4F79DD11-452B-016C-22D6-4FCB68BF905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029148" y="2569845"/>
                  <a:ext cx="914400" cy="914400"/>
                </a:xfrm>
                <a:prstGeom prst="rect">
                  <a:avLst/>
                </a:prstGeom>
              </p:spPr>
            </p:pic>
          </p:grp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4828C68-691D-D7E1-1A4F-95AA46464489}"/>
                  </a:ext>
                </a:extLst>
              </p:cNvPr>
              <p:cNvSpPr txBox="1"/>
              <p:nvPr/>
            </p:nvSpPr>
            <p:spPr>
              <a:xfrm>
                <a:off x="1820713" y="3376003"/>
                <a:ext cx="1320254" cy="3787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vi-VN" b="1">
                    <a:solidFill>
                      <a:schemeClr val="accent1"/>
                    </a:solidFill>
                  </a:rPr>
                  <a:t>Segments</a:t>
                </a:r>
              </a:p>
            </p:txBody>
          </p:sp>
        </p:grp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4DBD1980-ED79-FA29-46C6-77B62C0611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93405" y="3110477"/>
              <a:ext cx="1019580" cy="998540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B9CDCC28-C047-A821-D7BA-A515699DA0FD}"/>
                </a:ext>
              </a:extLst>
            </p:cNvPr>
            <p:cNvSpPr txBox="1"/>
            <p:nvPr/>
          </p:nvSpPr>
          <p:spPr>
            <a:xfrm rot="2877347">
              <a:off x="2275699" y="4145516"/>
              <a:ext cx="12234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>
                  <a:solidFill>
                    <a:schemeClr val="accent1"/>
                  </a:solidFill>
                </a:rPr>
                <a:t>Clustering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C8B8CFC8-EE6E-DF4A-BCA1-30889DB6D080}"/>
                </a:ext>
              </a:extLst>
            </p:cNvPr>
            <p:cNvSpPr txBox="1"/>
            <p:nvPr/>
          </p:nvSpPr>
          <p:spPr>
            <a:xfrm rot="18363974">
              <a:off x="7144137" y="3806380"/>
              <a:ext cx="9156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>
                  <a:solidFill>
                    <a:schemeClr val="accent1"/>
                  </a:solidFill>
                </a:rPr>
                <a:t>Qwen3</a:t>
              </a:r>
            </a:p>
          </p:txBody>
        </p: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8DD8FDD7-A842-19E2-43C2-F7DAD81524DC}"/>
                </a:ext>
              </a:extLst>
            </p:cNvPr>
            <p:cNvGrpSpPr/>
            <p:nvPr/>
          </p:nvGrpSpPr>
          <p:grpSpPr>
            <a:xfrm>
              <a:off x="5923901" y="3828688"/>
              <a:ext cx="1800494" cy="2117653"/>
              <a:chOff x="6066770" y="1912065"/>
              <a:chExt cx="1846250" cy="2171470"/>
            </a:xfrm>
          </p:grpSpPr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435842D-A063-7C97-A2F2-6BD6AB289913}"/>
                  </a:ext>
                </a:extLst>
              </p:cNvPr>
              <p:cNvSpPr txBox="1"/>
              <p:nvPr/>
            </p:nvSpPr>
            <p:spPr>
              <a:xfrm>
                <a:off x="6066770" y="3420778"/>
                <a:ext cx="1846250" cy="6627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vi-VN" b="1">
                    <a:solidFill>
                      <a:schemeClr val="accent1"/>
                    </a:solidFill>
                  </a:rPr>
                  <a:t>Music features</a:t>
                </a:r>
              </a:p>
              <a:p>
                <a:pPr algn="ctr"/>
                <a:r>
                  <a:rPr lang="vi-VN" b="1">
                    <a:solidFill>
                      <a:schemeClr val="accent1"/>
                    </a:solidFill>
                  </a:rPr>
                  <a:t>suggestion</a:t>
                </a:r>
              </a:p>
            </p:txBody>
          </p:sp>
          <p:pic>
            <p:nvPicPr>
              <p:cNvPr id="51" name="Graphic 50" descr="Soundwave with solid fill">
                <a:extLst>
                  <a:ext uri="{FF2B5EF4-FFF2-40B4-BE49-F238E27FC236}">
                    <a16:creationId xmlns:a16="http://schemas.microsoft.com/office/drawing/2014/main" id="{87B06DE4-AC78-12FF-2828-0E5FFD7483E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/>
              </a:stretch>
            </p:blipFill>
            <p:spPr>
              <a:xfrm>
                <a:off x="6403721" y="1912065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52" name="Graphic 51" descr="Soundwave with solid fill">
                <a:extLst>
                  <a:ext uri="{FF2B5EF4-FFF2-40B4-BE49-F238E27FC236}">
                    <a16:creationId xmlns:a16="http://schemas.microsoft.com/office/drawing/2014/main" id="{55E36D7B-BD10-909A-BA13-7FFDBCC9E8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>
                <a:extLst>
                  <a:ext uri="{96DAC541-7B7A-43D3-8B79-37D633B846F1}">
                    <asvg:svgBlip xmlns:asvg="http://schemas.microsoft.com/office/drawing/2016/SVG/main" r:embed="rId25"/>
                  </a:ext>
                </a:extLst>
              </a:blip>
              <a:stretch>
                <a:fillRect/>
              </a:stretch>
            </p:blipFill>
            <p:spPr>
              <a:xfrm>
                <a:off x="6468208" y="2261281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53" name="Graphic 52" descr="Soundwave with solid fill">
                <a:extLst>
                  <a:ext uri="{FF2B5EF4-FFF2-40B4-BE49-F238E27FC236}">
                    <a16:creationId xmlns:a16="http://schemas.microsoft.com/office/drawing/2014/main" id="{E2337EBC-A398-D55E-4C33-FE77323B45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>
                <a:extLs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tretch>
                <a:fillRect/>
              </a:stretch>
            </p:blipFill>
            <p:spPr>
              <a:xfrm>
                <a:off x="6532696" y="2610496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2016371B-3E78-E099-ADFB-7ED9AFF47D25}"/>
                </a:ext>
              </a:extLst>
            </p:cNvPr>
            <p:cNvGrpSpPr/>
            <p:nvPr/>
          </p:nvGrpSpPr>
          <p:grpSpPr>
            <a:xfrm>
              <a:off x="7324335" y="1553452"/>
              <a:ext cx="1488196" cy="1948422"/>
              <a:chOff x="7828303" y="1262596"/>
              <a:chExt cx="1526017" cy="1997938"/>
            </a:xfrm>
          </p:grpSpPr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80F49E91-C0E5-CFD4-FFD2-7C26B80E3B99}"/>
                  </a:ext>
                </a:extLst>
              </p:cNvPr>
              <p:cNvSpPr txBox="1"/>
              <p:nvPr/>
            </p:nvSpPr>
            <p:spPr>
              <a:xfrm>
                <a:off x="7828303" y="1262596"/>
                <a:ext cx="1526017" cy="6627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vi-VN" b="1">
                    <a:solidFill>
                      <a:schemeClr val="accent1"/>
                    </a:solidFill>
                  </a:rPr>
                  <a:t>NL Prompt Generation</a:t>
                </a:r>
              </a:p>
            </p:txBody>
          </p:sp>
          <p:pic>
            <p:nvPicPr>
              <p:cNvPr id="56" name="Graphic 55" descr="Typewriter outline">
                <a:extLst>
                  <a:ext uri="{FF2B5EF4-FFF2-40B4-BE49-F238E27FC236}">
                    <a16:creationId xmlns:a16="http://schemas.microsoft.com/office/drawing/2014/main" id="{8E25871E-26F2-5C34-3D5F-8C54A572D6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8">
                <a:extLst>
                  <a:ext uri="{96DAC541-7B7A-43D3-8B79-37D633B846F1}">
                    <asvg:svgBlip xmlns:asvg="http://schemas.microsoft.com/office/drawing/2016/SVG/main" r:embed="rId29"/>
                  </a:ext>
                </a:extLst>
              </a:blip>
              <a:srcRect/>
              <a:stretch/>
            </p:blipFill>
            <p:spPr>
              <a:xfrm>
                <a:off x="8072373" y="1888934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57" name="Graphic 56" descr="Typewriter outline">
                <a:extLst>
                  <a:ext uri="{FF2B5EF4-FFF2-40B4-BE49-F238E27FC236}">
                    <a16:creationId xmlns:a16="http://schemas.microsoft.com/office/drawing/2014/main" id="{6A5BC083-E20D-EA6C-30BB-0B6E0A4AB1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0">
                <a:extLst>
                  <a:ext uri="{96DAC541-7B7A-43D3-8B79-37D633B846F1}">
                    <asvg:svgBlip xmlns:asvg="http://schemas.microsoft.com/office/drawing/2016/SVG/main" r:embed="rId31"/>
                  </a:ext>
                </a:extLst>
              </a:blip>
              <a:srcRect/>
              <a:stretch/>
            </p:blipFill>
            <p:spPr>
              <a:xfrm>
                <a:off x="8164429" y="2117534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58" name="Graphic 57" descr="Typewriter outline">
                <a:extLst>
                  <a:ext uri="{FF2B5EF4-FFF2-40B4-BE49-F238E27FC236}">
                    <a16:creationId xmlns:a16="http://schemas.microsoft.com/office/drawing/2014/main" id="{5E6E7BC5-A165-0020-2EC4-4641D72488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2">
                <a:extLst>
                  <a:ext uri="{96DAC541-7B7A-43D3-8B79-37D633B846F1}">
                    <asvg:svgBlip xmlns:asvg="http://schemas.microsoft.com/office/drawing/2016/SVG/main" r:embed="rId33"/>
                  </a:ext>
                </a:extLst>
              </a:blip>
              <a:srcRect/>
              <a:stretch/>
            </p:blipFill>
            <p:spPr>
              <a:xfrm>
                <a:off x="8256485" y="2346134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01568C98-02CA-C18C-F307-CC5FE6E2FCE8}"/>
                </a:ext>
              </a:extLst>
            </p:cNvPr>
            <p:cNvGrpSpPr/>
            <p:nvPr/>
          </p:nvGrpSpPr>
          <p:grpSpPr>
            <a:xfrm>
              <a:off x="8812532" y="4002940"/>
              <a:ext cx="2082621" cy="1351709"/>
              <a:chOff x="9521665" y="2003868"/>
              <a:chExt cx="2135548" cy="1386061"/>
            </a:xfrm>
          </p:grpSpPr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7CD7E701-283F-659F-BC7A-E1EB905739B6}"/>
                  </a:ext>
                </a:extLst>
              </p:cNvPr>
              <p:cNvSpPr txBox="1"/>
              <p:nvPr/>
            </p:nvSpPr>
            <p:spPr>
              <a:xfrm>
                <a:off x="9521665" y="3011211"/>
                <a:ext cx="2135548" cy="3787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vi-VN" b="1">
                    <a:solidFill>
                      <a:schemeClr val="accent1"/>
                    </a:solidFill>
                  </a:rPr>
                  <a:t>Music generation</a:t>
                </a:r>
              </a:p>
            </p:txBody>
          </p:sp>
          <p:pic>
            <p:nvPicPr>
              <p:cNvPr id="61" name="Graphic 60" descr="Music notation with solid fill">
                <a:extLst>
                  <a:ext uri="{FF2B5EF4-FFF2-40B4-BE49-F238E27FC236}">
                    <a16:creationId xmlns:a16="http://schemas.microsoft.com/office/drawing/2014/main" id="{D6B2073C-82DE-991A-77B9-B04BF26787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4">
                <a:extLst>
                  <a:ext uri="{96DAC541-7B7A-43D3-8B79-37D633B846F1}">
                    <asvg:svgBlip xmlns:asvg="http://schemas.microsoft.com/office/drawing/2016/SVG/main" r:embed="rId35"/>
                  </a:ext>
                </a:extLst>
              </a:blip>
              <a:srcRect/>
              <a:stretch/>
            </p:blipFill>
            <p:spPr>
              <a:xfrm>
                <a:off x="9958846" y="2003868"/>
                <a:ext cx="743347" cy="743347"/>
              </a:xfrm>
              <a:prstGeom prst="rect">
                <a:avLst/>
              </a:prstGeom>
            </p:spPr>
          </p:pic>
          <p:pic>
            <p:nvPicPr>
              <p:cNvPr id="62" name="Graphic 61" descr="Music notation with solid fill">
                <a:extLst>
                  <a:ext uri="{FF2B5EF4-FFF2-40B4-BE49-F238E27FC236}">
                    <a16:creationId xmlns:a16="http://schemas.microsoft.com/office/drawing/2014/main" id="{65EB73BE-6731-5607-991F-CBC13E74FD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6">
                <a:extLst>
                  <a:ext uri="{96DAC541-7B7A-43D3-8B79-37D633B846F1}">
                    <asvg:svgBlip xmlns:asvg="http://schemas.microsoft.com/office/drawing/2016/SVG/main" r:embed="rId37"/>
                  </a:ext>
                </a:extLst>
              </a:blip>
              <a:srcRect/>
              <a:stretch/>
            </p:blipFill>
            <p:spPr>
              <a:xfrm>
                <a:off x="10063635" y="2242654"/>
                <a:ext cx="743347" cy="743347"/>
              </a:xfrm>
              <a:prstGeom prst="rect">
                <a:avLst/>
              </a:prstGeom>
            </p:spPr>
          </p:pic>
          <p:pic>
            <p:nvPicPr>
              <p:cNvPr id="63" name="Graphic 62" descr="Music notation with solid fill">
                <a:extLst>
                  <a:ext uri="{FF2B5EF4-FFF2-40B4-BE49-F238E27FC236}">
                    <a16:creationId xmlns:a16="http://schemas.microsoft.com/office/drawing/2014/main" id="{40A5627F-4089-B181-449E-B4753AD3EA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8">
                <a:extLst>
                  <a:ext uri="{96DAC541-7B7A-43D3-8B79-37D633B846F1}">
                    <asvg:svgBlip xmlns:asvg="http://schemas.microsoft.com/office/drawing/2016/SVG/main" r:embed="rId39"/>
                  </a:ext>
                </a:extLst>
              </a:blip>
              <a:srcRect/>
              <a:stretch/>
            </p:blipFill>
            <p:spPr>
              <a:xfrm>
                <a:off x="10168425" y="2481440"/>
                <a:ext cx="743347" cy="743347"/>
              </a:xfrm>
              <a:prstGeom prst="rect">
                <a:avLst/>
              </a:prstGeom>
            </p:spPr>
          </p:pic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69A1A4BA-66F5-085F-406F-F35E4525B449}"/>
                </a:ext>
              </a:extLst>
            </p:cNvPr>
            <p:cNvGrpSpPr/>
            <p:nvPr/>
          </p:nvGrpSpPr>
          <p:grpSpPr>
            <a:xfrm>
              <a:off x="10202802" y="2368280"/>
              <a:ext cx="2052806" cy="1211836"/>
              <a:chOff x="-271401" y="2186367"/>
              <a:chExt cx="2104975" cy="1242633"/>
            </a:xfrm>
          </p:grpSpPr>
          <p:pic>
            <p:nvPicPr>
              <p:cNvPr id="65" name="Graphic 64" descr="Film strip outline">
                <a:extLst>
                  <a:ext uri="{FF2B5EF4-FFF2-40B4-BE49-F238E27FC236}">
                    <a16:creationId xmlns:a16="http://schemas.microsoft.com/office/drawing/2014/main" id="{14FE8E93-B4CA-97D8-B9DB-A3028E0490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52400" y="2514600"/>
                <a:ext cx="914400" cy="914400"/>
              </a:xfrm>
              <a:prstGeom prst="rect">
                <a:avLst/>
              </a:prstGeom>
            </p:spPr>
          </p:pic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86DFDF29-4CA7-BFCC-5F68-795270825A82}"/>
                  </a:ext>
                </a:extLst>
              </p:cNvPr>
              <p:cNvSpPr txBox="1"/>
              <p:nvPr/>
            </p:nvSpPr>
            <p:spPr>
              <a:xfrm>
                <a:off x="-271401" y="2186367"/>
                <a:ext cx="2104975" cy="3787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vi-VN" b="1">
                    <a:solidFill>
                      <a:schemeClr val="accent1"/>
                    </a:solidFill>
                  </a:rPr>
                  <a:t>Video with Music</a:t>
                </a:r>
              </a:p>
            </p:txBody>
          </p:sp>
        </p:grp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67BB6CBF-2544-EEC1-91E5-5AEF97901C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68188" y="3302266"/>
              <a:ext cx="490960" cy="1027359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78F87CFB-CA72-5904-DE9E-65DC365F7D85}"/>
                </a:ext>
              </a:extLst>
            </p:cNvPr>
            <p:cNvSpPr txBox="1"/>
            <p:nvPr/>
          </p:nvSpPr>
          <p:spPr>
            <a:xfrm rot="17777480">
              <a:off x="10103412" y="3795639"/>
              <a:ext cx="9412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>
                  <a:solidFill>
                    <a:schemeClr val="accent1"/>
                  </a:solidFill>
                </a:rPr>
                <a:t>Render</a:t>
              </a:r>
            </a:p>
          </p:txBody>
        </p:sp>
      </p:grpSp>
      <p:sp>
        <p:nvSpPr>
          <p:cNvPr id="70" name="Text Box 4">
            <a:extLst>
              <a:ext uri="{FF2B5EF4-FFF2-40B4-BE49-F238E27FC236}">
                <a16:creationId xmlns:a16="http://schemas.microsoft.com/office/drawing/2014/main" id="{60DF7ED1-0FF9-CB74-F9D5-7D4A7489B20F}"/>
              </a:ext>
            </a:extLst>
          </p:cNvPr>
          <p:cNvSpPr txBox="1"/>
          <p:nvPr/>
        </p:nvSpPr>
        <p:spPr>
          <a:xfrm>
            <a:off x="93345" y="1112520"/>
            <a:ext cx="3574888" cy="55399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rPr 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PROPOSED PIPELINE</a:t>
            </a:r>
            <a:endParaRPr lang="en-US" dirty="0">
              <a:solidFill>
                <a:schemeClr val="accent1">
                  <a:lumMod val="75000"/>
                </a:schemeClr>
              </a:solidFill>
              <a:sym typeface="+mn-ea"/>
            </a:endParaRP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99B071AE-7BEC-CDDC-6E87-9077D717EC28}"/>
              </a:ext>
            </a:extLst>
          </p:cNvPr>
          <p:cNvCxnSpPr>
            <a:cxnSpLocks/>
          </p:cNvCxnSpPr>
          <p:nvPr/>
        </p:nvCxnSpPr>
        <p:spPr>
          <a:xfrm>
            <a:off x="264699" y="1665605"/>
            <a:ext cx="3014753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40BC2DD4-55DC-1B1B-3340-608AC94394C2}"/>
              </a:ext>
            </a:extLst>
          </p:cNvPr>
          <p:cNvCxnSpPr>
            <a:cxnSpLocks/>
          </p:cNvCxnSpPr>
          <p:nvPr/>
        </p:nvCxnSpPr>
        <p:spPr>
          <a:xfrm>
            <a:off x="5764594" y="3512654"/>
            <a:ext cx="1959801" cy="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>
            <p:custDataLst>
              <p:tags r:id="rId1"/>
            </p:custDataLst>
          </p:nvPr>
        </p:nvSpPr>
        <p:spPr>
          <a:xfrm>
            <a:off x="0" y="1113734"/>
            <a:ext cx="2761333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3000" b="1">
                <a:solidFill>
                  <a:srgbClr val="FFFFFF"/>
                </a:solidFill>
              </a:defRPr>
            </a:pPr>
            <a:r>
              <a:rPr lang="en-US">
                <a:solidFill>
                  <a:schemeClr val="accent1">
                    <a:lumMod val="75000"/>
                  </a:schemeClr>
                </a:solidFill>
              </a:rPr>
              <a:t>Scene clustering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AA22E15-7B5A-D809-DFDC-147E9AD93B14}"/>
              </a:ext>
            </a:extLst>
          </p:cNvPr>
          <p:cNvGrpSpPr/>
          <p:nvPr/>
        </p:nvGrpSpPr>
        <p:grpSpPr>
          <a:xfrm>
            <a:off x="487680" y="86082"/>
            <a:ext cx="11094720" cy="822960"/>
            <a:chOff x="864" y="1008"/>
            <a:chExt cx="17472" cy="1296"/>
          </a:xfrm>
        </p:grpSpPr>
        <p:sp>
          <p:nvSpPr>
            <p:cNvPr id="8" name="Chevron 22">
              <a:extLst>
                <a:ext uri="{FF2B5EF4-FFF2-40B4-BE49-F238E27FC236}">
                  <a16:creationId xmlns:a16="http://schemas.microsoft.com/office/drawing/2014/main" id="{55ADA732-D273-17AF-EDBF-41F1D27ABF92}"/>
                </a:ext>
              </a:extLst>
            </p:cNvPr>
            <p:cNvSpPr/>
            <p:nvPr/>
          </p:nvSpPr>
          <p:spPr>
            <a:xfrm>
              <a:off x="864" y="1008"/>
              <a:ext cx="17472" cy="1296"/>
            </a:xfrm>
            <a:prstGeom prst="chevron">
              <a:avLst/>
            </a:prstGeom>
            <a:solidFill>
              <a:srgbClr val="106BC6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4">
              <a:extLst>
                <a:ext uri="{FF2B5EF4-FFF2-40B4-BE49-F238E27FC236}">
                  <a16:creationId xmlns:a16="http://schemas.microsoft.com/office/drawing/2014/main" id="{3D475B31-8203-CAE6-2C03-2ACC229B6DC8}"/>
                </a:ext>
              </a:extLst>
            </p:cNvPr>
            <p:cNvSpPr/>
            <p:nvPr/>
          </p:nvSpPr>
          <p:spPr>
            <a:xfrm>
              <a:off x="17328" y="1037"/>
              <a:ext cx="864" cy="1267"/>
            </a:xfrm>
            <a:prstGeom prst="rect">
              <a:avLst/>
            </a:prstGeom>
            <a:solidFill>
              <a:srgbClr val="002864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5">
              <a:extLst>
                <a:ext uri="{FF2B5EF4-FFF2-40B4-BE49-F238E27FC236}">
                  <a16:creationId xmlns:a16="http://schemas.microsoft.com/office/drawing/2014/main" id="{38C319AB-CE4C-A258-7ED5-1C535B887B6A}"/>
                </a:ext>
              </a:extLst>
            </p:cNvPr>
            <p:cNvSpPr txBox="1"/>
            <p:nvPr/>
          </p:nvSpPr>
          <p:spPr>
            <a:xfrm>
              <a:off x="5693" y="1195"/>
              <a:ext cx="7813" cy="92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>
                <a:defRPr sz="4000" b="1">
                  <a:solidFill>
                    <a:srgbClr val="122B5E"/>
                  </a:solidFill>
                </a:defRPr>
              </a:pPr>
              <a:r>
                <a:rPr lang="en-US" sz="3200">
                  <a:solidFill>
                    <a:schemeClr val="bg1"/>
                  </a:solidFill>
                  <a:sym typeface="+mn-ea"/>
                </a:rPr>
                <a:t>2 - PROPOSED APPROACHES</a:t>
              </a:r>
            </a:p>
          </p:txBody>
        </p:sp>
      </p:grpSp>
      <p:grpSp>
        <p:nvGrpSpPr>
          <p:cNvPr id="1183" name="Group 1182">
            <a:extLst>
              <a:ext uri="{FF2B5EF4-FFF2-40B4-BE49-F238E27FC236}">
                <a16:creationId xmlns:a16="http://schemas.microsoft.com/office/drawing/2014/main" id="{99357BC2-D94B-B367-DF77-EE53FAF506E4}"/>
              </a:ext>
            </a:extLst>
          </p:cNvPr>
          <p:cNvGrpSpPr/>
          <p:nvPr/>
        </p:nvGrpSpPr>
        <p:grpSpPr>
          <a:xfrm>
            <a:off x="707982" y="1731676"/>
            <a:ext cx="10508658" cy="4391526"/>
            <a:chOff x="223086" y="2213248"/>
            <a:chExt cx="9172374" cy="3833098"/>
          </a:xfrm>
        </p:grpSpPr>
        <p:sp>
          <p:nvSpPr>
            <p:cNvPr id="1184" name="Rectangle 1183">
              <a:extLst>
                <a:ext uri="{FF2B5EF4-FFF2-40B4-BE49-F238E27FC236}">
                  <a16:creationId xmlns:a16="http://schemas.microsoft.com/office/drawing/2014/main" id="{A159A13B-A8FC-0971-D4DB-42E73E644CED}"/>
                </a:ext>
              </a:extLst>
            </p:cNvPr>
            <p:cNvSpPr/>
            <p:nvPr/>
          </p:nvSpPr>
          <p:spPr>
            <a:xfrm>
              <a:off x="1959429" y="2764972"/>
              <a:ext cx="492223" cy="283029"/>
            </a:xfrm>
            <a:prstGeom prst="rect">
              <a:avLst/>
            </a:prstGeom>
            <a:solidFill>
              <a:srgbClr val="E97132">
                <a:lumMod val="40000"/>
                <a:lumOff val="60000"/>
              </a:srgbClr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vi-VN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5" name="Rectangle 1184">
              <a:extLst>
                <a:ext uri="{FF2B5EF4-FFF2-40B4-BE49-F238E27FC236}">
                  <a16:creationId xmlns:a16="http://schemas.microsoft.com/office/drawing/2014/main" id="{A9579D6C-8E59-27D3-061A-108FFAA7498F}"/>
                </a:ext>
              </a:extLst>
            </p:cNvPr>
            <p:cNvSpPr/>
            <p:nvPr/>
          </p:nvSpPr>
          <p:spPr>
            <a:xfrm>
              <a:off x="2486614" y="2764972"/>
              <a:ext cx="359730" cy="283029"/>
            </a:xfrm>
            <a:prstGeom prst="rect">
              <a:avLst/>
            </a:prstGeom>
            <a:solidFill>
              <a:srgbClr val="E97132">
                <a:lumMod val="60000"/>
                <a:lumOff val="40000"/>
              </a:srgbClr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vi-VN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6" name="Rectangle 1185">
              <a:extLst>
                <a:ext uri="{FF2B5EF4-FFF2-40B4-BE49-F238E27FC236}">
                  <a16:creationId xmlns:a16="http://schemas.microsoft.com/office/drawing/2014/main" id="{3360C9A4-A83D-92A2-B5DD-5729C47D737B}"/>
                </a:ext>
              </a:extLst>
            </p:cNvPr>
            <p:cNvSpPr/>
            <p:nvPr/>
          </p:nvSpPr>
          <p:spPr>
            <a:xfrm>
              <a:off x="2883673" y="2764972"/>
              <a:ext cx="291045" cy="283029"/>
            </a:xfrm>
            <a:prstGeom prst="rect">
              <a:avLst/>
            </a:prstGeom>
            <a:solidFill>
              <a:srgbClr val="E97132">
                <a:lumMod val="20000"/>
                <a:lumOff val="80000"/>
              </a:srgbClr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vi-VN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7" name="Rectangle 1186">
              <a:extLst>
                <a:ext uri="{FF2B5EF4-FFF2-40B4-BE49-F238E27FC236}">
                  <a16:creationId xmlns:a16="http://schemas.microsoft.com/office/drawing/2014/main" id="{FBB7F627-63C2-00D3-2A56-E8307D41FB82}"/>
                </a:ext>
              </a:extLst>
            </p:cNvPr>
            <p:cNvSpPr/>
            <p:nvPr/>
          </p:nvSpPr>
          <p:spPr>
            <a:xfrm>
              <a:off x="3208358" y="2764972"/>
              <a:ext cx="430689" cy="283029"/>
            </a:xfrm>
            <a:prstGeom prst="rect">
              <a:avLst/>
            </a:prstGeom>
            <a:solidFill>
              <a:srgbClr val="0F9ED5">
                <a:lumMod val="60000"/>
                <a:lumOff val="40000"/>
              </a:srgbClr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vi-VN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8" name="Rectangle 1187">
              <a:extLst>
                <a:ext uri="{FF2B5EF4-FFF2-40B4-BE49-F238E27FC236}">
                  <a16:creationId xmlns:a16="http://schemas.microsoft.com/office/drawing/2014/main" id="{F0398591-6386-516A-82EE-A8FBD559FC34}"/>
                </a:ext>
              </a:extLst>
            </p:cNvPr>
            <p:cNvSpPr/>
            <p:nvPr/>
          </p:nvSpPr>
          <p:spPr>
            <a:xfrm>
              <a:off x="3676376" y="2764972"/>
              <a:ext cx="254220" cy="283029"/>
            </a:xfrm>
            <a:prstGeom prst="rect">
              <a:avLst/>
            </a:prstGeom>
            <a:solidFill>
              <a:srgbClr val="0E2841">
                <a:lumMod val="50000"/>
                <a:lumOff val="50000"/>
              </a:srgbClr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vi-VN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9" name="Rectangle 1188">
              <a:extLst>
                <a:ext uri="{FF2B5EF4-FFF2-40B4-BE49-F238E27FC236}">
                  <a16:creationId xmlns:a16="http://schemas.microsoft.com/office/drawing/2014/main" id="{5CFE203C-043E-0D21-0CC2-818D5925375F}"/>
                </a:ext>
              </a:extLst>
            </p:cNvPr>
            <p:cNvSpPr/>
            <p:nvPr/>
          </p:nvSpPr>
          <p:spPr>
            <a:xfrm>
              <a:off x="3967925" y="2764972"/>
              <a:ext cx="326571" cy="283029"/>
            </a:xfrm>
            <a:prstGeom prst="rect">
              <a:avLst/>
            </a:prstGeom>
            <a:solidFill>
              <a:srgbClr val="156082">
                <a:lumMod val="60000"/>
                <a:lumOff val="40000"/>
              </a:srgbClr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vi-VN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0" name="Rectangle 1189">
              <a:extLst>
                <a:ext uri="{FF2B5EF4-FFF2-40B4-BE49-F238E27FC236}">
                  <a16:creationId xmlns:a16="http://schemas.microsoft.com/office/drawing/2014/main" id="{90B51CAA-959E-57FF-89DE-81EE10659352}"/>
                </a:ext>
              </a:extLst>
            </p:cNvPr>
            <p:cNvSpPr/>
            <p:nvPr/>
          </p:nvSpPr>
          <p:spPr>
            <a:xfrm>
              <a:off x="4331824" y="2764971"/>
              <a:ext cx="254221" cy="283029"/>
            </a:xfrm>
            <a:prstGeom prst="rect">
              <a:avLst/>
            </a:prstGeom>
            <a:solidFill>
              <a:srgbClr val="0F9ED5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vi-VN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1" name="Rectangle 1190">
              <a:extLst>
                <a:ext uri="{FF2B5EF4-FFF2-40B4-BE49-F238E27FC236}">
                  <a16:creationId xmlns:a16="http://schemas.microsoft.com/office/drawing/2014/main" id="{7E731A9B-4514-D5DA-D0F9-BFDA3C40C6C0}"/>
                </a:ext>
              </a:extLst>
            </p:cNvPr>
            <p:cNvSpPr/>
            <p:nvPr/>
          </p:nvSpPr>
          <p:spPr>
            <a:xfrm>
              <a:off x="4623373" y="2764971"/>
              <a:ext cx="566178" cy="283029"/>
            </a:xfrm>
            <a:prstGeom prst="rect">
              <a:avLst/>
            </a:prstGeom>
            <a:solidFill>
              <a:srgbClr val="196B24">
                <a:lumMod val="60000"/>
                <a:lumOff val="40000"/>
              </a:srgbClr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vi-VN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2" name="Rectangle 1191">
              <a:extLst>
                <a:ext uri="{FF2B5EF4-FFF2-40B4-BE49-F238E27FC236}">
                  <a16:creationId xmlns:a16="http://schemas.microsoft.com/office/drawing/2014/main" id="{B1A05B7C-E4AE-C9D5-A2D0-123AA31EFEA2}"/>
                </a:ext>
              </a:extLst>
            </p:cNvPr>
            <p:cNvSpPr/>
            <p:nvPr/>
          </p:nvSpPr>
          <p:spPr>
            <a:xfrm>
              <a:off x="5226880" y="2764971"/>
              <a:ext cx="163286" cy="283029"/>
            </a:xfrm>
            <a:prstGeom prst="rect">
              <a:avLst/>
            </a:prstGeom>
            <a:solidFill>
              <a:srgbClr val="196B24">
                <a:lumMod val="40000"/>
                <a:lumOff val="60000"/>
              </a:srgbClr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vi-VN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3" name="Rectangle 1192">
              <a:extLst>
                <a:ext uri="{FF2B5EF4-FFF2-40B4-BE49-F238E27FC236}">
                  <a16:creationId xmlns:a16="http://schemas.microsoft.com/office/drawing/2014/main" id="{49E3AB07-BCC5-CB5F-7F4D-62D97D9B9529}"/>
                </a:ext>
              </a:extLst>
            </p:cNvPr>
            <p:cNvSpPr/>
            <p:nvPr/>
          </p:nvSpPr>
          <p:spPr>
            <a:xfrm>
              <a:off x="5427495" y="2764971"/>
              <a:ext cx="326571" cy="283029"/>
            </a:xfrm>
            <a:prstGeom prst="rect">
              <a:avLst/>
            </a:prstGeom>
            <a:solidFill>
              <a:srgbClr val="4EA72E">
                <a:lumMod val="60000"/>
                <a:lumOff val="40000"/>
              </a:srgbClr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vi-VN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4" name="Rectangle 1193">
              <a:extLst>
                <a:ext uri="{FF2B5EF4-FFF2-40B4-BE49-F238E27FC236}">
                  <a16:creationId xmlns:a16="http://schemas.microsoft.com/office/drawing/2014/main" id="{A54A9FB4-BFD3-0BCE-DA6B-A0D3C5D6700E}"/>
                </a:ext>
              </a:extLst>
            </p:cNvPr>
            <p:cNvSpPr/>
            <p:nvPr/>
          </p:nvSpPr>
          <p:spPr>
            <a:xfrm>
              <a:off x="5791395" y="2764971"/>
              <a:ext cx="450379" cy="283029"/>
            </a:xfrm>
            <a:prstGeom prst="rect">
              <a:avLst/>
            </a:prstGeom>
            <a:solidFill>
              <a:srgbClr val="4EA72E">
                <a:lumMod val="40000"/>
                <a:lumOff val="60000"/>
              </a:srgbClr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vi-VN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5" name="Rectangle 1194">
              <a:extLst>
                <a:ext uri="{FF2B5EF4-FFF2-40B4-BE49-F238E27FC236}">
                  <a16:creationId xmlns:a16="http://schemas.microsoft.com/office/drawing/2014/main" id="{182993A8-92A3-294E-2ECF-352B1DC6D2E0}"/>
                </a:ext>
              </a:extLst>
            </p:cNvPr>
            <p:cNvSpPr/>
            <p:nvPr/>
          </p:nvSpPr>
          <p:spPr>
            <a:xfrm>
              <a:off x="6284227" y="2764971"/>
              <a:ext cx="261721" cy="283029"/>
            </a:xfrm>
            <a:prstGeom prst="rect">
              <a:avLst/>
            </a:prstGeom>
            <a:solidFill>
              <a:srgbClr val="A02B93">
                <a:lumMod val="40000"/>
                <a:lumOff val="60000"/>
              </a:srgbClr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vi-VN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6" name="Rectangle 1195">
              <a:extLst>
                <a:ext uri="{FF2B5EF4-FFF2-40B4-BE49-F238E27FC236}">
                  <a16:creationId xmlns:a16="http://schemas.microsoft.com/office/drawing/2014/main" id="{451DEC91-BE51-74FF-933A-14F360411E7F}"/>
                </a:ext>
              </a:extLst>
            </p:cNvPr>
            <p:cNvSpPr/>
            <p:nvPr/>
          </p:nvSpPr>
          <p:spPr>
            <a:xfrm>
              <a:off x="6583276" y="2764971"/>
              <a:ext cx="326571" cy="283029"/>
            </a:xfrm>
            <a:prstGeom prst="rect">
              <a:avLst/>
            </a:prstGeom>
            <a:solidFill>
              <a:srgbClr val="A02B93">
                <a:lumMod val="60000"/>
                <a:lumOff val="40000"/>
              </a:srgbClr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vi-VN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7" name="Rectangle 1196">
              <a:extLst>
                <a:ext uri="{FF2B5EF4-FFF2-40B4-BE49-F238E27FC236}">
                  <a16:creationId xmlns:a16="http://schemas.microsoft.com/office/drawing/2014/main" id="{9DC382F4-931C-2CEE-A072-CCBD1ABB5D48}"/>
                </a:ext>
              </a:extLst>
            </p:cNvPr>
            <p:cNvSpPr/>
            <p:nvPr/>
          </p:nvSpPr>
          <p:spPr>
            <a:xfrm>
              <a:off x="6947090" y="2764971"/>
              <a:ext cx="349557" cy="283029"/>
            </a:xfrm>
            <a:prstGeom prst="rect">
              <a:avLst/>
            </a:prstGeom>
            <a:solidFill>
              <a:srgbClr val="A02B93">
                <a:lumMod val="20000"/>
                <a:lumOff val="80000"/>
              </a:srgbClr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vi-VN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8" name="Rectangle 1197">
              <a:extLst>
                <a:ext uri="{FF2B5EF4-FFF2-40B4-BE49-F238E27FC236}">
                  <a16:creationId xmlns:a16="http://schemas.microsoft.com/office/drawing/2014/main" id="{6EF35493-D14E-31AC-3104-1635607821AC}"/>
                </a:ext>
              </a:extLst>
            </p:cNvPr>
            <p:cNvSpPr/>
            <p:nvPr/>
          </p:nvSpPr>
          <p:spPr>
            <a:xfrm>
              <a:off x="7333975" y="2764971"/>
              <a:ext cx="248919" cy="283029"/>
            </a:xfrm>
            <a:prstGeom prst="rect">
              <a:avLst/>
            </a:prstGeom>
            <a:solidFill>
              <a:srgbClr val="0E2841">
                <a:lumMod val="50000"/>
                <a:lumOff val="50000"/>
              </a:srgbClr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vi-VN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9" name="Rectangle 1198">
              <a:extLst>
                <a:ext uri="{FF2B5EF4-FFF2-40B4-BE49-F238E27FC236}">
                  <a16:creationId xmlns:a16="http://schemas.microsoft.com/office/drawing/2014/main" id="{82E878EC-1BD1-F56E-F982-BA588DAE1656}"/>
                </a:ext>
              </a:extLst>
            </p:cNvPr>
            <p:cNvSpPr/>
            <p:nvPr/>
          </p:nvSpPr>
          <p:spPr>
            <a:xfrm>
              <a:off x="7628376" y="2764971"/>
              <a:ext cx="326571" cy="283029"/>
            </a:xfrm>
            <a:prstGeom prst="rect">
              <a:avLst/>
            </a:prstGeom>
            <a:solidFill>
              <a:srgbClr val="FF5050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vi-VN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0" name="Rectangle 1199">
              <a:extLst>
                <a:ext uri="{FF2B5EF4-FFF2-40B4-BE49-F238E27FC236}">
                  <a16:creationId xmlns:a16="http://schemas.microsoft.com/office/drawing/2014/main" id="{38E2ADE3-1738-B330-8E74-53FFDA926413}"/>
                </a:ext>
              </a:extLst>
            </p:cNvPr>
            <p:cNvSpPr/>
            <p:nvPr/>
          </p:nvSpPr>
          <p:spPr>
            <a:xfrm>
              <a:off x="8000430" y="2764970"/>
              <a:ext cx="183246" cy="283029"/>
            </a:xfrm>
            <a:prstGeom prst="rect">
              <a:avLst/>
            </a:prstGeom>
            <a:solidFill>
              <a:srgbClr val="FF2F2F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vi-VN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1" name="Rectangle 1200">
              <a:extLst>
                <a:ext uri="{FF2B5EF4-FFF2-40B4-BE49-F238E27FC236}">
                  <a16:creationId xmlns:a16="http://schemas.microsoft.com/office/drawing/2014/main" id="{154113FD-B681-0D22-42D5-86E94D02AD7D}"/>
                </a:ext>
              </a:extLst>
            </p:cNvPr>
            <p:cNvSpPr/>
            <p:nvPr/>
          </p:nvSpPr>
          <p:spPr>
            <a:xfrm>
              <a:off x="8226384" y="2764969"/>
              <a:ext cx="442119" cy="283029"/>
            </a:xfrm>
            <a:prstGeom prst="rect">
              <a:avLst/>
            </a:prstGeom>
            <a:solidFill>
              <a:srgbClr val="FF7575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vi-VN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2" name="Rectangle 1201">
              <a:extLst>
                <a:ext uri="{FF2B5EF4-FFF2-40B4-BE49-F238E27FC236}">
                  <a16:creationId xmlns:a16="http://schemas.microsoft.com/office/drawing/2014/main" id="{5821B0F9-649D-4CAC-E997-E9BA8F9E9C1D}"/>
                </a:ext>
              </a:extLst>
            </p:cNvPr>
            <p:cNvSpPr/>
            <p:nvPr/>
          </p:nvSpPr>
          <p:spPr>
            <a:xfrm>
              <a:off x="8718959" y="2764969"/>
              <a:ext cx="326571" cy="283029"/>
            </a:xfrm>
            <a:prstGeom prst="rect">
              <a:avLst/>
            </a:prstGeom>
            <a:solidFill>
              <a:srgbClr val="0E2841">
                <a:lumMod val="50000"/>
                <a:lumOff val="50000"/>
              </a:srgbClr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vi-VN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3" name="TextBox 1202">
              <a:extLst>
                <a:ext uri="{FF2B5EF4-FFF2-40B4-BE49-F238E27FC236}">
                  <a16:creationId xmlns:a16="http://schemas.microsoft.com/office/drawing/2014/main" id="{A5264C27-EFB7-8FE9-4657-9E1006E3DA80}"/>
                </a:ext>
              </a:extLst>
            </p:cNvPr>
            <p:cNvSpPr txBox="1"/>
            <p:nvPr/>
          </p:nvSpPr>
          <p:spPr>
            <a:xfrm>
              <a:off x="496871" y="2694058"/>
              <a:ext cx="1062246" cy="402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400" b="1" i="0" u="none" strike="noStrike" kern="0" cap="none" spc="0" normalizeH="0" baseline="0" noProof="0">
                  <a:ln>
                    <a:noFill/>
                  </a:ln>
                  <a:solidFill>
                    <a:srgbClr val="156082"/>
                  </a:solidFill>
                  <a:effectLst/>
                  <a:uLnTx/>
                  <a:uFillTx/>
                  <a:latin typeface="Aptos" panose="02110004020202020204"/>
                </a:rPr>
                <a:t>Scenes</a:t>
              </a:r>
              <a:endParaRPr kumimoji="0" lang="vi-VN" sz="2400" b="1" i="0" u="none" strike="noStrike" kern="0" cap="none" spc="0" normalizeH="0" baseline="0" noProof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</a:endParaRPr>
            </a:p>
          </p:txBody>
        </p:sp>
        <p:sp>
          <p:nvSpPr>
            <p:cNvPr id="1204" name="Rectangle 1203">
              <a:extLst>
                <a:ext uri="{FF2B5EF4-FFF2-40B4-BE49-F238E27FC236}">
                  <a16:creationId xmlns:a16="http://schemas.microsoft.com/office/drawing/2014/main" id="{14795747-EB36-09CC-79B5-B414580569DB}"/>
                </a:ext>
              </a:extLst>
            </p:cNvPr>
            <p:cNvSpPr/>
            <p:nvPr/>
          </p:nvSpPr>
          <p:spPr>
            <a:xfrm>
              <a:off x="1946244" y="5151483"/>
              <a:ext cx="1206221" cy="283029"/>
            </a:xfrm>
            <a:prstGeom prst="rect">
              <a:avLst/>
            </a:prstGeom>
            <a:solidFill>
              <a:srgbClr val="E97132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vi-VN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5" name="Rectangle 1204">
              <a:extLst>
                <a:ext uri="{FF2B5EF4-FFF2-40B4-BE49-F238E27FC236}">
                  <a16:creationId xmlns:a16="http://schemas.microsoft.com/office/drawing/2014/main" id="{ABF19B29-F1CF-3060-64A4-9812CA6B7702}"/>
                </a:ext>
              </a:extLst>
            </p:cNvPr>
            <p:cNvSpPr/>
            <p:nvPr/>
          </p:nvSpPr>
          <p:spPr>
            <a:xfrm>
              <a:off x="3195173" y="5151483"/>
              <a:ext cx="1372307" cy="283029"/>
            </a:xfrm>
            <a:prstGeom prst="rect">
              <a:avLst/>
            </a:prstGeom>
            <a:solidFill>
              <a:srgbClr val="0E2841">
                <a:lumMod val="50000"/>
                <a:lumOff val="50000"/>
              </a:srgbClr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vi-VN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6" name="Rectangle 1205">
              <a:extLst>
                <a:ext uri="{FF2B5EF4-FFF2-40B4-BE49-F238E27FC236}">
                  <a16:creationId xmlns:a16="http://schemas.microsoft.com/office/drawing/2014/main" id="{4E267514-729D-2A14-779A-3FA587F88F60}"/>
                </a:ext>
              </a:extLst>
            </p:cNvPr>
            <p:cNvSpPr/>
            <p:nvPr/>
          </p:nvSpPr>
          <p:spPr>
            <a:xfrm>
              <a:off x="4610188" y="5151482"/>
              <a:ext cx="1618146" cy="283029"/>
            </a:xfrm>
            <a:prstGeom prst="rect">
              <a:avLst/>
            </a:prstGeom>
            <a:solidFill>
              <a:srgbClr val="4EA72E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vi-VN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7" name="Rectangle 1206">
              <a:extLst>
                <a:ext uri="{FF2B5EF4-FFF2-40B4-BE49-F238E27FC236}">
                  <a16:creationId xmlns:a16="http://schemas.microsoft.com/office/drawing/2014/main" id="{3F3E61B7-8B63-CD42-3149-3A9B057CD1E8}"/>
                </a:ext>
              </a:extLst>
            </p:cNvPr>
            <p:cNvSpPr/>
            <p:nvPr/>
          </p:nvSpPr>
          <p:spPr>
            <a:xfrm>
              <a:off x="6278791" y="5151482"/>
              <a:ext cx="1004672" cy="283029"/>
            </a:xfrm>
            <a:prstGeom prst="rect">
              <a:avLst/>
            </a:prstGeom>
            <a:solidFill>
              <a:srgbClr val="A02B93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vi-VN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8" name="Rectangle 1207">
              <a:extLst>
                <a:ext uri="{FF2B5EF4-FFF2-40B4-BE49-F238E27FC236}">
                  <a16:creationId xmlns:a16="http://schemas.microsoft.com/office/drawing/2014/main" id="{469F386D-990E-248C-881E-5E25C05D4782}"/>
                </a:ext>
              </a:extLst>
            </p:cNvPr>
            <p:cNvSpPr/>
            <p:nvPr/>
          </p:nvSpPr>
          <p:spPr>
            <a:xfrm>
              <a:off x="7320790" y="5151482"/>
              <a:ext cx="248919" cy="283029"/>
            </a:xfrm>
            <a:prstGeom prst="rect">
              <a:avLst/>
            </a:prstGeom>
            <a:solidFill>
              <a:srgbClr val="0E2841">
                <a:lumMod val="50000"/>
                <a:lumOff val="50000"/>
              </a:srgbClr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vi-VN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9" name="Rectangle 1208">
              <a:extLst>
                <a:ext uri="{FF2B5EF4-FFF2-40B4-BE49-F238E27FC236}">
                  <a16:creationId xmlns:a16="http://schemas.microsoft.com/office/drawing/2014/main" id="{6AF47291-2538-D911-5A33-E3FB1F4B26F6}"/>
                </a:ext>
              </a:extLst>
            </p:cNvPr>
            <p:cNvSpPr/>
            <p:nvPr/>
          </p:nvSpPr>
          <p:spPr>
            <a:xfrm>
              <a:off x="7615191" y="5151482"/>
              <a:ext cx="1053312" cy="283029"/>
            </a:xfrm>
            <a:prstGeom prst="rect">
              <a:avLst/>
            </a:prstGeom>
            <a:solidFill>
              <a:srgbClr val="FF2F2F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vi-VN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0" name="Rectangle 1209">
              <a:extLst>
                <a:ext uri="{FF2B5EF4-FFF2-40B4-BE49-F238E27FC236}">
                  <a16:creationId xmlns:a16="http://schemas.microsoft.com/office/drawing/2014/main" id="{595882F5-4C20-5395-2BB4-650BD523C6C1}"/>
                </a:ext>
              </a:extLst>
            </p:cNvPr>
            <p:cNvSpPr/>
            <p:nvPr/>
          </p:nvSpPr>
          <p:spPr>
            <a:xfrm>
              <a:off x="8705774" y="5151480"/>
              <a:ext cx="326571" cy="283029"/>
            </a:xfrm>
            <a:prstGeom prst="rect">
              <a:avLst/>
            </a:prstGeom>
            <a:solidFill>
              <a:srgbClr val="0E2841">
                <a:lumMod val="50000"/>
                <a:lumOff val="50000"/>
              </a:srgbClr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vi-VN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1" name="TextBox 1210">
              <a:extLst>
                <a:ext uri="{FF2B5EF4-FFF2-40B4-BE49-F238E27FC236}">
                  <a16:creationId xmlns:a16="http://schemas.microsoft.com/office/drawing/2014/main" id="{E6D19751-6576-A0E2-0945-90B134F145F9}"/>
                </a:ext>
              </a:extLst>
            </p:cNvPr>
            <p:cNvSpPr txBox="1"/>
            <p:nvPr/>
          </p:nvSpPr>
          <p:spPr>
            <a:xfrm>
              <a:off x="321385" y="5080569"/>
              <a:ext cx="1386852" cy="402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400" b="1" i="0" u="none" strike="noStrike" kern="0" cap="none" spc="0" normalizeH="0" baseline="0" noProof="0">
                  <a:ln>
                    <a:noFill/>
                  </a:ln>
                  <a:solidFill>
                    <a:srgbClr val="156082"/>
                  </a:solidFill>
                  <a:effectLst/>
                  <a:uLnTx/>
                  <a:uFillTx/>
                  <a:latin typeface="Aptos" panose="02110004020202020204"/>
                </a:rPr>
                <a:t>Segments</a:t>
              </a:r>
              <a:endParaRPr kumimoji="0" lang="vi-VN" sz="2400" b="1" i="0" u="none" strike="noStrike" kern="0" cap="none" spc="0" normalizeH="0" baseline="0" noProof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</a:endParaRPr>
            </a:p>
          </p:txBody>
        </p:sp>
        <p:cxnSp>
          <p:nvCxnSpPr>
            <p:cNvPr id="1212" name="Straight Arrow Connector 1211">
              <a:extLst>
                <a:ext uri="{FF2B5EF4-FFF2-40B4-BE49-F238E27FC236}">
                  <a16:creationId xmlns:a16="http://schemas.microsoft.com/office/drawing/2014/main" id="{E9A8738E-2690-77F2-DABF-4516C281F361}"/>
                </a:ext>
              </a:extLst>
            </p:cNvPr>
            <p:cNvCxnSpPr/>
            <p:nvPr/>
          </p:nvCxnSpPr>
          <p:spPr>
            <a:xfrm>
              <a:off x="1752600" y="4053840"/>
              <a:ext cx="7642860" cy="0"/>
            </a:xfrm>
            <a:prstGeom prst="straightConnector1">
              <a:avLst/>
            </a:prstGeom>
            <a:noFill/>
            <a:ln w="381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1213" name="Oval 1212">
              <a:extLst>
                <a:ext uri="{FF2B5EF4-FFF2-40B4-BE49-F238E27FC236}">
                  <a16:creationId xmlns:a16="http://schemas.microsoft.com/office/drawing/2014/main" id="{74A14ED8-0F52-BD36-5946-EF47E8714196}"/>
                </a:ext>
              </a:extLst>
            </p:cNvPr>
            <p:cNvSpPr/>
            <p:nvPr/>
          </p:nvSpPr>
          <p:spPr>
            <a:xfrm>
              <a:off x="2145138" y="3992425"/>
              <a:ext cx="106678" cy="106678"/>
            </a:xfrm>
            <a:prstGeom prst="ellipse">
              <a:avLst/>
            </a:prstGeom>
            <a:solidFill>
              <a:srgbClr val="E97132">
                <a:lumMod val="40000"/>
                <a:lumOff val="60000"/>
              </a:srgbClr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vi-VN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4" name="Oval 1213">
              <a:extLst>
                <a:ext uri="{FF2B5EF4-FFF2-40B4-BE49-F238E27FC236}">
                  <a16:creationId xmlns:a16="http://schemas.microsoft.com/office/drawing/2014/main" id="{D8C17AD1-3358-304B-60C6-4E23E5B0F3EB}"/>
                </a:ext>
              </a:extLst>
            </p:cNvPr>
            <p:cNvSpPr/>
            <p:nvPr/>
          </p:nvSpPr>
          <p:spPr>
            <a:xfrm>
              <a:off x="2297538" y="3992425"/>
              <a:ext cx="106678" cy="106678"/>
            </a:xfrm>
            <a:prstGeom prst="ellipse">
              <a:avLst/>
            </a:prstGeom>
            <a:solidFill>
              <a:srgbClr val="E97132">
                <a:lumMod val="60000"/>
                <a:lumOff val="40000"/>
              </a:srgbClr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vi-VN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5" name="Oval 1214">
              <a:extLst>
                <a:ext uri="{FF2B5EF4-FFF2-40B4-BE49-F238E27FC236}">
                  <a16:creationId xmlns:a16="http://schemas.microsoft.com/office/drawing/2014/main" id="{E43C50B5-B227-3DF5-9A27-AD62DC433578}"/>
                </a:ext>
              </a:extLst>
            </p:cNvPr>
            <p:cNvSpPr/>
            <p:nvPr/>
          </p:nvSpPr>
          <p:spPr>
            <a:xfrm>
              <a:off x="2384759" y="3992425"/>
              <a:ext cx="106678" cy="106678"/>
            </a:xfrm>
            <a:prstGeom prst="ellipse">
              <a:avLst/>
            </a:prstGeom>
            <a:solidFill>
              <a:srgbClr val="E97132">
                <a:lumMod val="20000"/>
                <a:lumOff val="80000"/>
              </a:srgbClr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vi-VN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6" name="Oval 1215">
              <a:extLst>
                <a:ext uri="{FF2B5EF4-FFF2-40B4-BE49-F238E27FC236}">
                  <a16:creationId xmlns:a16="http://schemas.microsoft.com/office/drawing/2014/main" id="{1212A0E7-5042-36B2-6C9F-7B0A96A699A5}"/>
                </a:ext>
              </a:extLst>
            </p:cNvPr>
            <p:cNvSpPr/>
            <p:nvPr/>
          </p:nvSpPr>
          <p:spPr>
            <a:xfrm>
              <a:off x="3409152" y="3992425"/>
              <a:ext cx="106678" cy="106678"/>
            </a:xfrm>
            <a:prstGeom prst="ellipse">
              <a:avLst/>
            </a:prstGeom>
            <a:solidFill>
              <a:srgbClr val="0F9ED5">
                <a:lumMod val="60000"/>
                <a:lumOff val="40000"/>
              </a:srgbClr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vi-VN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7" name="Oval 1216">
              <a:extLst>
                <a:ext uri="{FF2B5EF4-FFF2-40B4-BE49-F238E27FC236}">
                  <a16:creationId xmlns:a16="http://schemas.microsoft.com/office/drawing/2014/main" id="{56A789FE-777F-191F-E21C-6BE63CBC4FE9}"/>
                </a:ext>
              </a:extLst>
            </p:cNvPr>
            <p:cNvSpPr/>
            <p:nvPr/>
          </p:nvSpPr>
          <p:spPr>
            <a:xfrm>
              <a:off x="3689745" y="3992425"/>
              <a:ext cx="106678" cy="106678"/>
            </a:xfrm>
            <a:prstGeom prst="ellipse">
              <a:avLst/>
            </a:prstGeom>
            <a:solidFill>
              <a:srgbClr val="0E2841">
                <a:lumMod val="50000"/>
                <a:lumOff val="50000"/>
              </a:srgbClr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vi-VN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8" name="Oval 1217">
              <a:extLst>
                <a:ext uri="{FF2B5EF4-FFF2-40B4-BE49-F238E27FC236}">
                  <a16:creationId xmlns:a16="http://schemas.microsoft.com/office/drawing/2014/main" id="{4E90529A-5584-F5FD-B694-CACD75FEAD61}"/>
                </a:ext>
              </a:extLst>
            </p:cNvPr>
            <p:cNvSpPr/>
            <p:nvPr/>
          </p:nvSpPr>
          <p:spPr>
            <a:xfrm>
              <a:off x="3778079" y="3992425"/>
              <a:ext cx="106678" cy="106678"/>
            </a:xfrm>
            <a:prstGeom prst="ellipse">
              <a:avLst/>
            </a:prstGeom>
            <a:solidFill>
              <a:srgbClr val="156082">
                <a:lumMod val="60000"/>
                <a:lumOff val="40000"/>
              </a:srgbClr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vi-VN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9" name="Oval 1218">
              <a:extLst>
                <a:ext uri="{FF2B5EF4-FFF2-40B4-BE49-F238E27FC236}">
                  <a16:creationId xmlns:a16="http://schemas.microsoft.com/office/drawing/2014/main" id="{B11BFAC0-5AEC-A4FA-C115-6586034A3533}"/>
                </a:ext>
              </a:extLst>
            </p:cNvPr>
            <p:cNvSpPr/>
            <p:nvPr/>
          </p:nvSpPr>
          <p:spPr>
            <a:xfrm>
              <a:off x="3965015" y="3992425"/>
              <a:ext cx="106678" cy="106678"/>
            </a:xfrm>
            <a:prstGeom prst="ellipse">
              <a:avLst/>
            </a:prstGeom>
            <a:solidFill>
              <a:srgbClr val="0F9ED5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vi-VN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0" name="Oval 1219">
              <a:extLst>
                <a:ext uri="{FF2B5EF4-FFF2-40B4-BE49-F238E27FC236}">
                  <a16:creationId xmlns:a16="http://schemas.microsoft.com/office/drawing/2014/main" id="{341A37F4-B19C-A03F-5CC0-1B68ABC01E30}"/>
                </a:ext>
              </a:extLst>
            </p:cNvPr>
            <p:cNvSpPr/>
            <p:nvPr/>
          </p:nvSpPr>
          <p:spPr>
            <a:xfrm>
              <a:off x="4750447" y="3992425"/>
              <a:ext cx="106678" cy="106678"/>
            </a:xfrm>
            <a:prstGeom prst="ellipse">
              <a:avLst/>
            </a:prstGeom>
            <a:solidFill>
              <a:srgbClr val="196B24">
                <a:lumMod val="60000"/>
                <a:lumOff val="40000"/>
              </a:srgbClr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vi-VN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1" name="Oval 1220">
              <a:extLst>
                <a:ext uri="{FF2B5EF4-FFF2-40B4-BE49-F238E27FC236}">
                  <a16:creationId xmlns:a16="http://schemas.microsoft.com/office/drawing/2014/main" id="{89B9FC6C-94C6-47AD-1719-7C383738910B}"/>
                </a:ext>
              </a:extLst>
            </p:cNvPr>
            <p:cNvSpPr/>
            <p:nvPr/>
          </p:nvSpPr>
          <p:spPr>
            <a:xfrm>
              <a:off x="4940947" y="3992425"/>
              <a:ext cx="106678" cy="106678"/>
            </a:xfrm>
            <a:prstGeom prst="ellipse">
              <a:avLst/>
            </a:prstGeom>
            <a:solidFill>
              <a:srgbClr val="4EA72E">
                <a:lumMod val="60000"/>
                <a:lumOff val="40000"/>
              </a:srgbClr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vi-VN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2" name="Oval 1221">
              <a:extLst>
                <a:ext uri="{FF2B5EF4-FFF2-40B4-BE49-F238E27FC236}">
                  <a16:creationId xmlns:a16="http://schemas.microsoft.com/office/drawing/2014/main" id="{18A15EB7-24BD-B146-ECE3-921B37BD3EB6}"/>
                </a:ext>
              </a:extLst>
            </p:cNvPr>
            <p:cNvSpPr/>
            <p:nvPr/>
          </p:nvSpPr>
          <p:spPr>
            <a:xfrm>
              <a:off x="4902847" y="3992425"/>
              <a:ext cx="106678" cy="106678"/>
            </a:xfrm>
            <a:prstGeom prst="ellipse">
              <a:avLst/>
            </a:prstGeom>
            <a:solidFill>
              <a:srgbClr val="196B24">
                <a:lumMod val="40000"/>
                <a:lumOff val="60000"/>
              </a:srgbClr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vi-VN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3" name="Oval 1222">
              <a:extLst>
                <a:ext uri="{FF2B5EF4-FFF2-40B4-BE49-F238E27FC236}">
                  <a16:creationId xmlns:a16="http://schemas.microsoft.com/office/drawing/2014/main" id="{A7ABDEED-9F0B-72A3-F183-DAFCCD682F71}"/>
                </a:ext>
              </a:extLst>
            </p:cNvPr>
            <p:cNvSpPr/>
            <p:nvPr/>
          </p:nvSpPr>
          <p:spPr>
            <a:xfrm>
              <a:off x="5055247" y="3992425"/>
              <a:ext cx="106678" cy="106678"/>
            </a:xfrm>
            <a:prstGeom prst="ellipse">
              <a:avLst/>
            </a:prstGeom>
            <a:solidFill>
              <a:srgbClr val="4EA72E">
                <a:lumMod val="40000"/>
                <a:lumOff val="60000"/>
              </a:srgbClr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vi-VN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4" name="Oval 1223">
              <a:extLst>
                <a:ext uri="{FF2B5EF4-FFF2-40B4-BE49-F238E27FC236}">
                  <a16:creationId xmlns:a16="http://schemas.microsoft.com/office/drawing/2014/main" id="{800C02B6-E21D-3A8C-74A9-DD895E132CD4}"/>
                </a:ext>
              </a:extLst>
            </p:cNvPr>
            <p:cNvSpPr/>
            <p:nvPr/>
          </p:nvSpPr>
          <p:spPr>
            <a:xfrm>
              <a:off x="6170486" y="3992425"/>
              <a:ext cx="106678" cy="106678"/>
            </a:xfrm>
            <a:prstGeom prst="ellipse">
              <a:avLst/>
            </a:prstGeom>
            <a:solidFill>
              <a:srgbClr val="A02B93">
                <a:lumMod val="40000"/>
                <a:lumOff val="60000"/>
              </a:srgbClr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vi-VN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5" name="Oval 1224">
              <a:extLst>
                <a:ext uri="{FF2B5EF4-FFF2-40B4-BE49-F238E27FC236}">
                  <a16:creationId xmlns:a16="http://schemas.microsoft.com/office/drawing/2014/main" id="{9230D5AC-3740-F31C-2038-7DA977480610}"/>
                </a:ext>
              </a:extLst>
            </p:cNvPr>
            <p:cNvSpPr/>
            <p:nvPr/>
          </p:nvSpPr>
          <p:spPr>
            <a:xfrm>
              <a:off x="6294855" y="3992425"/>
              <a:ext cx="106678" cy="106678"/>
            </a:xfrm>
            <a:prstGeom prst="ellipse">
              <a:avLst/>
            </a:prstGeom>
            <a:solidFill>
              <a:srgbClr val="A02B93">
                <a:lumMod val="60000"/>
                <a:lumOff val="40000"/>
              </a:srgbClr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vi-VN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6" name="Oval 1225">
              <a:extLst>
                <a:ext uri="{FF2B5EF4-FFF2-40B4-BE49-F238E27FC236}">
                  <a16:creationId xmlns:a16="http://schemas.microsoft.com/office/drawing/2014/main" id="{046D9297-3086-D87E-0CD8-42E3E4AE9DEF}"/>
                </a:ext>
              </a:extLst>
            </p:cNvPr>
            <p:cNvSpPr/>
            <p:nvPr/>
          </p:nvSpPr>
          <p:spPr>
            <a:xfrm>
              <a:off x="6529937" y="3992425"/>
              <a:ext cx="106678" cy="106678"/>
            </a:xfrm>
            <a:prstGeom prst="ellipse">
              <a:avLst/>
            </a:prstGeom>
            <a:solidFill>
              <a:srgbClr val="A02B93">
                <a:lumMod val="20000"/>
                <a:lumOff val="80000"/>
              </a:srgbClr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vi-VN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7" name="Oval 1226">
              <a:extLst>
                <a:ext uri="{FF2B5EF4-FFF2-40B4-BE49-F238E27FC236}">
                  <a16:creationId xmlns:a16="http://schemas.microsoft.com/office/drawing/2014/main" id="{C3CB68A4-EBCF-D18C-4580-D5C2AA218E88}"/>
                </a:ext>
              </a:extLst>
            </p:cNvPr>
            <p:cNvSpPr/>
            <p:nvPr/>
          </p:nvSpPr>
          <p:spPr>
            <a:xfrm>
              <a:off x="7278169" y="3992425"/>
              <a:ext cx="106678" cy="106678"/>
            </a:xfrm>
            <a:prstGeom prst="ellipse">
              <a:avLst/>
            </a:prstGeom>
            <a:solidFill>
              <a:srgbClr val="0E2841">
                <a:lumMod val="50000"/>
                <a:lumOff val="50000"/>
              </a:srgbClr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vi-VN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8" name="Oval 1227">
              <a:extLst>
                <a:ext uri="{FF2B5EF4-FFF2-40B4-BE49-F238E27FC236}">
                  <a16:creationId xmlns:a16="http://schemas.microsoft.com/office/drawing/2014/main" id="{9AC60609-5153-BCCF-E9A1-02C8FD5B6950}"/>
                </a:ext>
              </a:extLst>
            </p:cNvPr>
            <p:cNvSpPr/>
            <p:nvPr/>
          </p:nvSpPr>
          <p:spPr>
            <a:xfrm>
              <a:off x="8021006" y="3992425"/>
              <a:ext cx="106678" cy="106678"/>
            </a:xfrm>
            <a:prstGeom prst="ellipse">
              <a:avLst/>
            </a:prstGeom>
            <a:solidFill>
              <a:srgbClr val="FF5050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vi-VN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9" name="Oval 1228">
              <a:extLst>
                <a:ext uri="{FF2B5EF4-FFF2-40B4-BE49-F238E27FC236}">
                  <a16:creationId xmlns:a16="http://schemas.microsoft.com/office/drawing/2014/main" id="{19705FA7-5914-9725-2427-6E98762C33EF}"/>
                </a:ext>
              </a:extLst>
            </p:cNvPr>
            <p:cNvSpPr/>
            <p:nvPr/>
          </p:nvSpPr>
          <p:spPr>
            <a:xfrm>
              <a:off x="8083628" y="3992425"/>
              <a:ext cx="106678" cy="106678"/>
            </a:xfrm>
            <a:prstGeom prst="ellipse">
              <a:avLst/>
            </a:prstGeom>
            <a:solidFill>
              <a:srgbClr val="FF2F2F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vi-VN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0" name="Oval 1229">
              <a:extLst>
                <a:ext uri="{FF2B5EF4-FFF2-40B4-BE49-F238E27FC236}">
                  <a16:creationId xmlns:a16="http://schemas.microsoft.com/office/drawing/2014/main" id="{5B3931CA-C125-670F-21B3-21CC0DEF2C8A}"/>
                </a:ext>
              </a:extLst>
            </p:cNvPr>
            <p:cNvSpPr/>
            <p:nvPr/>
          </p:nvSpPr>
          <p:spPr>
            <a:xfrm>
              <a:off x="8242283" y="3992425"/>
              <a:ext cx="106678" cy="106678"/>
            </a:xfrm>
            <a:prstGeom prst="ellipse">
              <a:avLst/>
            </a:prstGeom>
            <a:solidFill>
              <a:srgbClr val="FF7575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vi-VN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1" name="Oval 1230">
              <a:extLst>
                <a:ext uri="{FF2B5EF4-FFF2-40B4-BE49-F238E27FC236}">
                  <a16:creationId xmlns:a16="http://schemas.microsoft.com/office/drawing/2014/main" id="{D7A77897-8B79-54E6-8A72-D6AF7335C5F4}"/>
                </a:ext>
              </a:extLst>
            </p:cNvPr>
            <p:cNvSpPr/>
            <p:nvPr/>
          </p:nvSpPr>
          <p:spPr>
            <a:xfrm>
              <a:off x="8961186" y="3992425"/>
              <a:ext cx="106678" cy="106678"/>
            </a:xfrm>
            <a:prstGeom prst="ellipse">
              <a:avLst/>
            </a:prstGeom>
            <a:solidFill>
              <a:srgbClr val="0E2841">
                <a:lumMod val="50000"/>
                <a:lumOff val="50000"/>
              </a:srgbClr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vi-VN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cxnSp>
          <p:nvCxnSpPr>
            <p:cNvPr id="1232" name="Straight Connector 1231">
              <a:extLst>
                <a:ext uri="{FF2B5EF4-FFF2-40B4-BE49-F238E27FC236}">
                  <a16:creationId xmlns:a16="http://schemas.microsoft.com/office/drawing/2014/main" id="{215CBAE0-9573-448D-7CAB-040C566D89C4}"/>
                </a:ext>
              </a:extLst>
            </p:cNvPr>
            <p:cNvCxnSpPr>
              <a:stCxn id="1184" idx="2"/>
              <a:endCxn id="1213" idx="0"/>
            </p:cNvCxnSpPr>
            <p:nvPr/>
          </p:nvCxnSpPr>
          <p:spPr>
            <a:xfrm flipH="1">
              <a:off x="2198477" y="3048001"/>
              <a:ext cx="7064" cy="944424"/>
            </a:xfrm>
            <a:prstGeom prst="line">
              <a:avLst/>
            </a:prstGeom>
            <a:solidFill>
              <a:srgbClr val="E97132">
                <a:lumMod val="40000"/>
                <a:lumOff val="60000"/>
              </a:srgbClr>
            </a:solidFill>
            <a:ln w="19050" cap="flat" cmpd="sng" algn="ctr">
              <a:gradFill>
                <a:gsLst>
                  <a:gs pos="100000">
                    <a:sysClr val="window" lastClr="FFFFFF"/>
                  </a:gs>
                  <a:gs pos="0">
                    <a:srgbClr val="F6C6AD"/>
                  </a:gs>
                </a:gsLst>
                <a:lin ang="5400000" scaled="0"/>
              </a:gradFill>
              <a:prstDash val="solid"/>
              <a:miter lim="800000"/>
            </a:ln>
            <a:effectLst/>
          </p:spPr>
        </p:cxnSp>
        <p:cxnSp>
          <p:nvCxnSpPr>
            <p:cNvPr id="1233" name="Straight Connector 1232">
              <a:extLst>
                <a:ext uri="{FF2B5EF4-FFF2-40B4-BE49-F238E27FC236}">
                  <a16:creationId xmlns:a16="http://schemas.microsoft.com/office/drawing/2014/main" id="{852F054E-8ED0-8352-FB92-2E74DB1E3988}"/>
                </a:ext>
              </a:extLst>
            </p:cNvPr>
            <p:cNvCxnSpPr>
              <a:cxnSpLocks/>
              <a:stCxn id="1185" idx="2"/>
              <a:endCxn id="1214" idx="0"/>
            </p:cNvCxnSpPr>
            <p:nvPr/>
          </p:nvCxnSpPr>
          <p:spPr>
            <a:xfrm flipH="1">
              <a:off x="2350877" y="3048001"/>
              <a:ext cx="315602" cy="944424"/>
            </a:xfrm>
            <a:prstGeom prst="line">
              <a:avLst/>
            </a:prstGeom>
            <a:solidFill>
              <a:srgbClr val="E97132">
                <a:lumMod val="40000"/>
                <a:lumOff val="60000"/>
              </a:srgbClr>
            </a:solidFill>
            <a:ln w="19050" cap="flat" cmpd="sng" algn="ctr">
              <a:gradFill>
                <a:gsLst>
                  <a:gs pos="100000">
                    <a:sysClr val="window" lastClr="FFFFFF"/>
                  </a:gs>
                  <a:gs pos="0">
                    <a:srgbClr val="F2AA84"/>
                  </a:gs>
                </a:gsLst>
                <a:lin ang="5400000" scaled="0"/>
              </a:gradFill>
              <a:prstDash val="solid"/>
              <a:miter lim="800000"/>
            </a:ln>
            <a:effectLst/>
          </p:spPr>
        </p:cxnSp>
        <p:cxnSp>
          <p:nvCxnSpPr>
            <p:cNvPr id="1234" name="Straight Connector 1233">
              <a:extLst>
                <a:ext uri="{FF2B5EF4-FFF2-40B4-BE49-F238E27FC236}">
                  <a16:creationId xmlns:a16="http://schemas.microsoft.com/office/drawing/2014/main" id="{BB3DFBEE-232B-DAE8-770C-D0A905899D1A}"/>
                </a:ext>
              </a:extLst>
            </p:cNvPr>
            <p:cNvCxnSpPr>
              <a:cxnSpLocks/>
              <a:endCxn id="1215" idx="7"/>
            </p:cNvCxnSpPr>
            <p:nvPr/>
          </p:nvCxnSpPr>
          <p:spPr>
            <a:xfrm flipH="1">
              <a:off x="2475814" y="3047998"/>
              <a:ext cx="538253" cy="960050"/>
            </a:xfrm>
            <a:prstGeom prst="line">
              <a:avLst/>
            </a:prstGeom>
            <a:solidFill>
              <a:srgbClr val="E97132">
                <a:lumMod val="40000"/>
                <a:lumOff val="60000"/>
              </a:srgbClr>
            </a:solidFill>
            <a:ln w="19050" cap="flat" cmpd="sng" algn="ctr">
              <a:gradFill>
                <a:gsLst>
                  <a:gs pos="100000">
                    <a:sysClr val="window" lastClr="FFFFFF"/>
                  </a:gs>
                  <a:gs pos="0">
                    <a:srgbClr val="FBE3D6"/>
                  </a:gs>
                </a:gsLst>
                <a:lin ang="5400000" scaled="0"/>
              </a:gradFill>
              <a:prstDash val="solid"/>
              <a:miter lim="800000"/>
            </a:ln>
            <a:effectLst/>
          </p:spPr>
        </p:cxnSp>
        <p:cxnSp>
          <p:nvCxnSpPr>
            <p:cNvPr id="1235" name="Straight Connector 1234">
              <a:extLst>
                <a:ext uri="{FF2B5EF4-FFF2-40B4-BE49-F238E27FC236}">
                  <a16:creationId xmlns:a16="http://schemas.microsoft.com/office/drawing/2014/main" id="{D2C95519-290C-A735-99A4-99548761B4D5}"/>
                </a:ext>
              </a:extLst>
            </p:cNvPr>
            <p:cNvCxnSpPr>
              <a:cxnSpLocks/>
              <a:stCxn id="1187" idx="2"/>
              <a:endCxn id="1216" idx="0"/>
            </p:cNvCxnSpPr>
            <p:nvPr/>
          </p:nvCxnSpPr>
          <p:spPr>
            <a:xfrm>
              <a:off x="3423703" y="3048001"/>
              <a:ext cx="38788" cy="944424"/>
            </a:xfrm>
            <a:prstGeom prst="line">
              <a:avLst/>
            </a:prstGeom>
            <a:solidFill>
              <a:srgbClr val="E97132">
                <a:lumMod val="40000"/>
                <a:lumOff val="60000"/>
              </a:srgbClr>
            </a:solidFill>
            <a:ln w="19050" cap="flat" cmpd="sng" algn="ctr">
              <a:gradFill>
                <a:gsLst>
                  <a:gs pos="100000">
                    <a:sysClr val="window" lastClr="FFFFFF"/>
                  </a:gs>
                  <a:gs pos="0">
                    <a:srgbClr val="61CBF4"/>
                  </a:gs>
                </a:gsLst>
                <a:lin ang="5400000" scaled="0"/>
              </a:gradFill>
              <a:prstDash val="solid"/>
              <a:miter lim="800000"/>
            </a:ln>
            <a:effectLst/>
          </p:spPr>
        </p:cxnSp>
        <p:cxnSp>
          <p:nvCxnSpPr>
            <p:cNvPr id="1236" name="Straight Connector 1235">
              <a:extLst>
                <a:ext uri="{FF2B5EF4-FFF2-40B4-BE49-F238E27FC236}">
                  <a16:creationId xmlns:a16="http://schemas.microsoft.com/office/drawing/2014/main" id="{6C5116FB-735F-7749-9614-5E96DC6BD74F}"/>
                </a:ext>
              </a:extLst>
            </p:cNvPr>
            <p:cNvCxnSpPr>
              <a:cxnSpLocks/>
              <a:stCxn id="1188" idx="2"/>
              <a:endCxn id="1217" idx="0"/>
            </p:cNvCxnSpPr>
            <p:nvPr/>
          </p:nvCxnSpPr>
          <p:spPr>
            <a:xfrm flipH="1">
              <a:off x="3743084" y="3048001"/>
              <a:ext cx="60402" cy="944424"/>
            </a:xfrm>
            <a:prstGeom prst="line">
              <a:avLst/>
            </a:prstGeom>
            <a:solidFill>
              <a:srgbClr val="E97132">
                <a:lumMod val="40000"/>
                <a:lumOff val="60000"/>
              </a:srgbClr>
            </a:solidFill>
            <a:ln w="19050" cap="flat" cmpd="sng" algn="ctr">
              <a:gradFill>
                <a:gsLst>
                  <a:gs pos="100000">
                    <a:sysClr val="window" lastClr="FFFFFF"/>
                  </a:gs>
                  <a:gs pos="0">
                    <a:srgbClr val="4E95D9"/>
                  </a:gs>
                </a:gsLst>
                <a:lin ang="5400000" scaled="0"/>
              </a:gradFill>
              <a:prstDash val="solid"/>
              <a:miter lim="800000"/>
            </a:ln>
            <a:effectLst/>
          </p:spPr>
        </p:cxnSp>
        <p:cxnSp>
          <p:nvCxnSpPr>
            <p:cNvPr id="1237" name="Straight Connector 1236">
              <a:extLst>
                <a:ext uri="{FF2B5EF4-FFF2-40B4-BE49-F238E27FC236}">
                  <a16:creationId xmlns:a16="http://schemas.microsoft.com/office/drawing/2014/main" id="{6D7A7B27-4A3F-253A-A085-255D431BBFE7}"/>
                </a:ext>
              </a:extLst>
            </p:cNvPr>
            <p:cNvCxnSpPr>
              <a:cxnSpLocks/>
              <a:stCxn id="1189" idx="2"/>
              <a:endCxn id="1218" idx="0"/>
            </p:cNvCxnSpPr>
            <p:nvPr/>
          </p:nvCxnSpPr>
          <p:spPr>
            <a:xfrm flipH="1">
              <a:off x="3831418" y="3048001"/>
              <a:ext cx="299793" cy="944424"/>
            </a:xfrm>
            <a:prstGeom prst="line">
              <a:avLst/>
            </a:prstGeom>
            <a:solidFill>
              <a:srgbClr val="E97132">
                <a:lumMod val="40000"/>
                <a:lumOff val="60000"/>
              </a:srgbClr>
            </a:solidFill>
            <a:ln w="19050" cap="flat" cmpd="sng" algn="ctr">
              <a:gradFill>
                <a:gsLst>
                  <a:gs pos="100000">
                    <a:sysClr val="window" lastClr="FFFFFF"/>
                  </a:gs>
                  <a:gs pos="0">
                    <a:srgbClr val="46B1E1"/>
                  </a:gs>
                </a:gsLst>
                <a:lin ang="5400000" scaled="0"/>
              </a:gradFill>
              <a:prstDash val="solid"/>
              <a:miter lim="800000"/>
            </a:ln>
            <a:effectLst/>
          </p:spPr>
        </p:cxnSp>
        <p:cxnSp>
          <p:nvCxnSpPr>
            <p:cNvPr id="1238" name="Straight Connector 1237">
              <a:extLst>
                <a:ext uri="{FF2B5EF4-FFF2-40B4-BE49-F238E27FC236}">
                  <a16:creationId xmlns:a16="http://schemas.microsoft.com/office/drawing/2014/main" id="{144777E2-A829-24EE-0E24-29DA609C95EB}"/>
                </a:ext>
              </a:extLst>
            </p:cNvPr>
            <p:cNvCxnSpPr>
              <a:cxnSpLocks/>
              <a:stCxn id="1190" idx="2"/>
              <a:endCxn id="1219" idx="0"/>
            </p:cNvCxnSpPr>
            <p:nvPr/>
          </p:nvCxnSpPr>
          <p:spPr>
            <a:xfrm flipH="1">
              <a:off x="4018354" y="3048000"/>
              <a:ext cx="440581" cy="944425"/>
            </a:xfrm>
            <a:prstGeom prst="line">
              <a:avLst/>
            </a:prstGeom>
            <a:solidFill>
              <a:srgbClr val="E97132">
                <a:lumMod val="40000"/>
                <a:lumOff val="60000"/>
              </a:srgbClr>
            </a:solidFill>
            <a:ln w="19050" cap="flat" cmpd="sng" algn="ctr">
              <a:gradFill>
                <a:gsLst>
                  <a:gs pos="100000">
                    <a:sysClr val="window" lastClr="FFFFFF"/>
                  </a:gs>
                  <a:gs pos="0">
                    <a:srgbClr val="0F9ED5"/>
                  </a:gs>
                </a:gsLst>
                <a:lin ang="5400000" scaled="0"/>
              </a:gradFill>
              <a:prstDash val="solid"/>
              <a:miter lim="800000"/>
            </a:ln>
            <a:effectLst/>
          </p:spPr>
        </p:cxnSp>
        <p:cxnSp>
          <p:nvCxnSpPr>
            <p:cNvPr id="1239" name="Straight Connector 1238">
              <a:extLst>
                <a:ext uri="{FF2B5EF4-FFF2-40B4-BE49-F238E27FC236}">
                  <a16:creationId xmlns:a16="http://schemas.microsoft.com/office/drawing/2014/main" id="{8224D6B7-08B7-2F76-E3F0-0405A70169D8}"/>
                </a:ext>
              </a:extLst>
            </p:cNvPr>
            <p:cNvCxnSpPr>
              <a:cxnSpLocks/>
              <a:stCxn id="1191" idx="2"/>
              <a:endCxn id="1220" idx="0"/>
            </p:cNvCxnSpPr>
            <p:nvPr/>
          </p:nvCxnSpPr>
          <p:spPr>
            <a:xfrm flipH="1">
              <a:off x="4803786" y="3048000"/>
              <a:ext cx="102676" cy="944425"/>
            </a:xfrm>
            <a:prstGeom prst="line">
              <a:avLst/>
            </a:prstGeom>
            <a:solidFill>
              <a:srgbClr val="E97132">
                <a:lumMod val="40000"/>
                <a:lumOff val="60000"/>
              </a:srgbClr>
            </a:solidFill>
            <a:ln w="19050" cap="flat" cmpd="sng" algn="ctr">
              <a:gradFill>
                <a:gsLst>
                  <a:gs pos="100000">
                    <a:sysClr val="window" lastClr="FFFFFF"/>
                  </a:gs>
                  <a:gs pos="0">
                    <a:srgbClr val="47D45A"/>
                  </a:gs>
                </a:gsLst>
                <a:lin ang="5400000" scaled="0"/>
              </a:gradFill>
              <a:prstDash val="solid"/>
              <a:miter lim="800000"/>
            </a:ln>
            <a:effectLst/>
          </p:spPr>
        </p:cxnSp>
        <p:cxnSp>
          <p:nvCxnSpPr>
            <p:cNvPr id="1240" name="Straight Connector 1239">
              <a:extLst>
                <a:ext uri="{FF2B5EF4-FFF2-40B4-BE49-F238E27FC236}">
                  <a16:creationId xmlns:a16="http://schemas.microsoft.com/office/drawing/2014/main" id="{7703BCCA-A63D-4361-E5A4-2606252AA07F}"/>
                </a:ext>
              </a:extLst>
            </p:cNvPr>
            <p:cNvCxnSpPr>
              <a:cxnSpLocks/>
              <a:stCxn id="1192" idx="2"/>
              <a:endCxn id="1222" idx="0"/>
            </p:cNvCxnSpPr>
            <p:nvPr/>
          </p:nvCxnSpPr>
          <p:spPr>
            <a:xfrm flipH="1">
              <a:off x="4956186" y="3048000"/>
              <a:ext cx="352337" cy="944425"/>
            </a:xfrm>
            <a:prstGeom prst="line">
              <a:avLst/>
            </a:prstGeom>
            <a:solidFill>
              <a:srgbClr val="E97132">
                <a:lumMod val="40000"/>
                <a:lumOff val="60000"/>
              </a:srgbClr>
            </a:solidFill>
            <a:ln w="19050" cap="flat" cmpd="sng" algn="ctr">
              <a:gradFill>
                <a:gsLst>
                  <a:gs pos="100000">
                    <a:sysClr val="window" lastClr="FFFFFF"/>
                  </a:gs>
                  <a:gs pos="0">
                    <a:srgbClr val="84E291"/>
                  </a:gs>
                </a:gsLst>
                <a:lin ang="5400000" scaled="0"/>
              </a:gradFill>
              <a:prstDash val="solid"/>
              <a:miter lim="800000"/>
            </a:ln>
            <a:effectLst/>
          </p:spPr>
        </p:cxnSp>
        <p:cxnSp>
          <p:nvCxnSpPr>
            <p:cNvPr id="1241" name="Straight Connector 1240">
              <a:extLst>
                <a:ext uri="{FF2B5EF4-FFF2-40B4-BE49-F238E27FC236}">
                  <a16:creationId xmlns:a16="http://schemas.microsoft.com/office/drawing/2014/main" id="{65C65349-060D-3A7E-2982-8829DC7326B6}"/>
                </a:ext>
              </a:extLst>
            </p:cNvPr>
            <p:cNvCxnSpPr>
              <a:cxnSpLocks/>
              <a:stCxn id="1193" idx="2"/>
              <a:endCxn id="1221" idx="7"/>
            </p:cNvCxnSpPr>
            <p:nvPr/>
          </p:nvCxnSpPr>
          <p:spPr>
            <a:xfrm flipH="1">
              <a:off x="5032002" y="3048000"/>
              <a:ext cx="558779" cy="960048"/>
            </a:xfrm>
            <a:prstGeom prst="line">
              <a:avLst/>
            </a:prstGeom>
            <a:solidFill>
              <a:srgbClr val="E97132">
                <a:lumMod val="40000"/>
                <a:lumOff val="60000"/>
              </a:srgbClr>
            </a:solidFill>
            <a:ln w="19050" cap="flat" cmpd="sng" algn="ctr">
              <a:gradFill>
                <a:gsLst>
                  <a:gs pos="100000">
                    <a:sysClr val="window" lastClr="FFFFFF"/>
                  </a:gs>
                  <a:gs pos="0">
                    <a:srgbClr val="8ED973"/>
                  </a:gs>
                </a:gsLst>
                <a:lin ang="5400000" scaled="0"/>
              </a:gradFill>
              <a:prstDash val="solid"/>
              <a:miter lim="800000"/>
            </a:ln>
            <a:effectLst/>
          </p:spPr>
        </p:cxnSp>
        <p:cxnSp>
          <p:nvCxnSpPr>
            <p:cNvPr id="1242" name="Straight Connector 1241">
              <a:extLst>
                <a:ext uri="{FF2B5EF4-FFF2-40B4-BE49-F238E27FC236}">
                  <a16:creationId xmlns:a16="http://schemas.microsoft.com/office/drawing/2014/main" id="{4F5879C0-EFEB-C0D2-169D-8D8A86A76BF5}"/>
                </a:ext>
              </a:extLst>
            </p:cNvPr>
            <p:cNvCxnSpPr>
              <a:cxnSpLocks/>
              <a:stCxn id="1194" idx="2"/>
              <a:endCxn id="1223" idx="7"/>
            </p:cNvCxnSpPr>
            <p:nvPr/>
          </p:nvCxnSpPr>
          <p:spPr>
            <a:xfrm flipH="1">
              <a:off x="5146302" y="3048000"/>
              <a:ext cx="870283" cy="960048"/>
            </a:xfrm>
            <a:prstGeom prst="line">
              <a:avLst/>
            </a:prstGeom>
            <a:solidFill>
              <a:srgbClr val="E97132">
                <a:lumMod val="40000"/>
                <a:lumOff val="60000"/>
              </a:srgbClr>
            </a:solidFill>
            <a:ln w="19050" cap="flat" cmpd="sng" algn="ctr">
              <a:gradFill>
                <a:gsLst>
                  <a:gs pos="100000">
                    <a:sysClr val="window" lastClr="FFFFFF"/>
                  </a:gs>
                  <a:gs pos="0">
                    <a:srgbClr val="B4E5A2"/>
                  </a:gs>
                </a:gsLst>
                <a:lin ang="5400000" scaled="0"/>
              </a:gradFill>
              <a:prstDash val="solid"/>
              <a:miter lim="800000"/>
            </a:ln>
            <a:effectLst/>
          </p:spPr>
        </p:cxnSp>
        <p:cxnSp>
          <p:nvCxnSpPr>
            <p:cNvPr id="1243" name="Straight Connector 1242">
              <a:extLst>
                <a:ext uri="{FF2B5EF4-FFF2-40B4-BE49-F238E27FC236}">
                  <a16:creationId xmlns:a16="http://schemas.microsoft.com/office/drawing/2014/main" id="{78D1B77F-0E8A-DECF-5062-B736E5AA4067}"/>
                </a:ext>
              </a:extLst>
            </p:cNvPr>
            <p:cNvCxnSpPr>
              <a:cxnSpLocks/>
              <a:stCxn id="1195" idx="2"/>
              <a:endCxn id="1224" idx="0"/>
            </p:cNvCxnSpPr>
            <p:nvPr/>
          </p:nvCxnSpPr>
          <p:spPr>
            <a:xfrm flipH="1">
              <a:off x="6223825" y="3048000"/>
              <a:ext cx="191263" cy="944425"/>
            </a:xfrm>
            <a:prstGeom prst="line">
              <a:avLst/>
            </a:prstGeom>
            <a:solidFill>
              <a:srgbClr val="E97132">
                <a:lumMod val="40000"/>
                <a:lumOff val="60000"/>
              </a:srgbClr>
            </a:solidFill>
            <a:ln w="19050" cap="flat" cmpd="sng" algn="ctr">
              <a:gradFill>
                <a:gsLst>
                  <a:gs pos="100000">
                    <a:sysClr val="window" lastClr="FFFFFF"/>
                  </a:gs>
                  <a:gs pos="0">
                    <a:srgbClr val="E59EDD"/>
                  </a:gs>
                </a:gsLst>
                <a:lin ang="5400000" scaled="0"/>
              </a:gradFill>
              <a:prstDash val="solid"/>
              <a:miter lim="800000"/>
            </a:ln>
            <a:effectLst/>
          </p:spPr>
        </p:cxnSp>
        <p:cxnSp>
          <p:nvCxnSpPr>
            <p:cNvPr id="1244" name="Straight Connector 1243">
              <a:extLst>
                <a:ext uri="{FF2B5EF4-FFF2-40B4-BE49-F238E27FC236}">
                  <a16:creationId xmlns:a16="http://schemas.microsoft.com/office/drawing/2014/main" id="{E6AFCB0E-3F18-FF89-B710-44CACF44C704}"/>
                </a:ext>
              </a:extLst>
            </p:cNvPr>
            <p:cNvCxnSpPr>
              <a:cxnSpLocks/>
              <a:stCxn id="1196" idx="2"/>
              <a:endCxn id="1225" idx="0"/>
            </p:cNvCxnSpPr>
            <p:nvPr/>
          </p:nvCxnSpPr>
          <p:spPr>
            <a:xfrm flipH="1">
              <a:off x="6348194" y="3048000"/>
              <a:ext cx="398368" cy="944425"/>
            </a:xfrm>
            <a:prstGeom prst="line">
              <a:avLst/>
            </a:prstGeom>
            <a:solidFill>
              <a:srgbClr val="E97132">
                <a:lumMod val="40000"/>
                <a:lumOff val="60000"/>
              </a:srgbClr>
            </a:solidFill>
            <a:ln w="19050" cap="flat" cmpd="sng" algn="ctr">
              <a:gradFill>
                <a:gsLst>
                  <a:gs pos="100000">
                    <a:sysClr val="window" lastClr="FFFFFF"/>
                  </a:gs>
                  <a:gs pos="0">
                    <a:srgbClr val="D86ECC"/>
                  </a:gs>
                </a:gsLst>
                <a:lin ang="5400000" scaled="0"/>
              </a:gradFill>
              <a:prstDash val="solid"/>
              <a:miter lim="800000"/>
            </a:ln>
            <a:effectLst/>
          </p:spPr>
        </p:cxnSp>
        <p:cxnSp>
          <p:nvCxnSpPr>
            <p:cNvPr id="1245" name="Straight Connector 1244">
              <a:extLst>
                <a:ext uri="{FF2B5EF4-FFF2-40B4-BE49-F238E27FC236}">
                  <a16:creationId xmlns:a16="http://schemas.microsoft.com/office/drawing/2014/main" id="{B08DDC99-4B7E-E900-39D2-41C5EC231015}"/>
                </a:ext>
              </a:extLst>
            </p:cNvPr>
            <p:cNvCxnSpPr>
              <a:cxnSpLocks/>
              <a:stCxn id="1197" idx="2"/>
              <a:endCxn id="1226" idx="7"/>
            </p:cNvCxnSpPr>
            <p:nvPr/>
          </p:nvCxnSpPr>
          <p:spPr>
            <a:xfrm flipH="1">
              <a:off x="6620992" y="3048000"/>
              <a:ext cx="500877" cy="960048"/>
            </a:xfrm>
            <a:prstGeom prst="line">
              <a:avLst/>
            </a:prstGeom>
            <a:solidFill>
              <a:srgbClr val="E97132">
                <a:lumMod val="40000"/>
                <a:lumOff val="60000"/>
              </a:srgbClr>
            </a:solidFill>
            <a:ln w="19050" cap="flat" cmpd="sng" algn="ctr">
              <a:gradFill>
                <a:gsLst>
                  <a:gs pos="100000">
                    <a:sysClr val="window" lastClr="FFFFFF"/>
                  </a:gs>
                  <a:gs pos="0">
                    <a:srgbClr val="F2CFEE"/>
                  </a:gs>
                </a:gsLst>
                <a:lin ang="5400000" scaled="0"/>
              </a:gradFill>
              <a:prstDash val="solid"/>
              <a:miter lim="800000"/>
            </a:ln>
            <a:effectLst/>
          </p:spPr>
        </p:cxnSp>
        <p:cxnSp>
          <p:nvCxnSpPr>
            <p:cNvPr id="1246" name="Straight Connector 1245">
              <a:extLst>
                <a:ext uri="{FF2B5EF4-FFF2-40B4-BE49-F238E27FC236}">
                  <a16:creationId xmlns:a16="http://schemas.microsoft.com/office/drawing/2014/main" id="{DAE1ED01-F60F-971C-7B00-27D619490C31}"/>
                </a:ext>
              </a:extLst>
            </p:cNvPr>
            <p:cNvCxnSpPr>
              <a:cxnSpLocks/>
              <a:stCxn id="1198" idx="2"/>
              <a:endCxn id="1227" idx="0"/>
            </p:cNvCxnSpPr>
            <p:nvPr/>
          </p:nvCxnSpPr>
          <p:spPr>
            <a:xfrm flipH="1">
              <a:off x="7331508" y="3048000"/>
              <a:ext cx="126927" cy="944425"/>
            </a:xfrm>
            <a:prstGeom prst="line">
              <a:avLst/>
            </a:prstGeom>
            <a:solidFill>
              <a:srgbClr val="E97132">
                <a:lumMod val="40000"/>
                <a:lumOff val="60000"/>
              </a:srgbClr>
            </a:solidFill>
            <a:ln w="19050" cap="flat" cmpd="sng" algn="ctr">
              <a:gradFill>
                <a:gsLst>
                  <a:gs pos="100000">
                    <a:sysClr val="window" lastClr="FFFFFF"/>
                  </a:gs>
                  <a:gs pos="0">
                    <a:srgbClr val="4E95D9"/>
                  </a:gs>
                </a:gsLst>
                <a:lin ang="5400000" scaled="0"/>
              </a:gradFill>
              <a:prstDash val="solid"/>
              <a:miter lim="800000"/>
            </a:ln>
            <a:effectLst/>
          </p:spPr>
        </p:cxnSp>
        <p:cxnSp>
          <p:nvCxnSpPr>
            <p:cNvPr id="1247" name="Straight Connector 1246">
              <a:extLst>
                <a:ext uri="{FF2B5EF4-FFF2-40B4-BE49-F238E27FC236}">
                  <a16:creationId xmlns:a16="http://schemas.microsoft.com/office/drawing/2014/main" id="{D4338DBA-96F5-AA9D-A0C4-B9E7659D8A56}"/>
                </a:ext>
              </a:extLst>
            </p:cNvPr>
            <p:cNvCxnSpPr>
              <a:cxnSpLocks/>
              <a:stCxn id="1199" idx="2"/>
              <a:endCxn id="1228" idx="1"/>
            </p:cNvCxnSpPr>
            <p:nvPr/>
          </p:nvCxnSpPr>
          <p:spPr>
            <a:xfrm>
              <a:off x="7791662" y="3048000"/>
              <a:ext cx="244967" cy="960048"/>
            </a:xfrm>
            <a:prstGeom prst="line">
              <a:avLst/>
            </a:prstGeom>
            <a:solidFill>
              <a:srgbClr val="E97132">
                <a:lumMod val="40000"/>
                <a:lumOff val="60000"/>
              </a:srgbClr>
            </a:solidFill>
            <a:ln w="19050" cap="flat" cmpd="sng" algn="ctr">
              <a:gradFill>
                <a:gsLst>
                  <a:gs pos="100000">
                    <a:sysClr val="window" lastClr="FFFFFF"/>
                  </a:gs>
                  <a:gs pos="0">
                    <a:srgbClr val="FF5050"/>
                  </a:gs>
                </a:gsLst>
                <a:lin ang="5400000" scaled="0"/>
              </a:gradFill>
              <a:prstDash val="solid"/>
              <a:miter lim="800000"/>
            </a:ln>
            <a:effectLst/>
          </p:spPr>
        </p:cxnSp>
        <p:cxnSp>
          <p:nvCxnSpPr>
            <p:cNvPr id="1248" name="Straight Connector 1247">
              <a:extLst>
                <a:ext uri="{FF2B5EF4-FFF2-40B4-BE49-F238E27FC236}">
                  <a16:creationId xmlns:a16="http://schemas.microsoft.com/office/drawing/2014/main" id="{1FF98DC5-AFD6-3D2A-3133-491516AAAF63}"/>
                </a:ext>
              </a:extLst>
            </p:cNvPr>
            <p:cNvCxnSpPr>
              <a:cxnSpLocks/>
              <a:stCxn id="1200" idx="2"/>
              <a:endCxn id="1229" idx="0"/>
            </p:cNvCxnSpPr>
            <p:nvPr/>
          </p:nvCxnSpPr>
          <p:spPr>
            <a:xfrm>
              <a:off x="8092053" y="3047999"/>
              <a:ext cx="44914" cy="944426"/>
            </a:xfrm>
            <a:prstGeom prst="line">
              <a:avLst/>
            </a:prstGeom>
            <a:solidFill>
              <a:srgbClr val="E97132">
                <a:lumMod val="40000"/>
                <a:lumOff val="60000"/>
              </a:srgbClr>
            </a:solidFill>
            <a:ln w="19050" cap="flat" cmpd="sng" algn="ctr">
              <a:gradFill>
                <a:gsLst>
                  <a:gs pos="100000">
                    <a:sysClr val="window" lastClr="FFFFFF"/>
                  </a:gs>
                  <a:gs pos="0">
                    <a:srgbClr val="FF2F2F"/>
                  </a:gs>
                </a:gsLst>
                <a:lin ang="5400000" scaled="0"/>
              </a:gradFill>
              <a:prstDash val="solid"/>
              <a:miter lim="800000"/>
            </a:ln>
            <a:effectLst/>
          </p:spPr>
        </p:cxnSp>
        <p:cxnSp>
          <p:nvCxnSpPr>
            <p:cNvPr id="1249" name="Straight Connector 1248">
              <a:extLst>
                <a:ext uri="{FF2B5EF4-FFF2-40B4-BE49-F238E27FC236}">
                  <a16:creationId xmlns:a16="http://schemas.microsoft.com/office/drawing/2014/main" id="{15457CEF-DC95-C9AC-1AEC-6FD1F9BB702B}"/>
                </a:ext>
              </a:extLst>
            </p:cNvPr>
            <p:cNvCxnSpPr>
              <a:cxnSpLocks/>
              <a:stCxn id="1201" idx="2"/>
              <a:endCxn id="1230" idx="0"/>
            </p:cNvCxnSpPr>
            <p:nvPr/>
          </p:nvCxnSpPr>
          <p:spPr>
            <a:xfrm flipH="1">
              <a:off x="8295622" y="3047998"/>
              <a:ext cx="151822" cy="944427"/>
            </a:xfrm>
            <a:prstGeom prst="line">
              <a:avLst/>
            </a:prstGeom>
            <a:solidFill>
              <a:srgbClr val="E97132">
                <a:lumMod val="40000"/>
                <a:lumOff val="60000"/>
              </a:srgbClr>
            </a:solidFill>
            <a:ln w="19050" cap="flat" cmpd="sng" algn="ctr">
              <a:gradFill>
                <a:gsLst>
                  <a:gs pos="100000">
                    <a:sysClr val="window" lastClr="FFFFFF"/>
                  </a:gs>
                  <a:gs pos="0">
                    <a:srgbClr val="FF7575"/>
                  </a:gs>
                </a:gsLst>
                <a:lin ang="5400000" scaled="0"/>
              </a:gradFill>
              <a:prstDash val="solid"/>
              <a:miter lim="800000"/>
            </a:ln>
            <a:effectLst/>
          </p:spPr>
        </p:cxnSp>
        <p:cxnSp>
          <p:nvCxnSpPr>
            <p:cNvPr id="1250" name="Straight Connector 1249">
              <a:extLst>
                <a:ext uri="{FF2B5EF4-FFF2-40B4-BE49-F238E27FC236}">
                  <a16:creationId xmlns:a16="http://schemas.microsoft.com/office/drawing/2014/main" id="{54EA4112-6A88-AD96-0F0F-03A8BEA98769}"/>
                </a:ext>
              </a:extLst>
            </p:cNvPr>
            <p:cNvCxnSpPr>
              <a:cxnSpLocks/>
              <a:stCxn id="1202" idx="2"/>
              <a:endCxn id="1231" idx="0"/>
            </p:cNvCxnSpPr>
            <p:nvPr/>
          </p:nvCxnSpPr>
          <p:spPr>
            <a:xfrm>
              <a:off x="8882245" y="3047998"/>
              <a:ext cx="132280" cy="944427"/>
            </a:xfrm>
            <a:prstGeom prst="line">
              <a:avLst/>
            </a:prstGeom>
            <a:solidFill>
              <a:srgbClr val="E97132">
                <a:lumMod val="40000"/>
                <a:lumOff val="60000"/>
              </a:srgbClr>
            </a:solidFill>
            <a:ln w="19050" cap="flat" cmpd="sng" algn="ctr">
              <a:gradFill>
                <a:gsLst>
                  <a:gs pos="100000">
                    <a:sysClr val="window" lastClr="FFFFFF"/>
                  </a:gs>
                  <a:gs pos="0">
                    <a:srgbClr val="4E95D9"/>
                  </a:gs>
                </a:gsLst>
                <a:lin ang="5400000" scaled="0"/>
              </a:gradFill>
              <a:prstDash val="solid"/>
              <a:miter lim="800000"/>
            </a:ln>
            <a:effectLst/>
          </p:spPr>
        </p:cxnSp>
        <p:sp>
          <p:nvSpPr>
            <p:cNvPr id="1251" name="TextBox 1250">
              <a:extLst>
                <a:ext uri="{FF2B5EF4-FFF2-40B4-BE49-F238E27FC236}">
                  <a16:creationId xmlns:a16="http://schemas.microsoft.com/office/drawing/2014/main" id="{ECA81C96-498A-5F31-027F-E7F3E8F51F10}"/>
                </a:ext>
              </a:extLst>
            </p:cNvPr>
            <p:cNvSpPr txBox="1"/>
            <p:nvPr/>
          </p:nvSpPr>
          <p:spPr>
            <a:xfrm>
              <a:off x="223086" y="3845709"/>
              <a:ext cx="1542159" cy="402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400" b="1" i="0" u="none" strike="noStrike" kern="0" cap="none" spc="0" normalizeH="0" baseline="0" noProof="0">
                  <a:ln>
                    <a:noFill/>
                  </a:ln>
                  <a:solidFill>
                    <a:srgbClr val="156082"/>
                  </a:solidFill>
                  <a:effectLst/>
                  <a:uLnTx/>
                  <a:uFillTx/>
                  <a:latin typeface="Aptos" panose="02110004020202020204"/>
                </a:rPr>
                <a:t>Embedding</a:t>
              </a:r>
              <a:endParaRPr kumimoji="0" lang="vi-VN" sz="2400" b="1" i="0" u="none" strike="noStrike" kern="0" cap="none" spc="0" normalizeH="0" baseline="0" noProof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</a:endParaRPr>
            </a:p>
          </p:txBody>
        </p:sp>
        <p:sp>
          <p:nvSpPr>
            <p:cNvPr id="1252" name="Oval 1251">
              <a:extLst>
                <a:ext uri="{FF2B5EF4-FFF2-40B4-BE49-F238E27FC236}">
                  <a16:creationId xmlns:a16="http://schemas.microsoft.com/office/drawing/2014/main" id="{18096B6F-160D-FAE8-B53C-578010AB1B33}"/>
                </a:ext>
              </a:extLst>
            </p:cNvPr>
            <p:cNvSpPr/>
            <p:nvPr/>
          </p:nvSpPr>
          <p:spPr>
            <a:xfrm>
              <a:off x="3274409" y="3882283"/>
              <a:ext cx="896586" cy="326961"/>
            </a:xfrm>
            <a:prstGeom prst="ellipse">
              <a:avLst/>
            </a:prstGeom>
            <a:noFill/>
            <a:ln w="19050" cap="flat" cmpd="sng" algn="ctr">
              <a:solidFill>
                <a:srgbClr val="FF0000"/>
              </a:solidFill>
              <a:prstDash val="sys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vi-VN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3" name="TextBox 1252">
              <a:extLst>
                <a:ext uri="{FF2B5EF4-FFF2-40B4-BE49-F238E27FC236}">
                  <a16:creationId xmlns:a16="http://schemas.microsoft.com/office/drawing/2014/main" id="{D20354FB-9C99-E56B-364C-EE4D6E665696}"/>
                </a:ext>
              </a:extLst>
            </p:cNvPr>
            <p:cNvSpPr txBox="1"/>
            <p:nvPr/>
          </p:nvSpPr>
          <p:spPr>
            <a:xfrm>
              <a:off x="4129865" y="4580955"/>
              <a:ext cx="810396" cy="3223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ptos" panose="02110004020202020204"/>
                </a:rPr>
                <a:t>cluster</a:t>
              </a:r>
              <a:endParaRPr kumimoji="0" lang="vi-VN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endParaRPr>
            </a:p>
          </p:txBody>
        </p:sp>
        <p:cxnSp>
          <p:nvCxnSpPr>
            <p:cNvPr id="1254" name="Straight Arrow Connector 1253">
              <a:extLst>
                <a:ext uri="{FF2B5EF4-FFF2-40B4-BE49-F238E27FC236}">
                  <a16:creationId xmlns:a16="http://schemas.microsoft.com/office/drawing/2014/main" id="{17237756-1F93-C810-0E11-B91311E76A98}"/>
                </a:ext>
              </a:extLst>
            </p:cNvPr>
            <p:cNvCxnSpPr>
              <a:cxnSpLocks/>
              <a:endCxn id="1252" idx="5"/>
            </p:cNvCxnSpPr>
            <p:nvPr/>
          </p:nvCxnSpPr>
          <p:spPr>
            <a:xfrm flipH="1" flipV="1">
              <a:off x="4039693" y="4161362"/>
              <a:ext cx="391644" cy="479390"/>
            </a:xfrm>
            <a:prstGeom prst="straightConnector1">
              <a:avLst/>
            </a:prstGeom>
            <a:noFill/>
            <a:ln w="19050" cap="flat" cmpd="sng" algn="ctr">
              <a:solidFill>
                <a:srgbClr val="FF0000"/>
              </a:solidFill>
              <a:prstDash val="sysDash"/>
              <a:miter lim="800000"/>
              <a:tailEnd type="triangle"/>
            </a:ln>
            <a:effectLst/>
          </p:spPr>
        </p:cxnSp>
        <p:sp>
          <p:nvSpPr>
            <p:cNvPr id="1255" name="Left Brace 1254">
              <a:extLst>
                <a:ext uri="{FF2B5EF4-FFF2-40B4-BE49-F238E27FC236}">
                  <a16:creationId xmlns:a16="http://schemas.microsoft.com/office/drawing/2014/main" id="{4F16937C-0FE8-FEBA-B01F-9EFD2989BBB7}"/>
                </a:ext>
              </a:extLst>
            </p:cNvPr>
            <p:cNvSpPr/>
            <p:nvPr/>
          </p:nvSpPr>
          <p:spPr>
            <a:xfrm rot="16200000">
              <a:off x="5566759" y="3676090"/>
              <a:ext cx="198893" cy="1008561"/>
            </a:xfrm>
            <a:prstGeom prst="leftBrace">
              <a:avLst>
                <a:gd name="adj1" fmla="val 39443"/>
                <a:gd name="adj2" fmla="val 50000"/>
              </a:avLst>
            </a:prstGeom>
            <a:noFill/>
            <a:ln w="19050" cap="flat" cmpd="sng" algn="ctr">
              <a:solidFill>
                <a:srgbClr val="FF0000"/>
              </a:solidFill>
              <a:prstDash val="sys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vi-VN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6" name="TextBox 1255">
              <a:extLst>
                <a:ext uri="{FF2B5EF4-FFF2-40B4-BE49-F238E27FC236}">
                  <a16:creationId xmlns:a16="http://schemas.microsoft.com/office/drawing/2014/main" id="{02FC06C2-E95B-B9B3-4015-48624B019B94}"/>
                </a:ext>
              </a:extLst>
            </p:cNvPr>
            <p:cNvSpPr txBox="1"/>
            <p:nvPr/>
          </p:nvSpPr>
          <p:spPr>
            <a:xfrm>
              <a:off x="5129577" y="4208230"/>
              <a:ext cx="957309" cy="3223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ptos" panose="02110004020202020204"/>
                </a:rPr>
                <a:t>distance</a:t>
              </a:r>
              <a:endParaRPr kumimoji="0" lang="vi-VN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endParaRPr>
            </a:p>
          </p:txBody>
        </p:sp>
        <p:cxnSp>
          <p:nvCxnSpPr>
            <p:cNvPr id="1257" name="Straight Arrow Connector 1256">
              <a:extLst>
                <a:ext uri="{FF2B5EF4-FFF2-40B4-BE49-F238E27FC236}">
                  <a16:creationId xmlns:a16="http://schemas.microsoft.com/office/drawing/2014/main" id="{5D7ABFAA-E721-4E0E-6F6F-633F2ABE6E49}"/>
                </a:ext>
              </a:extLst>
            </p:cNvPr>
            <p:cNvCxnSpPr>
              <a:endCxn id="1204" idx="0"/>
            </p:cNvCxnSpPr>
            <p:nvPr/>
          </p:nvCxnSpPr>
          <p:spPr>
            <a:xfrm>
              <a:off x="2384759" y="4197540"/>
              <a:ext cx="164596" cy="953943"/>
            </a:xfrm>
            <a:prstGeom prst="straightConnector1">
              <a:avLst/>
            </a:prstGeom>
            <a:noFill/>
            <a:ln w="19050" cap="flat" cmpd="sng" algn="ctr">
              <a:gradFill>
                <a:gsLst>
                  <a:gs pos="0">
                    <a:sysClr val="window" lastClr="FFFFFF"/>
                  </a:gs>
                  <a:gs pos="100000">
                    <a:srgbClr val="E97132"/>
                  </a:gs>
                </a:gsLst>
                <a:lin ang="5400000" scaled="1"/>
              </a:gra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258" name="Straight Arrow Connector 1257">
              <a:extLst>
                <a:ext uri="{FF2B5EF4-FFF2-40B4-BE49-F238E27FC236}">
                  <a16:creationId xmlns:a16="http://schemas.microsoft.com/office/drawing/2014/main" id="{41E81900-7219-11B7-8636-B0B1D790B5A0}"/>
                </a:ext>
              </a:extLst>
            </p:cNvPr>
            <p:cNvCxnSpPr>
              <a:cxnSpLocks/>
              <a:endCxn id="1205" idx="0"/>
            </p:cNvCxnSpPr>
            <p:nvPr/>
          </p:nvCxnSpPr>
          <p:spPr>
            <a:xfrm>
              <a:off x="3773285" y="4307681"/>
              <a:ext cx="108042" cy="843802"/>
            </a:xfrm>
            <a:prstGeom prst="straightConnector1">
              <a:avLst/>
            </a:prstGeom>
            <a:noFill/>
            <a:ln w="19050" cap="flat" cmpd="sng" algn="ctr">
              <a:gradFill>
                <a:gsLst>
                  <a:gs pos="0">
                    <a:srgbClr val="FFFFFF"/>
                  </a:gs>
                  <a:gs pos="100000">
                    <a:srgbClr val="4E95D9"/>
                  </a:gs>
                </a:gsLst>
                <a:lin ang="5400000" scaled="1"/>
              </a:gra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259" name="Straight Arrow Connector 1258">
              <a:extLst>
                <a:ext uri="{FF2B5EF4-FFF2-40B4-BE49-F238E27FC236}">
                  <a16:creationId xmlns:a16="http://schemas.microsoft.com/office/drawing/2014/main" id="{5E9D7080-61C9-00C0-7F62-13A00178C8D7}"/>
                </a:ext>
              </a:extLst>
            </p:cNvPr>
            <p:cNvCxnSpPr>
              <a:cxnSpLocks/>
              <a:endCxn id="1206" idx="0"/>
            </p:cNvCxnSpPr>
            <p:nvPr/>
          </p:nvCxnSpPr>
          <p:spPr>
            <a:xfrm>
              <a:off x="5009525" y="4270659"/>
              <a:ext cx="409736" cy="880823"/>
            </a:xfrm>
            <a:prstGeom prst="straightConnector1">
              <a:avLst/>
            </a:prstGeom>
            <a:noFill/>
            <a:ln w="19050" cap="flat" cmpd="sng" algn="ctr">
              <a:gradFill>
                <a:gsLst>
                  <a:gs pos="0">
                    <a:sysClr val="window" lastClr="FFFFFF"/>
                  </a:gs>
                  <a:gs pos="100000">
                    <a:srgbClr val="4EA72E"/>
                  </a:gs>
                </a:gsLst>
                <a:lin ang="5400000" scaled="1"/>
              </a:gra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260" name="Straight Arrow Connector 1259">
              <a:extLst>
                <a:ext uri="{FF2B5EF4-FFF2-40B4-BE49-F238E27FC236}">
                  <a16:creationId xmlns:a16="http://schemas.microsoft.com/office/drawing/2014/main" id="{4A4C8CB8-2A93-1098-5CBD-B08E2782E967}"/>
                </a:ext>
              </a:extLst>
            </p:cNvPr>
            <p:cNvCxnSpPr>
              <a:cxnSpLocks/>
              <a:endCxn id="1207" idx="0"/>
            </p:cNvCxnSpPr>
            <p:nvPr/>
          </p:nvCxnSpPr>
          <p:spPr>
            <a:xfrm>
              <a:off x="6369497" y="4238449"/>
              <a:ext cx="411630" cy="913033"/>
            </a:xfrm>
            <a:prstGeom prst="straightConnector1">
              <a:avLst/>
            </a:prstGeom>
            <a:noFill/>
            <a:ln w="19050" cap="flat" cmpd="sng" algn="ctr">
              <a:gradFill>
                <a:gsLst>
                  <a:gs pos="0">
                    <a:sysClr val="window" lastClr="FFFFFF"/>
                  </a:gs>
                  <a:gs pos="100000">
                    <a:srgbClr val="A02B93"/>
                  </a:gs>
                </a:gsLst>
                <a:lin ang="5400000" scaled="1"/>
              </a:gra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261" name="Straight Arrow Connector 1260">
              <a:extLst>
                <a:ext uri="{FF2B5EF4-FFF2-40B4-BE49-F238E27FC236}">
                  <a16:creationId xmlns:a16="http://schemas.microsoft.com/office/drawing/2014/main" id="{1A8A3643-692E-BECF-8175-6B563452A596}"/>
                </a:ext>
              </a:extLst>
            </p:cNvPr>
            <p:cNvCxnSpPr>
              <a:cxnSpLocks/>
              <a:endCxn id="1208" idx="0"/>
            </p:cNvCxnSpPr>
            <p:nvPr/>
          </p:nvCxnSpPr>
          <p:spPr>
            <a:xfrm>
              <a:off x="7374169" y="4225398"/>
              <a:ext cx="71081" cy="926084"/>
            </a:xfrm>
            <a:prstGeom prst="straightConnector1">
              <a:avLst/>
            </a:prstGeom>
            <a:noFill/>
            <a:ln w="19050" cap="flat" cmpd="sng" algn="ctr">
              <a:gradFill>
                <a:gsLst>
                  <a:gs pos="0">
                    <a:srgbClr val="FFFFFF"/>
                  </a:gs>
                  <a:gs pos="100000">
                    <a:srgbClr val="4E95D9"/>
                  </a:gs>
                </a:gsLst>
                <a:lin ang="5400000" scaled="1"/>
              </a:gra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262" name="Straight Arrow Connector 1261">
              <a:extLst>
                <a:ext uri="{FF2B5EF4-FFF2-40B4-BE49-F238E27FC236}">
                  <a16:creationId xmlns:a16="http://schemas.microsoft.com/office/drawing/2014/main" id="{77DF5616-A306-6A0E-B726-5FA3EB17F0DA}"/>
                </a:ext>
              </a:extLst>
            </p:cNvPr>
            <p:cNvCxnSpPr>
              <a:cxnSpLocks/>
              <a:endCxn id="1209" idx="0"/>
            </p:cNvCxnSpPr>
            <p:nvPr/>
          </p:nvCxnSpPr>
          <p:spPr>
            <a:xfrm>
              <a:off x="8136967" y="4270659"/>
              <a:ext cx="4880" cy="880823"/>
            </a:xfrm>
            <a:prstGeom prst="straightConnector1">
              <a:avLst/>
            </a:prstGeom>
            <a:noFill/>
            <a:ln w="19050" cap="flat" cmpd="sng" algn="ctr">
              <a:gradFill>
                <a:gsLst>
                  <a:gs pos="0">
                    <a:srgbClr val="FFFFFF"/>
                  </a:gs>
                  <a:gs pos="100000">
                    <a:srgbClr val="FF2F2F"/>
                  </a:gs>
                </a:gsLst>
                <a:lin ang="5400000" scaled="1"/>
              </a:gra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263" name="Straight Arrow Connector 1262">
              <a:extLst>
                <a:ext uri="{FF2B5EF4-FFF2-40B4-BE49-F238E27FC236}">
                  <a16:creationId xmlns:a16="http://schemas.microsoft.com/office/drawing/2014/main" id="{DF4D0BD7-9F2D-2ED0-15B2-1194CF5EB23E}"/>
                </a:ext>
              </a:extLst>
            </p:cNvPr>
            <p:cNvCxnSpPr>
              <a:cxnSpLocks/>
              <a:endCxn id="1210" idx="0"/>
            </p:cNvCxnSpPr>
            <p:nvPr/>
          </p:nvCxnSpPr>
          <p:spPr>
            <a:xfrm flipH="1">
              <a:off x="8869060" y="4270659"/>
              <a:ext cx="145465" cy="880821"/>
            </a:xfrm>
            <a:prstGeom prst="straightConnector1">
              <a:avLst/>
            </a:prstGeom>
            <a:noFill/>
            <a:ln w="19050" cap="flat" cmpd="sng" algn="ctr">
              <a:gradFill>
                <a:gsLst>
                  <a:gs pos="0">
                    <a:srgbClr val="FFFFFF"/>
                  </a:gs>
                  <a:gs pos="100000">
                    <a:srgbClr val="4E95D9"/>
                  </a:gs>
                </a:gsLst>
                <a:lin ang="5400000" scaled="1"/>
              </a:gradFill>
              <a:prstDash val="solid"/>
              <a:miter lim="800000"/>
              <a:tailEnd type="triangle"/>
            </a:ln>
            <a:effectLst/>
          </p:spPr>
        </p:cxnSp>
        <p:sp>
          <p:nvSpPr>
            <p:cNvPr id="1264" name="TextBox 1263">
              <a:extLst>
                <a:ext uri="{FF2B5EF4-FFF2-40B4-BE49-F238E27FC236}">
                  <a16:creationId xmlns:a16="http://schemas.microsoft.com/office/drawing/2014/main" id="{230779F3-194B-286C-F108-8044E5EFCA23}"/>
                </a:ext>
              </a:extLst>
            </p:cNvPr>
            <p:cNvSpPr txBox="1"/>
            <p:nvPr/>
          </p:nvSpPr>
          <p:spPr>
            <a:xfrm>
              <a:off x="892371" y="5723978"/>
              <a:ext cx="1375658" cy="3223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ptos" panose="02110004020202020204"/>
                </a:rPr>
                <a:t>long duration</a:t>
              </a:r>
              <a:endParaRPr kumimoji="0" lang="vi-VN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endParaRPr>
            </a:p>
          </p:txBody>
        </p:sp>
        <p:sp>
          <p:nvSpPr>
            <p:cNvPr id="1265" name="TextBox 1264">
              <a:extLst>
                <a:ext uri="{FF2B5EF4-FFF2-40B4-BE49-F238E27FC236}">
                  <a16:creationId xmlns:a16="http://schemas.microsoft.com/office/drawing/2014/main" id="{333AD15E-C17F-B182-0E30-673FC49276D8}"/>
                </a:ext>
              </a:extLst>
            </p:cNvPr>
            <p:cNvSpPr txBox="1"/>
            <p:nvPr/>
          </p:nvSpPr>
          <p:spPr>
            <a:xfrm>
              <a:off x="1161708" y="2213248"/>
              <a:ext cx="1461008" cy="3223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ptos" panose="02110004020202020204"/>
                </a:rPr>
                <a:t>short duration</a:t>
              </a:r>
              <a:endParaRPr kumimoji="0" lang="vi-VN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endParaRPr>
            </a:p>
          </p:txBody>
        </p:sp>
        <p:cxnSp>
          <p:nvCxnSpPr>
            <p:cNvPr id="1266" name="Straight Arrow Connector 1265">
              <a:extLst>
                <a:ext uri="{FF2B5EF4-FFF2-40B4-BE49-F238E27FC236}">
                  <a16:creationId xmlns:a16="http://schemas.microsoft.com/office/drawing/2014/main" id="{23E2DB9D-5B64-1453-DE63-E071813E6A5C}"/>
                </a:ext>
              </a:extLst>
            </p:cNvPr>
            <p:cNvCxnSpPr>
              <a:cxnSpLocks/>
              <a:stCxn id="1264" idx="0"/>
              <a:endCxn id="1204" idx="2"/>
            </p:cNvCxnSpPr>
            <p:nvPr/>
          </p:nvCxnSpPr>
          <p:spPr>
            <a:xfrm flipV="1">
              <a:off x="1580200" y="5434512"/>
              <a:ext cx="969155" cy="289467"/>
            </a:xfrm>
            <a:prstGeom prst="straightConnector1">
              <a:avLst/>
            </a:prstGeom>
            <a:noFill/>
            <a:ln w="19050" cap="flat" cmpd="sng" algn="ctr">
              <a:solidFill>
                <a:srgbClr val="FF0000"/>
              </a:solidFill>
              <a:prstDash val="sysDash"/>
              <a:miter lim="800000"/>
              <a:tailEnd type="triangle"/>
            </a:ln>
            <a:effectLst/>
          </p:spPr>
        </p:cxnSp>
        <p:cxnSp>
          <p:nvCxnSpPr>
            <p:cNvPr id="1267" name="Straight Arrow Connector 1266">
              <a:extLst>
                <a:ext uri="{FF2B5EF4-FFF2-40B4-BE49-F238E27FC236}">
                  <a16:creationId xmlns:a16="http://schemas.microsoft.com/office/drawing/2014/main" id="{8E495E7B-D7B3-DAC4-3C95-B59384F1371B}"/>
                </a:ext>
              </a:extLst>
            </p:cNvPr>
            <p:cNvCxnSpPr>
              <a:cxnSpLocks/>
              <a:stCxn id="1265" idx="2"/>
              <a:endCxn id="1184" idx="0"/>
            </p:cNvCxnSpPr>
            <p:nvPr/>
          </p:nvCxnSpPr>
          <p:spPr>
            <a:xfrm>
              <a:off x="1892212" y="2535616"/>
              <a:ext cx="313329" cy="229356"/>
            </a:xfrm>
            <a:prstGeom prst="straightConnector1">
              <a:avLst/>
            </a:prstGeom>
            <a:noFill/>
            <a:ln w="19050" cap="flat" cmpd="sng" algn="ctr">
              <a:solidFill>
                <a:srgbClr val="FF0000"/>
              </a:solidFill>
              <a:prstDash val="sysDash"/>
              <a:miter lim="800000"/>
              <a:tailEnd type="triangle"/>
            </a:ln>
            <a:effectLst/>
          </p:spPr>
        </p:cxnSp>
      </p:grpSp>
      <p:cxnSp>
        <p:nvCxnSpPr>
          <p:cNvPr id="1268" name="Straight Connector 1267">
            <a:extLst>
              <a:ext uri="{FF2B5EF4-FFF2-40B4-BE49-F238E27FC236}">
                <a16:creationId xmlns:a16="http://schemas.microsoft.com/office/drawing/2014/main" id="{66B79701-7C1F-A4A6-EAEB-0AFAF53477BE}"/>
              </a:ext>
            </a:extLst>
          </p:cNvPr>
          <p:cNvCxnSpPr>
            <a:cxnSpLocks/>
          </p:cNvCxnSpPr>
          <p:nvPr/>
        </p:nvCxnSpPr>
        <p:spPr>
          <a:xfrm>
            <a:off x="111760" y="1667732"/>
            <a:ext cx="246603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1113734"/>
            <a:ext cx="4702506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3000" b="1">
                <a:solidFill>
                  <a:srgbClr val="FFFFFF"/>
                </a:solidFill>
              </a:defRPr>
            </a:pPr>
            <a:r>
              <a:rPr lang="en-US">
                <a:solidFill>
                  <a:schemeClr val="accent1">
                    <a:lumMod val="75000"/>
                  </a:schemeClr>
                </a:solidFill>
              </a:rPr>
              <a:t>Intermediate language steps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2CBE003-3EE2-30D1-DF12-D4305FE9CAEA}"/>
              </a:ext>
            </a:extLst>
          </p:cNvPr>
          <p:cNvGrpSpPr/>
          <p:nvPr/>
        </p:nvGrpSpPr>
        <p:grpSpPr>
          <a:xfrm>
            <a:off x="2081527" y="1872424"/>
            <a:ext cx="8028945" cy="2470712"/>
            <a:chOff x="2100574" y="2550160"/>
            <a:chExt cx="8028945" cy="2470712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791F3841-A44F-7C82-8D3A-5B0FD682F46C}"/>
                </a:ext>
              </a:extLst>
            </p:cNvPr>
            <p:cNvSpPr/>
            <p:nvPr/>
          </p:nvSpPr>
          <p:spPr>
            <a:xfrm>
              <a:off x="2100574" y="2550160"/>
              <a:ext cx="2587426" cy="2426718"/>
            </a:xfrm>
            <a:custGeom>
              <a:avLst/>
              <a:gdLst>
                <a:gd name="connsiteX0" fmla="*/ 0 w 2647156"/>
                <a:gd name="connsiteY0" fmla="*/ 132358 h 3176587"/>
                <a:gd name="connsiteX1" fmla="*/ 132358 w 2647156"/>
                <a:gd name="connsiteY1" fmla="*/ 0 h 3176587"/>
                <a:gd name="connsiteX2" fmla="*/ 2514798 w 2647156"/>
                <a:gd name="connsiteY2" fmla="*/ 0 h 3176587"/>
                <a:gd name="connsiteX3" fmla="*/ 2647156 w 2647156"/>
                <a:gd name="connsiteY3" fmla="*/ 132358 h 3176587"/>
                <a:gd name="connsiteX4" fmla="*/ 2647156 w 2647156"/>
                <a:gd name="connsiteY4" fmla="*/ 3044229 h 3176587"/>
                <a:gd name="connsiteX5" fmla="*/ 2514798 w 2647156"/>
                <a:gd name="connsiteY5" fmla="*/ 3176587 h 3176587"/>
                <a:gd name="connsiteX6" fmla="*/ 132358 w 2647156"/>
                <a:gd name="connsiteY6" fmla="*/ 3176587 h 3176587"/>
                <a:gd name="connsiteX7" fmla="*/ 0 w 2647156"/>
                <a:gd name="connsiteY7" fmla="*/ 3044229 h 3176587"/>
                <a:gd name="connsiteX8" fmla="*/ 0 w 2647156"/>
                <a:gd name="connsiteY8" fmla="*/ 132358 h 3176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47156" h="3176587">
                  <a:moveTo>
                    <a:pt x="2536857" y="1"/>
                  </a:moveTo>
                  <a:cubicBezTo>
                    <a:pt x="2597773" y="1"/>
                    <a:pt x="2647156" y="71111"/>
                    <a:pt x="2647156" y="158830"/>
                  </a:cubicBezTo>
                  <a:lnTo>
                    <a:pt x="2647156" y="3017757"/>
                  </a:lnTo>
                  <a:cubicBezTo>
                    <a:pt x="2647156" y="3105476"/>
                    <a:pt x="2597773" y="3176586"/>
                    <a:pt x="2536857" y="3176586"/>
                  </a:cubicBezTo>
                  <a:lnTo>
                    <a:pt x="110299" y="3176586"/>
                  </a:lnTo>
                  <a:cubicBezTo>
                    <a:pt x="49383" y="3176586"/>
                    <a:pt x="0" y="3105476"/>
                    <a:pt x="0" y="3017757"/>
                  </a:cubicBezTo>
                  <a:lnTo>
                    <a:pt x="0" y="158830"/>
                  </a:lnTo>
                  <a:cubicBezTo>
                    <a:pt x="0" y="71111"/>
                    <a:pt x="49383" y="1"/>
                    <a:pt x="110299" y="1"/>
                  </a:cubicBezTo>
                  <a:lnTo>
                    <a:pt x="2536857" y="1"/>
                  </a:lnTo>
                  <a:close/>
                </a:path>
              </a:pathLst>
            </a:custGeom>
            <a:solidFill>
              <a:srgbClr val="678CCF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71785" tIns="65150" rIns="84456" bIns="2117726" numCol="1" spcCol="1270" anchor="t" anchorCtr="0">
              <a:noAutofit/>
            </a:bodyPr>
            <a:lstStyle/>
            <a:p>
              <a:pPr marL="0" lvl="0" indent="0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2400"/>
            </a:p>
            <a:p>
              <a:pPr marL="0" lvl="0" indent="0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800" kern="1200"/>
                <a:t>Captioning</a:t>
              </a:r>
              <a:endParaRPr lang="vi-VN" sz="2400" kern="120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CC0BB645-02BE-6403-FB41-2F37E4A076F5}"/>
                </a:ext>
              </a:extLst>
            </p:cNvPr>
            <p:cNvSpPr/>
            <p:nvPr/>
          </p:nvSpPr>
          <p:spPr>
            <a:xfrm>
              <a:off x="2526064" y="4111562"/>
              <a:ext cx="2111856" cy="680719"/>
            </a:xfrm>
            <a:custGeom>
              <a:avLst/>
              <a:gdLst>
                <a:gd name="connsiteX0" fmla="*/ 0 w 1972131"/>
                <a:gd name="connsiteY0" fmla="*/ 0 h 3176587"/>
                <a:gd name="connsiteX1" fmla="*/ 1972131 w 1972131"/>
                <a:gd name="connsiteY1" fmla="*/ 0 h 3176587"/>
                <a:gd name="connsiteX2" fmla="*/ 1972131 w 1972131"/>
                <a:gd name="connsiteY2" fmla="*/ 3176587 h 3176587"/>
                <a:gd name="connsiteX3" fmla="*/ 0 w 1972131"/>
                <a:gd name="connsiteY3" fmla="*/ 3176587 h 3176587"/>
                <a:gd name="connsiteX4" fmla="*/ 0 w 1972131"/>
                <a:gd name="connsiteY4" fmla="*/ 0 h 3176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2131" h="3176587">
                  <a:moveTo>
                    <a:pt x="0" y="0"/>
                  </a:moveTo>
                  <a:lnTo>
                    <a:pt x="1972131" y="0"/>
                  </a:lnTo>
                  <a:lnTo>
                    <a:pt x="1972131" y="3176587"/>
                  </a:lnTo>
                  <a:lnTo>
                    <a:pt x="0" y="3176587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sp3d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0" tIns="123444" rIns="0" bIns="0" numCol="1" spcCol="1270" anchor="t" anchorCtr="0">
              <a:noAutofit/>
            </a:bodyPr>
            <a:lstStyle/>
            <a:p>
              <a:pPr marL="0" lvl="0" indent="0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kern="1200"/>
                <a:t>VideoChat R1.5</a:t>
              </a:r>
              <a:endParaRPr lang="vi-VN" sz="2400" kern="120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874DDE3E-BAC8-D595-916B-6963ABA0594F}"/>
                </a:ext>
              </a:extLst>
            </p:cNvPr>
            <p:cNvSpPr/>
            <p:nvPr/>
          </p:nvSpPr>
          <p:spPr>
            <a:xfrm>
              <a:off x="4802286" y="2550160"/>
              <a:ext cx="2587426" cy="2426718"/>
            </a:xfrm>
            <a:custGeom>
              <a:avLst/>
              <a:gdLst>
                <a:gd name="connsiteX0" fmla="*/ 0 w 2647156"/>
                <a:gd name="connsiteY0" fmla="*/ 132358 h 3176587"/>
                <a:gd name="connsiteX1" fmla="*/ 132358 w 2647156"/>
                <a:gd name="connsiteY1" fmla="*/ 0 h 3176587"/>
                <a:gd name="connsiteX2" fmla="*/ 2514798 w 2647156"/>
                <a:gd name="connsiteY2" fmla="*/ 0 h 3176587"/>
                <a:gd name="connsiteX3" fmla="*/ 2647156 w 2647156"/>
                <a:gd name="connsiteY3" fmla="*/ 132358 h 3176587"/>
                <a:gd name="connsiteX4" fmla="*/ 2647156 w 2647156"/>
                <a:gd name="connsiteY4" fmla="*/ 3044229 h 3176587"/>
                <a:gd name="connsiteX5" fmla="*/ 2514798 w 2647156"/>
                <a:gd name="connsiteY5" fmla="*/ 3176587 h 3176587"/>
                <a:gd name="connsiteX6" fmla="*/ 132358 w 2647156"/>
                <a:gd name="connsiteY6" fmla="*/ 3176587 h 3176587"/>
                <a:gd name="connsiteX7" fmla="*/ 0 w 2647156"/>
                <a:gd name="connsiteY7" fmla="*/ 3044229 h 3176587"/>
                <a:gd name="connsiteX8" fmla="*/ 0 w 2647156"/>
                <a:gd name="connsiteY8" fmla="*/ 132358 h 3176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47156" h="3176587">
                  <a:moveTo>
                    <a:pt x="2536857" y="1"/>
                  </a:moveTo>
                  <a:cubicBezTo>
                    <a:pt x="2597773" y="1"/>
                    <a:pt x="2647156" y="71111"/>
                    <a:pt x="2647156" y="158830"/>
                  </a:cubicBezTo>
                  <a:lnTo>
                    <a:pt x="2647156" y="3017757"/>
                  </a:lnTo>
                  <a:cubicBezTo>
                    <a:pt x="2647156" y="3105476"/>
                    <a:pt x="2597773" y="3176586"/>
                    <a:pt x="2536857" y="3176586"/>
                  </a:cubicBezTo>
                  <a:lnTo>
                    <a:pt x="110299" y="3176586"/>
                  </a:lnTo>
                  <a:cubicBezTo>
                    <a:pt x="49383" y="3176586"/>
                    <a:pt x="0" y="3105476"/>
                    <a:pt x="0" y="3017757"/>
                  </a:cubicBezTo>
                  <a:lnTo>
                    <a:pt x="0" y="158830"/>
                  </a:lnTo>
                  <a:cubicBezTo>
                    <a:pt x="0" y="71111"/>
                    <a:pt x="49383" y="1"/>
                    <a:pt x="110299" y="1"/>
                  </a:cubicBezTo>
                  <a:lnTo>
                    <a:pt x="2536857" y="1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71785" tIns="65151" rIns="84456" bIns="2117726" numCol="1" spcCol="1270" anchor="t" anchorCtr="0">
              <a:noAutofit/>
            </a:bodyPr>
            <a:lstStyle/>
            <a:p>
              <a:pPr marL="0" lvl="0" indent="0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2400" kern="1200"/>
            </a:p>
            <a:p>
              <a:pPr marL="0" lvl="0" indent="0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kern="1200"/>
                <a:t>Music feature suggestion</a:t>
              </a:r>
              <a:endParaRPr lang="vi-VN" sz="2400" kern="1200"/>
            </a:p>
          </p:txBody>
        </p:sp>
        <p:sp>
          <p:nvSpPr>
            <p:cNvPr id="8" name="Flowchart: Extract 7">
              <a:extLst>
                <a:ext uri="{FF2B5EF4-FFF2-40B4-BE49-F238E27FC236}">
                  <a16:creationId xmlns:a16="http://schemas.microsoft.com/office/drawing/2014/main" id="{44C9E6CA-2573-402D-8D9F-06E004BE8590}"/>
                </a:ext>
              </a:extLst>
            </p:cNvPr>
            <p:cNvSpPr/>
            <p:nvPr/>
          </p:nvSpPr>
          <p:spPr>
            <a:xfrm rot="5400000">
              <a:off x="4552299" y="4588978"/>
              <a:ext cx="466715" cy="397073"/>
            </a:xfrm>
            <a:prstGeom prst="flowChartExtract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vi-VN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613726A-31AC-A337-6896-7BB26F57B377}"/>
                </a:ext>
              </a:extLst>
            </p:cNvPr>
            <p:cNvSpPr/>
            <p:nvPr/>
          </p:nvSpPr>
          <p:spPr>
            <a:xfrm>
              <a:off x="5160734" y="3948223"/>
              <a:ext cx="1972131" cy="1007398"/>
            </a:xfrm>
            <a:custGeom>
              <a:avLst/>
              <a:gdLst>
                <a:gd name="connsiteX0" fmla="*/ 0 w 1972131"/>
                <a:gd name="connsiteY0" fmla="*/ 0 h 3176587"/>
                <a:gd name="connsiteX1" fmla="*/ 1972131 w 1972131"/>
                <a:gd name="connsiteY1" fmla="*/ 0 h 3176587"/>
                <a:gd name="connsiteX2" fmla="*/ 1972131 w 1972131"/>
                <a:gd name="connsiteY2" fmla="*/ 3176587 h 3176587"/>
                <a:gd name="connsiteX3" fmla="*/ 0 w 1972131"/>
                <a:gd name="connsiteY3" fmla="*/ 3176587 h 3176587"/>
                <a:gd name="connsiteX4" fmla="*/ 0 w 1972131"/>
                <a:gd name="connsiteY4" fmla="*/ 0 h 3176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2131" h="3176587">
                  <a:moveTo>
                    <a:pt x="0" y="0"/>
                  </a:moveTo>
                  <a:lnTo>
                    <a:pt x="1972131" y="0"/>
                  </a:lnTo>
                  <a:lnTo>
                    <a:pt x="1972131" y="3176587"/>
                  </a:lnTo>
                  <a:lnTo>
                    <a:pt x="0" y="3176587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sp3d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0" tIns="123444" rIns="0" bIns="0" numCol="1" spcCol="1270" anchor="t" anchorCtr="0">
              <a:noAutofit/>
            </a:bodyPr>
            <a:lstStyle/>
            <a:p>
              <a:pPr marL="0" lvl="0" indent="0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vi-VN" sz="2400" kern="1200"/>
                <a:t>Qwen3 4B Instruct 2507</a:t>
              </a: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1EBEF5C2-3BDA-A5F8-F4FC-DE15EDD4E503}"/>
                </a:ext>
              </a:extLst>
            </p:cNvPr>
            <p:cNvSpPr/>
            <p:nvPr/>
          </p:nvSpPr>
          <p:spPr>
            <a:xfrm>
              <a:off x="7542093" y="2550160"/>
              <a:ext cx="2587426" cy="2426718"/>
            </a:xfrm>
            <a:custGeom>
              <a:avLst/>
              <a:gdLst>
                <a:gd name="connsiteX0" fmla="*/ 0 w 2647156"/>
                <a:gd name="connsiteY0" fmla="*/ 132358 h 3176587"/>
                <a:gd name="connsiteX1" fmla="*/ 132358 w 2647156"/>
                <a:gd name="connsiteY1" fmla="*/ 0 h 3176587"/>
                <a:gd name="connsiteX2" fmla="*/ 2514798 w 2647156"/>
                <a:gd name="connsiteY2" fmla="*/ 0 h 3176587"/>
                <a:gd name="connsiteX3" fmla="*/ 2647156 w 2647156"/>
                <a:gd name="connsiteY3" fmla="*/ 132358 h 3176587"/>
                <a:gd name="connsiteX4" fmla="*/ 2647156 w 2647156"/>
                <a:gd name="connsiteY4" fmla="*/ 3044229 h 3176587"/>
                <a:gd name="connsiteX5" fmla="*/ 2514798 w 2647156"/>
                <a:gd name="connsiteY5" fmla="*/ 3176587 h 3176587"/>
                <a:gd name="connsiteX6" fmla="*/ 132358 w 2647156"/>
                <a:gd name="connsiteY6" fmla="*/ 3176587 h 3176587"/>
                <a:gd name="connsiteX7" fmla="*/ 0 w 2647156"/>
                <a:gd name="connsiteY7" fmla="*/ 3044229 h 3176587"/>
                <a:gd name="connsiteX8" fmla="*/ 0 w 2647156"/>
                <a:gd name="connsiteY8" fmla="*/ 132358 h 3176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47156" h="3176587">
                  <a:moveTo>
                    <a:pt x="2536857" y="1"/>
                  </a:moveTo>
                  <a:cubicBezTo>
                    <a:pt x="2597773" y="1"/>
                    <a:pt x="2647156" y="71111"/>
                    <a:pt x="2647156" y="158830"/>
                  </a:cubicBezTo>
                  <a:lnTo>
                    <a:pt x="2647156" y="3017757"/>
                  </a:lnTo>
                  <a:cubicBezTo>
                    <a:pt x="2647156" y="3105476"/>
                    <a:pt x="2597773" y="3176586"/>
                    <a:pt x="2536857" y="3176586"/>
                  </a:cubicBezTo>
                  <a:lnTo>
                    <a:pt x="110299" y="3176586"/>
                  </a:lnTo>
                  <a:cubicBezTo>
                    <a:pt x="49383" y="3176586"/>
                    <a:pt x="0" y="3105476"/>
                    <a:pt x="0" y="3017757"/>
                  </a:cubicBezTo>
                  <a:lnTo>
                    <a:pt x="0" y="158830"/>
                  </a:lnTo>
                  <a:cubicBezTo>
                    <a:pt x="0" y="71111"/>
                    <a:pt x="49383" y="1"/>
                    <a:pt x="110299" y="1"/>
                  </a:cubicBezTo>
                  <a:lnTo>
                    <a:pt x="2536857" y="1"/>
                  </a:lnTo>
                  <a:close/>
                </a:path>
              </a:pathLst>
            </a:custGeom>
            <a:solidFill>
              <a:srgbClr val="3660AC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71785" tIns="65151" rIns="84456" bIns="2117725" numCol="1" spcCol="1270" anchor="t" anchorCtr="0">
              <a:noAutofit/>
            </a:bodyPr>
            <a:lstStyle/>
            <a:p>
              <a:pPr marL="0" lvl="0" indent="0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2400" kern="1200"/>
            </a:p>
            <a:p>
              <a:pPr marL="0" lvl="0" indent="0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kern="1200"/>
                <a:t>Prompt preparation</a:t>
              </a:r>
              <a:endParaRPr lang="vi-VN" sz="2400" kern="1200"/>
            </a:p>
          </p:txBody>
        </p:sp>
        <p:sp>
          <p:nvSpPr>
            <p:cNvPr id="11" name="Flowchart: Extract 10">
              <a:extLst>
                <a:ext uri="{FF2B5EF4-FFF2-40B4-BE49-F238E27FC236}">
                  <a16:creationId xmlns:a16="http://schemas.microsoft.com/office/drawing/2014/main" id="{6CCF2CFB-0D5E-E269-D9A6-19DCABE3628B}"/>
                </a:ext>
              </a:extLst>
            </p:cNvPr>
            <p:cNvSpPr/>
            <p:nvPr/>
          </p:nvSpPr>
          <p:spPr>
            <a:xfrm rot="5400000">
              <a:off x="7292106" y="4588978"/>
              <a:ext cx="466715" cy="397073"/>
            </a:xfrm>
            <a:prstGeom prst="flowChartExtract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vi-VN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F64BCE8-F917-7F49-3882-7FFDA0EF5AAF}"/>
                </a:ext>
              </a:extLst>
            </p:cNvPr>
            <p:cNvSpPr/>
            <p:nvPr/>
          </p:nvSpPr>
          <p:spPr>
            <a:xfrm>
              <a:off x="7900541" y="3948223"/>
              <a:ext cx="1972131" cy="1007398"/>
            </a:xfrm>
            <a:custGeom>
              <a:avLst/>
              <a:gdLst>
                <a:gd name="connsiteX0" fmla="*/ 0 w 1972131"/>
                <a:gd name="connsiteY0" fmla="*/ 0 h 3176587"/>
                <a:gd name="connsiteX1" fmla="*/ 1972131 w 1972131"/>
                <a:gd name="connsiteY1" fmla="*/ 0 h 3176587"/>
                <a:gd name="connsiteX2" fmla="*/ 1972131 w 1972131"/>
                <a:gd name="connsiteY2" fmla="*/ 3176587 h 3176587"/>
                <a:gd name="connsiteX3" fmla="*/ 0 w 1972131"/>
                <a:gd name="connsiteY3" fmla="*/ 3176587 h 3176587"/>
                <a:gd name="connsiteX4" fmla="*/ 0 w 1972131"/>
                <a:gd name="connsiteY4" fmla="*/ 0 h 3176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2131" h="3176587">
                  <a:moveTo>
                    <a:pt x="0" y="0"/>
                  </a:moveTo>
                  <a:lnTo>
                    <a:pt x="1972131" y="0"/>
                  </a:lnTo>
                  <a:lnTo>
                    <a:pt x="1972131" y="3176587"/>
                  </a:lnTo>
                  <a:lnTo>
                    <a:pt x="0" y="3176587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sp3d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0" tIns="123444" rIns="0" bIns="0" numCol="1" spcCol="1270" anchor="t" anchorCtr="0">
              <a:noAutofit/>
            </a:bodyPr>
            <a:lstStyle/>
            <a:p>
              <a:pPr marL="0" lvl="0" indent="0" algn="l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vi-VN" sz="2400" kern="1200"/>
                <a:t>Qwen3 4B Instruct 2507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6B254577-4CEB-AFD1-FE18-781C761306CF}"/>
              </a:ext>
            </a:extLst>
          </p:cNvPr>
          <p:cNvSpPr txBox="1"/>
          <p:nvPr/>
        </p:nvSpPr>
        <p:spPr>
          <a:xfrm>
            <a:off x="709903" y="4635111"/>
            <a:ext cx="10232417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>
              <a:defRPr sz="3000" b="1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0"/>
              <a:t>All models are quantized in 4bit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0"/>
              <a:t>All steps are segments independent</a:t>
            </a:r>
            <a:endParaRPr lang="vi-VN" sz="3200" b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0"/>
              <a:t>Music features: Genre, Mood, Style, Instruments, Context</a:t>
            </a:r>
            <a:endParaRPr lang="vi-VN" sz="3200" b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C56BEC0-7C07-8E8D-459B-5BEEBC84AF8A}"/>
              </a:ext>
            </a:extLst>
          </p:cNvPr>
          <p:cNvGrpSpPr/>
          <p:nvPr/>
        </p:nvGrpSpPr>
        <p:grpSpPr>
          <a:xfrm>
            <a:off x="487680" y="86082"/>
            <a:ext cx="11094720" cy="822960"/>
            <a:chOff x="864" y="1008"/>
            <a:chExt cx="17472" cy="1296"/>
          </a:xfrm>
        </p:grpSpPr>
        <p:sp>
          <p:nvSpPr>
            <p:cNvPr id="23" name="Chevron 22">
              <a:extLst>
                <a:ext uri="{FF2B5EF4-FFF2-40B4-BE49-F238E27FC236}">
                  <a16:creationId xmlns:a16="http://schemas.microsoft.com/office/drawing/2014/main" id="{B3E29267-7B98-621A-A2BB-47E5BCEB1A85}"/>
                </a:ext>
              </a:extLst>
            </p:cNvPr>
            <p:cNvSpPr/>
            <p:nvPr/>
          </p:nvSpPr>
          <p:spPr>
            <a:xfrm>
              <a:off x="864" y="1008"/>
              <a:ext cx="17472" cy="1296"/>
            </a:xfrm>
            <a:prstGeom prst="chevron">
              <a:avLst/>
            </a:prstGeom>
            <a:solidFill>
              <a:srgbClr val="106BC6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Rectangle 4">
              <a:extLst>
                <a:ext uri="{FF2B5EF4-FFF2-40B4-BE49-F238E27FC236}">
                  <a16:creationId xmlns:a16="http://schemas.microsoft.com/office/drawing/2014/main" id="{D74F3AFB-A6CF-BC13-DE0B-19A7C6725628}"/>
                </a:ext>
              </a:extLst>
            </p:cNvPr>
            <p:cNvSpPr/>
            <p:nvPr/>
          </p:nvSpPr>
          <p:spPr>
            <a:xfrm>
              <a:off x="17328" y="1037"/>
              <a:ext cx="864" cy="1267"/>
            </a:xfrm>
            <a:prstGeom prst="rect">
              <a:avLst/>
            </a:prstGeom>
            <a:solidFill>
              <a:srgbClr val="002864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TextBox 5">
              <a:extLst>
                <a:ext uri="{FF2B5EF4-FFF2-40B4-BE49-F238E27FC236}">
                  <a16:creationId xmlns:a16="http://schemas.microsoft.com/office/drawing/2014/main" id="{DCE256E4-8675-2DA1-E6B8-B80E264DC3A8}"/>
                </a:ext>
              </a:extLst>
            </p:cNvPr>
            <p:cNvSpPr txBox="1"/>
            <p:nvPr/>
          </p:nvSpPr>
          <p:spPr>
            <a:xfrm>
              <a:off x="5693" y="1195"/>
              <a:ext cx="7813" cy="92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>
                <a:defRPr sz="4000" b="1">
                  <a:solidFill>
                    <a:srgbClr val="122B5E"/>
                  </a:solidFill>
                </a:defRPr>
              </a:pPr>
              <a:r>
                <a:rPr lang="en-US" sz="3200">
                  <a:solidFill>
                    <a:schemeClr val="bg1"/>
                  </a:solidFill>
                  <a:sym typeface="+mn-ea"/>
                </a:rPr>
                <a:t>2 - PROPOSED APPROACHES</a:t>
              </a:r>
            </a:p>
          </p:txBody>
        </p:sp>
      </p:grp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FB3D062-6A93-0625-A678-770C409A7D8D}"/>
              </a:ext>
            </a:extLst>
          </p:cNvPr>
          <p:cNvCxnSpPr>
            <a:cxnSpLocks/>
          </p:cNvCxnSpPr>
          <p:nvPr/>
        </p:nvCxnSpPr>
        <p:spPr>
          <a:xfrm>
            <a:off x="142240" y="1667732"/>
            <a:ext cx="428752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69261" y="930108"/>
            <a:ext cx="1693477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3000" b="1">
                <a:solidFill>
                  <a:srgbClr val="FFFFFF"/>
                </a:solidFill>
              </a:defRPr>
            </a:pPr>
            <a:r>
              <a:rPr lang="en-US">
                <a:solidFill>
                  <a:schemeClr val="accent1">
                    <a:lumMod val="75000"/>
                  </a:schemeClr>
                </a:solidFill>
              </a:rPr>
              <a:t>Examples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511634F-976D-4BDA-EF63-B12677A08F55}"/>
              </a:ext>
            </a:extLst>
          </p:cNvPr>
          <p:cNvGrpSpPr/>
          <p:nvPr/>
        </p:nvGrpSpPr>
        <p:grpSpPr>
          <a:xfrm>
            <a:off x="487680" y="86082"/>
            <a:ext cx="11094720" cy="822960"/>
            <a:chOff x="864" y="1008"/>
            <a:chExt cx="17472" cy="1296"/>
          </a:xfrm>
        </p:grpSpPr>
        <p:sp>
          <p:nvSpPr>
            <p:cNvPr id="22" name="Chevron 22">
              <a:extLst>
                <a:ext uri="{FF2B5EF4-FFF2-40B4-BE49-F238E27FC236}">
                  <a16:creationId xmlns:a16="http://schemas.microsoft.com/office/drawing/2014/main" id="{4825E872-D8BF-4BF1-99F7-B5FD332753CA}"/>
                </a:ext>
              </a:extLst>
            </p:cNvPr>
            <p:cNvSpPr/>
            <p:nvPr/>
          </p:nvSpPr>
          <p:spPr>
            <a:xfrm>
              <a:off x="864" y="1008"/>
              <a:ext cx="17472" cy="1296"/>
            </a:xfrm>
            <a:prstGeom prst="chevron">
              <a:avLst/>
            </a:prstGeom>
            <a:solidFill>
              <a:srgbClr val="106BC6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Rectangle 4">
              <a:extLst>
                <a:ext uri="{FF2B5EF4-FFF2-40B4-BE49-F238E27FC236}">
                  <a16:creationId xmlns:a16="http://schemas.microsoft.com/office/drawing/2014/main" id="{65F21B1F-B44D-BAC7-0CAA-FD7820DFF2A2}"/>
                </a:ext>
              </a:extLst>
            </p:cNvPr>
            <p:cNvSpPr/>
            <p:nvPr/>
          </p:nvSpPr>
          <p:spPr>
            <a:xfrm>
              <a:off x="17328" y="1037"/>
              <a:ext cx="864" cy="1267"/>
            </a:xfrm>
            <a:prstGeom prst="rect">
              <a:avLst/>
            </a:prstGeom>
            <a:solidFill>
              <a:srgbClr val="002864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TextBox 5">
              <a:extLst>
                <a:ext uri="{FF2B5EF4-FFF2-40B4-BE49-F238E27FC236}">
                  <a16:creationId xmlns:a16="http://schemas.microsoft.com/office/drawing/2014/main" id="{F1698B24-F5B8-3873-3B5D-4A2423142EBA}"/>
                </a:ext>
              </a:extLst>
            </p:cNvPr>
            <p:cNvSpPr txBox="1"/>
            <p:nvPr/>
          </p:nvSpPr>
          <p:spPr>
            <a:xfrm>
              <a:off x="5693" y="1195"/>
              <a:ext cx="7813" cy="92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>
                <a:defRPr sz="4000" b="1">
                  <a:solidFill>
                    <a:srgbClr val="122B5E"/>
                  </a:solidFill>
                </a:defRPr>
              </a:pPr>
              <a:r>
                <a:rPr lang="en-US" sz="3200">
                  <a:solidFill>
                    <a:schemeClr val="bg1"/>
                  </a:solidFill>
                  <a:sym typeface="+mn-ea"/>
                </a:rPr>
                <a:t>2 - PROPOSED APPROACHES</a:t>
              </a:r>
            </a:p>
          </p:txBody>
        </p:sp>
      </p:grp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FCFAF6AF-CC47-9C2C-7732-F7A14FF7FE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6389538"/>
              </p:ext>
            </p:extLst>
          </p:nvPr>
        </p:nvGraphicFramePr>
        <p:xfrm>
          <a:off x="1016000" y="1565386"/>
          <a:ext cx="10160000" cy="487754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240776">
                  <a:extLst>
                    <a:ext uri="{9D8B030D-6E8A-4147-A177-3AD203B41FA5}">
                      <a16:colId xmlns:a16="http://schemas.microsoft.com/office/drawing/2014/main" val="1593200074"/>
                    </a:ext>
                  </a:extLst>
                </a:gridCol>
                <a:gridCol w="4919224">
                  <a:extLst>
                    <a:ext uri="{9D8B030D-6E8A-4147-A177-3AD203B41FA5}">
                      <a16:colId xmlns:a16="http://schemas.microsoft.com/office/drawing/2014/main" val="2427778204"/>
                    </a:ext>
                  </a:extLst>
                </a:gridCol>
              </a:tblGrid>
              <a:tr h="369840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GB" sz="2000" b="1">
                          <a:effectLst/>
                        </a:rPr>
                        <a:t>Music features suggestion</a:t>
                      </a:r>
                      <a:endParaRPr lang="vi-VN" sz="2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6267" marR="56267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GB" sz="2000" b="1">
                          <a:effectLst/>
                        </a:rPr>
                        <a:t>Prompt preparation</a:t>
                      </a:r>
                      <a:endParaRPr lang="vi-VN" sz="2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6267" marR="56267" marT="0" marB="0" anchor="ctr"/>
                </a:tc>
                <a:extLst>
                  <a:ext uri="{0D108BD9-81ED-4DB2-BD59-A6C34878D82A}">
                    <a16:rowId xmlns:a16="http://schemas.microsoft.com/office/drawing/2014/main" val="972466448"/>
                  </a:ext>
                </a:extLst>
              </a:tr>
              <a:tr h="1502569">
                <a:tc>
                  <a:txBody>
                    <a:bodyPr/>
                    <a:lstStyle/>
                    <a:p>
                      <a:pPr algn="just">
                        <a:spcAft>
                          <a:spcPts val="400"/>
                        </a:spcAft>
                        <a:buNone/>
                      </a:pPr>
                      <a:r>
                        <a:rPr lang="en-GB" sz="1600">
                          <a:effectLst/>
                        </a:rPr>
                        <a:t>Genre: “Sci-fi thriller”</a:t>
                      </a:r>
                      <a:endParaRPr lang="vi-VN" sz="1600">
                        <a:effectLst/>
                      </a:endParaRPr>
                    </a:p>
                    <a:p>
                      <a:pPr algn="just">
                        <a:spcAft>
                          <a:spcPts val="400"/>
                        </a:spcAft>
                        <a:buNone/>
                      </a:pPr>
                      <a:r>
                        <a:rPr lang="en-GB" sz="1600">
                          <a:effectLst/>
                        </a:rPr>
                        <a:t>Mood: “Foreboding, tense”</a:t>
                      </a:r>
                      <a:endParaRPr lang="vi-VN" sz="1600">
                        <a:effectLst/>
                      </a:endParaRPr>
                    </a:p>
                    <a:p>
                      <a:pPr algn="just">
                        <a:spcAft>
                          <a:spcPts val="400"/>
                        </a:spcAft>
                        <a:buNone/>
                      </a:pPr>
                      <a:r>
                        <a:rPr lang="en-GB" sz="1600">
                          <a:effectLst/>
                        </a:rPr>
                        <a:t>Style: “Minimalist, atmospheric”</a:t>
                      </a:r>
                      <a:endParaRPr lang="vi-VN" sz="1600">
                        <a:effectLst/>
                      </a:endParaRPr>
                    </a:p>
                    <a:p>
                      <a:pPr algn="just">
                        <a:spcAft>
                          <a:spcPts val="400"/>
                        </a:spcAft>
                        <a:buNone/>
                      </a:pPr>
                      <a:r>
                        <a:rPr lang="en-GB" sz="1600">
                          <a:effectLst/>
                        </a:rPr>
                        <a:t>Instruments: “Synths, ambient drones, subtle percussion”</a:t>
                      </a:r>
                      <a:endParaRPr lang="vi-VN" sz="1600">
                        <a:effectLst/>
                      </a:endParaRPr>
                    </a:p>
                    <a:p>
                      <a:pPr algn="just">
                        <a:spcAft>
                          <a:spcPts val="400"/>
                        </a:spcAft>
                        <a:buNone/>
                      </a:pPr>
                      <a:r>
                        <a:rPr lang="en-GB" sz="1600">
                          <a:effectLst/>
                        </a:rPr>
                        <a:t>Context: “From mystery to revelation”</a:t>
                      </a:r>
                      <a:endParaRPr lang="vi-V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6267" marR="56267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400"/>
                        </a:spcAft>
                        <a:buNone/>
                      </a:pPr>
                      <a:r>
                        <a:rPr lang="en-GB" sz="18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“A tense, pulsing electronic score with deep synths and low-frequency drones, featuring a steady, driving rhythm and subtle percussion.”</a:t>
                      </a:r>
                      <a:endParaRPr lang="vi-VN" sz="18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6267" marR="56267" marT="0" marB="0" anchor="ctr"/>
                </a:tc>
                <a:extLst>
                  <a:ext uri="{0D108BD9-81ED-4DB2-BD59-A6C34878D82A}">
                    <a16:rowId xmlns:a16="http://schemas.microsoft.com/office/drawing/2014/main" val="1897253855"/>
                  </a:ext>
                </a:extLst>
              </a:tr>
              <a:tr h="1502569">
                <a:tc>
                  <a:txBody>
                    <a:bodyPr/>
                    <a:lstStyle/>
                    <a:p>
                      <a:pPr algn="just">
                        <a:spcAft>
                          <a:spcPts val="400"/>
                        </a:spcAft>
                        <a:buNone/>
                      </a:pPr>
                      <a:r>
                        <a:rPr lang="en-GB" sz="1600">
                          <a:effectLst/>
                        </a:rPr>
                        <a:t>Genre: “Ambient Electronic”</a:t>
                      </a:r>
                      <a:endParaRPr lang="vi-VN" sz="1600">
                        <a:effectLst/>
                      </a:endParaRPr>
                    </a:p>
                    <a:p>
                      <a:pPr algn="just">
                        <a:spcAft>
                          <a:spcPts val="400"/>
                        </a:spcAft>
                        <a:buNone/>
                      </a:pPr>
                      <a:r>
                        <a:rPr lang="en-GB" sz="1600">
                          <a:effectLst/>
                        </a:rPr>
                        <a:t>Mood: “Reflective, Introspective”</a:t>
                      </a:r>
                      <a:endParaRPr lang="vi-VN" sz="1600">
                        <a:effectLst/>
                      </a:endParaRPr>
                    </a:p>
                    <a:p>
                      <a:pPr algn="just">
                        <a:spcAft>
                          <a:spcPts val="400"/>
                        </a:spcAft>
                        <a:buNone/>
                      </a:pPr>
                      <a:r>
                        <a:rPr lang="en-GB" sz="1600">
                          <a:effectLst/>
                        </a:rPr>
                        <a:t>Style: “Minimalist, Atmospheric”</a:t>
                      </a:r>
                      <a:endParaRPr lang="vi-VN" sz="1600">
                        <a:effectLst/>
                      </a:endParaRPr>
                    </a:p>
                    <a:p>
                      <a:pPr algn="just">
                        <a:spcAft>
                          <a:spcPts val="400"/>
                        </a:spcAft>
                        <a:buNone/>
                      </a:pPr>
                      <a:r>
                        <a:rPr lang="en-GB" sz="1600">
                          <a:effectLst/>
                        </a:rPr>
                        <a:t>Instruments: “Pulsing synth, ambient pads”</a:t>
                      </a:r>
                      <a:endParaRPr lang="vi-VN" sz="1600">
                        <a:effectLst/>
                      </a:endParaRPr>
                    </a:p>
                    <a:p>
                      <a:pPr algn="just">
                        <a:spcAft>
                          <a:spcPts val="400"/>
                        </a:spcAft>
                        <a:buNone/>
                      </a:pPr>
                      <a:r>
                        <a:rPr lang="en-GB" sz="1600">
                          <a:effectLst/>
                        </a:rPr>
                        <a:t>Context: “Urban solitude, quiet determination”</a:t>
                      </a:r>
                      <a:endParaRPr lang="vi-V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6267" marR="56267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400"/>
                        </a:spcAft>
                        <a:buNone/>
                      </a:pPr>
                      <a:r>
                        <a:rPr lang="en-GB" sz="18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“A minimalist ambient electronic track with a steady pulsing synth and atmospheric pads, featuring a calm yet focused energy.”</a:t>
                      </a:r>
                      <a:endParaRPr lang="vi-VN" sz="18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6267" marR="56267" marT="0" marB="0" anchor="ctr"/>
                </a:tc>
                <a:extLst>
                  <a:ext uri="{0D108BD9-81ED-4DB2-BD59-A6C34878D82A}">
                    <a16:rowId xmlns:a16="http://schemas.microsoft.com/office/drawing/2014/main" val="464710059"/>
                  </a:ext>
                </a:extLst>
              </a:tr>
              <a:tr h="1502569">
                <a:tc>
                  <a:txBody>
                    <a:bodyPr/>
                    <a:lstStyle/>
                    <a:p>
                      <a:pPr algn="just">
                        <a:spcAft>
                          <a:spcPts val="400"/>
                        </a:spcAft>
                        <a:buNone/>
                      </a:pPr>
                      <a:r>
                        <a:rPr lang="en-GB" sz="1600">
                          <a:effectLst/>
                        </a:rPr>
                        <a:t>Genre: “Action”</a:t>
                      </a:r>
                      <a:endParaRPr lang="vi-VN" sz="1600">
                        <a:effectLst/>
                      </a:endParaRPr>
                    </a:p>
                    <a:p>
                      <a:pPr algn="just">
                        <a:spcAft>
                          <a:spcPts val="400"/>
                        </a:spcAft>
                        <a:buNone/>
                      </a:pPr>
                      <a:r>
                        <a:rPr lang="en-GB" sz="1600">
                          <a:effectLst/>
                        </a:rPr>
                        <a:t>Mood: “High-energy”</a:t>
                      </a:r>
                      <a:endParaRPr lang="vi-VN" sz="1600">
                        <a:effectLst/>
                      </a:endParaRPr>
                    </a:p>
                    <a:p>
                      <a:pPr algn="just">
                        <a:spcAft>
                          <a:spcPts val="400"/>
                        </a:spcAft>
                        <a:buNone/>
                      </a:pPr>
                      <a:r>
                        <a:rPr lang="en-GB" sz="1600">
                          <a:effectLst/>
                        </a:rPr>
                        <a:t>Style: “Electronic pulse”</a:t>
                      </a:r>
                      <a:endParaRPr lang="vi-VN" sz="1600">
                        <a:effectLst/>
                      </a:endParaRPr>
                    </a:p>
                    <a:p>
                      <a:pPr algn="just">
                        <a:spcAft>
                          <a:spcPts val="400"/>
                        </a:spcAft>
                        <a:buNone/>
                      </a:pPr>
                      <a:r>
                        <a:rPr lang="en-GB" sz="1600">
                          <a:effectLst/>
                        </a:rPr>
                        <a:t>Instruments: “Synths, drums, bass”</a:t>
                      </a:r>
                      <a:endParaRPr lang="vi-VN" sz="1600">
                        <a:effectLst/>
                      </a:endParaRPr>
                    </a:p>
                    <a:p>
                      <a:pPr algn="just">
                        <a:spcAft>
                          <a:spcPts val="400"/>
                        </a:spcAft>
                        <a:buNone/>
                      </a:pPr>
                      <a:r>
                        <a:rPr lang="en-GB" sz="1600">
                          <a:effectLst/>
                        </a:rPr>
                        <a:t>Context: “Racing and athletic intensity”</a:t>
                      </a:r>
                      <a:endParaRPr lang="vi-V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6267" marR="56267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400"/>
                        </a:spcAft>
                        <a:buNone/>
                      </a:pPr>
                      <a:r>
                        <a:rPr lang="en-GB" sz="18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</a:rPr>
                        <a:t>“A high-energy electronic pulse with driving drums, pulsing synths, and deep bass, capturing the intensity of racing and athletic motion.”</a:t>
                      </a:r>
                      <a:endParaRPr lang="vi-VN" sz="18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6267" marR="56267" marT="0" marB="0" anchor="ctr"/>
                </a:tc>
                <a:extLst>
                  <a:ext uri="{0D108BD9-81ED-4DB2-BD59-A6C34878D82A}">
                    <a16:rowId xmlns:a16="http://schemas.microsoft.com/office/drawing/2014/main" val="1385710668"/>
                  </a:ext>
                </a:extLst>
              </a:tr>
            </a:tbl>
          </a:graphicData>
        </a:graphic>
      </p:graphicFrame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8A96C9E-C87E-74E3-640A-2E606D8F7552}"/>
              </a:ext>
            </a:extLst>
          </p:cNvPr>
          <p:cNvCxnSpPr>
            <a:cxnSpLocks/>
          </p:cNvCxnSpPr>
          <p:nvPr/>
        </p:nvCxnSpPr>
        <p:spPr>
          <a:xfrm>
            <a:off x="305664" y="1443466"/>
            <a:ext cx="1411376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1113734"/>
            <a:ext cx="3445559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3000" b="1">
                <a:solidFill>
                  <a:srgbClr val="FFFFFF"/>
                </a:solidFill>
              </a:defRPr>
            </a:pPr>
            <a:r>
              <a:rPr lang="en-US">
                <a:solidFill>
                  <a:schemeClr val="accent1">
                    <a:lumMod val="75000"/>
                  </a:schemeClr>
                </a:solidFill>
              </a:rPr>
              <a:t>MUSIC GENERATION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FB4A75D-63D5-9313-D54C-E223751DCFDE}"/>
              </a:ext>
            </a:extLst>
          </p:cNvPr>
          <p:cNvGrpSpPr/>
          <p:nvPr/>
        </p:nvGrpSpPr>
        <p:grpSpPr>
          <a:xfrm>
            <a:off x="487680" y="86082"/>
            <a:ext cx="11094720" cy="822960"/>
            <a:chOff x="864" y="1008"/>
            <a:chExt cx="17472" cy="1296"/>
          </a:xfrm>
        </p:grpSpPr>
        <p:sp>
          <p:nvSpPr>
            <p:cNvPr id="7" name="Chevron 22">
              <a:extLst>
                <a:ext uri="{FF2B5EF4-FFF2-40B4-BE49-F238E27FC236}">
                  <a16:creationId xmlns:a16="http://schemas.microsoft.com/office/drawing/2014/main" id="{4801E023-3A89-9241-7355-56F0DB6E0A80}"/>
                </a:ext>
              </a:extLst>
            </p:cNvPr>
            <p:cNvSpPr/>
            <p:nvPr/>
          </p:nvSpPr>
          <p:spPr>
            <a:xfrm>
              <a:off x="864" y="1008"/>
              <a:ext cx="17472" cy="1296"/>
            </a:xfrm>
            <a:prstGeom prst="chevron">
              <a:avLst/>
            </a:prstGeom>
            <a:solidFill>
              <a:srgbClr val="106BC6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A3DBBEB4-1B22-0600-164F-18A1FFD57C37}"/>
                </a:ext>
              </a:extLst>
            </p:cNvPr>
            <p:cNvSpPr/>
            <p:nvPr/>
          </p:nvSpPr>
          <p:spPr>
            <a:xfrm>
              <a:off x="17328" y="1037"/>
              <a:ext cx="864" cy="1267"/>
            </a:xfrm>
            <a:prstGeom prst="rect">
              <a:avLst/>
            </a:prstGeom>
            <a:solidFill>
              <a:srgbClr val="002864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5">
              <a:extLst>
                <a:ext uri="{FF2B5EF4-FFF2-40B4-BE49-F238E27FC236}">
                  <a16:creationId xmlns:a16="http://schemas.microsoft.com/office/drawing/2014/main" id="{6A360165-C1FD-3928-F875-CF68CC7A1515}"/>
                </a:ext>
              </a:extLst>
            </p:cNvPr>
            <p:cNvSpPr txBox="1"/>
            <p:nvPr/>
          </p:nvSpPr>
          <p:spPr>
            <a:xfrm>
              <a:off x="5693" y="1195"/>
              <a:ext cx="7813" cy="92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>
                <a:defRPr sz="4000" b="1">
                  <a:solidFill>
                    <a:srgbClr val="122B5E"/>
                  </a:solidFill>
                </a:defRPr>
              </a:pPr>
              <a:r>
                <a:rPr lang="en-US" sz="3200">
                  <a:solidFill>
                    <a:schemeClr val="bg1"/>
                  </a:solidFill>
                  <a:sym typeface="+mn-ea"/>
                </a:rPr>
                <a:t>2 - PROPOSED APPROACHES</a:t>
              </a:r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9BBC9A0-2E46-ADD5-EB95-93EC4EF27862}"/>
              </a:ext>
            </a:extLst>
          </p:cNvPr>
          <p:cNvCxnSpPr>
            <a:cxnSpLocks/>
          </p:cNvCxnSpPr>
          <p:nvPr/>
        </p:nvCxnSpPr>
        <p:spPr>
          <a:xfrm>
            <a:off x="152400" y="1667732"/>
            <a:ext cx="256032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B45A588E-8C81-5C49-0860-57288B1967D8}"/>
              </a:ext>
            </a:extLst>
          </p:cNvPr>
          <p:cNvGrpSpPr/>
          <p:nvPr/>
        </p:nvGrpSpPr>
        <p:grpSpPr>
          <a:xfrm>
            <a:off x="334962" y="1971597"/>
            <a:ext cx="8321358" cy="2559763"/>
            <a:chOff x="639762" y="2360986"/>
            <a:chExt cx="10789920" cy="3331100"/>
          </a:xfrm>
        </p:grpSpPr>
        <p:sp>
          <p:nvSpPr>
            <p:cNvPr id="22" name="Rounded Rectangle 6">
              <a:extLst>
                <a:ext uri="{FF2B5EF4-FFF2-40B4-BE49-F238E27FC236}">
                  <a16:creationId xmlns:a16="http://schemas.microsoft.com/office/drawing/2014/main" id="{25754D05-2D10-08BD-4184-E47AB3C5CEEF}"/>
                </a:ext>
              </a:extLst>
            </p:cNvPr>
            <p:cNvSpPr/>
            <p:nvPr/>
          </p:nvSpPr>
          <p:spPr>
            <a:xfrm>
              <a:off x="639762" y="2360986"/>
              <a:ext cx="9665209" cy="732842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9525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just"/>
              <a:r>
                <a:rPr lang="en-US" altLang="en-US" sz="2800" b="1">
                  <a:solidFill>
                    <a:schemeClr val="accent5">
                      <a:lumMod val="20000"/>
                      <a:lumOff val="80000"/>
                    </a:schemeClr>
                  </a:solidFill>
                  <a:cs typeface="Calibri" panose="020F0502020204030204" charset="0"/>
                  <a:sym typeface="+mn-ea"/>
                </a:rPr>
                <a:t>Prompt-based music generation using MusicGen</a:t>
              </a:r>
              <a:endParaRPr lang="en-US" altLang="en-US" sz="2800" dirty="0">
                <a:solidFill>
                  <a:schemeClr val="accent5">
                    <a:lumMod val="20000"/>
                    <a:lumOff val="80000"/>
                  </a:schemeClr>
                </a:solidFill>
                <a:cs typeface="Calibri" panose="020F0502020204030204" charset="0"/>
                <a:sym typeface="+mn-ea"/>
              </a:endParaRPr>
            </a:p>
          </p:txBody>
        </p:sp>
        <p:sp>
          <p:nvSpPr>
            <p:cNvPr id="23" name="Rounded Rectangle 7">
              <a:extLst>
                <a:ext uri="{FF2B5EF4-FFF2-40B4-BE49-F238E27FC236}">
                  <a16:creationId xmlns:a16="http://schemas.microsoft.com/office/drawing/2014/main" id="{CC007C41-E936-B312-7D4C-9AEDBF71DD6A}"/>
                </a:ext>
              </a:extLst>
            </p:cNvPr>
            <p:cNvSpPr/>
            <p:nvPr/>
          </p:nvSpPr>
          <p:spPr>
            <a:xfrm>
              <a:off x="639762" y="3227072"/>
              <a:ext cx="10789920" cy="732842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9525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just">
                <a:buClrTx/>
                <a:buSzTx/>
                <a:buFontTx/>
              </a:pPr>
              <a:r>
                <a:rPr lang="en-US" altLang="en-US" sz="2800" b="1">
                  <a:solidFill>
                    <a:schemeClr val="accent5">
                      <a:lumMod val="20000"/>
                      <a:lumOff val="80000"/>
                    </a:schemeClr>
                  </a:solidFill>
                  <a:cs typeface="Calibri" panose="020F0502020204030204" charset="0"/>
                  <a:sym typeface="+mn-ea"/>
                </a:rPr>
                <a:t>Segment-based generation with continuation strategy</a:t>
              </a:r>
              <a:endParaRPr lang="en-US" altLang="en-US" sz="2800" dirty="0">
                <a:solidFill>
                  <a:schemeClr val="accent5">
                    <a:lumMod val="20000"/>
                    <a:lumOff val="80000"/>
                  </a:schemeClr>
                </a:solidFill>
                <a:cs typeface="Calibri" panose="020F0502020204030204" charset="0"/>
                <a:sym typeface="+mn-ea"/>
              </a:endParaRPr>
            </a:p>
          </p:txBody>
        </p:sp>
        <p:sp>
          <p:nvSpPr>
            <p:cNvPr id="24" name="Rounded Rectangle 8">
              <a:extLst>
                <a:ext uri="{FF2B5EF4-FFF2-40B4-BE49-F238E27FC236}">
                  <a16:creationId xmlns:a16="http://schemas.microsoft.com/office/drawing/2014/main" id="{85945791-B56F-4E56-47A5-DCF027883695}"/>
                </a:ext>
              </a:extLst>
            </p:cNvPr>
            <p:cNvSpPr/>
            <p:nvPr/>
          </p:nvSpPr>
          <p:spPr>
            <a:xfrm>
              <a:off x="639762" y="4093158"/>
              <a:ext cx="9950911" cy="732842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9525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just">
                <a:buClrTx/>
                <a:buSzTx/>
                <a:buFontTx/>
              </a:pPr>
              <a:r>
                <a:rPr lang="en-US" altLang="en-US" sz="2800" b="1">
                  <a:solidFill>
                    <a:schemeClr val="accent5">
                      <a:lumMod val="20000"/>
                      <a:lumOff val="80000"/>
                    </a:schemeClr>
                  </a:solidFill>
                  <a:cs typeface="Calibri" panose="020F0502020204030204" charset="0"/>
                  <a:sym typeface="+mn-ea"/>
                </a:rPr>
                <a:t>Loudness normalization and audio-video merging</a:t>
              </a:r>
              <a:endParaRPr lang="en-US" altLang="en-US" sz="2800" dirty="0">
                <a:solidFill>
                  <a:schemeClr val="accent5">
                    <a:lumMod val="20000"/>
                    <a:lumOff val="80000"/>
                  </a:schemeClr>
                </a:solidFill>
                <a:cs typeface="Calibri" panose="020F0502020204030204" charset="0"/>
                <a:sym typeface="+mn-ea"/>
              </a:endParaRPr>
            </a:p>
          </p:txBody>
        </p:sp>
        <p:sp>
          <p:nvSpPr>
            <p:cNvPr id="25" name="Rounded Rectangle 8">
              <a:extLst>
                <a:ext uri="{FF2B5EF4-FFF2-40B4-BE49-F238E27FC236}">
                  <a16:creationId xmlns:a16="http://schemas.microsoft.com/office/drawing/2014/main" id="{21BF654D-23B7-4CB7-B9B6-9F223238D110}"/>
                </a:ext>
              </a:extLst>
            </p:cNvPr>
            <p:cNvSpPr/>
            <p:nvPr/>
          </p:nvSpPr>
          <p:spPr>
            <a:xfrm>
              <a:off x="639762" y="4959244"/>
              <a:ext cx="6608206" cy="732842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9525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just">
                <a:buClrTx/>
                <a:buSzTx/>
                <a:buFontTx/>
              </a:pPr>
              <a:r>
                <a:rPr lang="en-US" altLang="en-US" sz="2800" b="1">
                  <a:solidFill>
                    <a:schemeClr val="accent5">
                      <a:lumMod val="20000"/>
                      <a:lumOff val="80000"/>
                    </a:schemeClr>
                  </a:solidFill>
                  <a:cs typeface="Calibri" panose="020F0502020204030204" charset="0"/>
                  <a:sym typeface="+mn-ea"/>
                </a:rPr>
                <a:t>Output rendered as a final video</a:t>
              </a:r>
              <a:endParaRPr lang="en-US" altLang="en-US" sz="2800" dirty="0">
                <a:solidFill>
                  <a:schemeClr val="accent5">
                    <a:lumMod val="20000"/>
                    <a:lumOff val="80000"/>
                  </a:schemeClr>
                </a:solidFill>
                <a:cs typeface="Calibri" panose="020F0502020204030204" charset="0"/>
                <a:sym typeface="+mn-ea"/>
              </a:endParaRP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4383FD4E-B861-7BB6-2137-BD9009D488A3}"/>
              </a:ext>
            </a:extLst>
          </p:cNvPr>
          <p:cNvSpPr/>
          <p:nvPr/>
        </p:nvSpPr>
        <p:spPr>
          <a:xfrm>
            <a:off x="5717607" y="5299288"/>
            <a:ext cx="2183276" cy="286830"/>
          </a:xfrm>
          <a:prstGeom prst="rect">
            <a:avLst/>
          </a:prstGeom>
          <a:gradFill>
            <a:gsLst>
              <a:gs pos="0">
                <a:schemeClr val="accent5"/>
              </a:gs>
              <a:gs pos="50000">
                <a:schemeClr val="accent1"/>
              </a:gs>
              <a:gs pos="100000">
                <a:schemeClr val="accent5"/>
              </a:gs>
            </a:gsLst>
            <a:lin ang="0" scaled="0"/>
          </a:gra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2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5D0CC04C-589F-86B1-FFCA-E3EFDA184E89}"/>
              </a:ext>
            </a:extLst>
          </p:cNvPr>
          <p:cNvSpPr/>
          <p:nvPr/>
        </p:nvSpPr>
        <p:spPr>
          <a:xfrm rot="5400000">
            <a:off x="6289421" y="4993388"/>
            <a:ext cx="234237" cy="1377863"/>
          </a:xfrm>
          <a:prstGeom prst="rightBrace">
            <a:avLst>
              <a:gd name="adj1" fmla="val 69766"/>
              <a:gd name="adj2" fmla="val 50000"/>
            </a:avLst>
          </a:prstGeom>
          <a:ln w="381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B49B2ACB-7D63-688B-6E80-CD0C9F4A746B}"/>
              </a:ext>
            </a:extLst>
          </p:cNvPr>
          <p:cNvSpPr/>
          <p:nvPr/>
        </p:nvSpPr>
        <p:spPr>
          <a:xfrm rot="16200000">
            <a:off x="7094833" y="4477400"/>
            <a:ext cx="234237" cy="1377863"/>
          </a:xfrm>
          <a:prstGeom prst="rightBrace">
            <a:avLst>
              <a:gd name="adj1" fmla="val 69766"/>
              <a:gd name="adj2" fmla="val 50000"/>
            </a:avLst>
          </a:prstGeom>
          <a:ln w="381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77CBE9-1498-3886-EF85-4F2BB367223D}"/>
              </a:ext>
            </a:extLst>
          </p:cNvPr>
          <p:cNvSpPr txBox="1"/>
          <p:nvPr/>
        </p:nvSpPr>
        <p:spPr>
          <a:xfrm>
            <a:off x="3258903" y="5442703"/>
            <a:ext cx="2397644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3000" b="1">
                <a:solidFill>
                  <a:srgbClr val="FFFFFF"/>
                </a:solidFill>
              </a:defRPr>
            </a:pPr>
            <a:r>
              <a:rPr lang="en-US" sz="2000">
                <a:solidFill>
                  <a:schemeClr val="accent1">
                    <a:lumMod val="75000"/>
                  </a:schemeClr>
                </a:solidFill>
              </a:rPr>
              <a:t>First time generation</a:t>
            </a:r>
          </a:p>
          <a:p>
            <a:pPr algn="ctr">
              <a:defRPr sz="3000" b="1">
                <a:solidFill>
                  <a:srgbClr val="FFFFFF"/>
                </a:solidFill>
              </a:defRPr>
            </a:pPr>
            <a:r>
              <a:rPr lang="en-US" sz="2000">
                <a:solidFill>
                  <a:schemeClr val="accent1">
                    <a:lumMod val="75000"/>
                  </a:schemeClr>
                </a:solidFill>
              </a:rPr>
              <a:t>(30 seconds)</a:t>
            </a:r>
            <a:endParaRPr lang="en-US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BE9B79-3024-E9D9-73D4-22C0C3DF5756}"/>
              </a:ext>
            </a:extLst>
          </p:cNvPr>
          <p:cNvSpPr txBox="1"/>
          <p:nvPr/>
        </p:nvSpPr>
        <p:spPr>
          <a:xfrm>
            <a:off x="7648987" y="4633750"/>
            <a:ext cx="2713372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3000" b="1">
                <a:solidFill>
                  <a:srgbClr val="FFFFFF"/>
                </a:solidFill>
              </a:defRPr>
            </a:pPr>
            <a:r>
              <a:rPr lang="en-US" sz="2000">
                <a:solidFill>
                  <a:schemeClr val="accent1">
                    <a:lumMod val="75000"/>
                  </a:schemeClr>
                </a:solidFill>
              </a:rPr>
              <a:t>Second time generation</a:t>
            </a:r>
          </a:p>
          <a:p>
            <a:pPr algn="ctr">
              <a:defRPr sz="3000" b="1">
                <a:solidFill>
                  <a:srgbClr val="FFFFFF"/>
                </a:solidFill>
              </a:defRPr>
            </a:pPr>
            <a:r>
              <a:rPr lang="en-US" sz="2000">
                <a:solidFill>
                  <a:schemeClr val="accent1">
                    <a:lumMod val="75000"/>
                  </a:schemeClr>
                </a:solidFill>
              </a:rPr>
              <a:t>(30 seconds)</a:t>
            </a:r>
            <a:endParaRPr lang="en-US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2BD4BF-EEB6-A806-23AA-FDFCD828B758}"/>
              </a:ext>
            </a:extLst>
          </p:cNvPr>
          <p:cNvSpPr txBox="1"/>
          <p:nvPr/>
        </p:nvSpPr>
        <p:spPr>
          <a:xfrm>
            <a:off x="7557995" y="5926086"/>
            <a:ext cx="221926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3000" b="1">
                <a:solidFill>
                  <a:srgbClr val="FFFFFF"/>
                </a:solidFill>
              </a:defRPr>
            </a:pPr>
            <a:r>
              <a:rPr lang="en-US" sz="2000">
                <a:solidFill>
                  <a:srgbClr val="C00000"/>
                </a:solidFill>
              </a:rPr>
              <a:t>10 seconds overlap</a:t>
            </a:r>
            <a:endParaRPr lang="en-US" sz="2000" dirty="0">
              <a:solidFill>
                <a:srgbClr val="C00000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05F5936-DA6D-2529-B205-4FA7373E008E}"/>
              </a:ext>
            </a:extLst>
          </p:cNvPr>
          <p:cNvCxnSpPr>
            <a:cxnSpLocks/>
          </p:cNvCxnSpPr>
          <p:nvPr/>
        </p:nvCxnSpPr>
        <p:spPr>
          <a:xfrm flipH="1" flipV="1">
            <a:off x="6959956" y="5565201"/>
            <a:ext cx="689031" cy="360885"/>
          </a:xfrm>
          <a:prstGeom prst="straightConnector1">
            <a:avLst/>
          </a:prstGeom>
          <a:noFill/>
          <a:ln w="28575" cap="flat" cmpd="sng" algn="ctr">
            <a:solidFill>
              <a:srgbClr val="FF0000"/>
            </a:solidFill>
            <a:prstDash val="sysDash"/>
            <a:miter lim="800000"/>
            <a:tailEnd type="triangle"/>
          </a:ln>
          <a:effectLst/>
        </p:spPr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466A9BB-6187-E6ED-9BC4-7D6843916081}"/>
              </a:ext>
            </a:extLst>
          </p:cNvPr>
          <p:cNvSpPr txBox="1"/>
          <p:nvPr/>
        </p:nvSpPr>
        <p:spPr>
          <a:xfrm>
            <a:off x="2996651" y="4660447"/>
            <a:ext cx="292214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3000" b="1">
                <a:solidFill>
                  <a:srgbClr val="FFFFFF"/>
                </a:solidFill>
              </a:defRPr>
            </a:pPr>
            <a:r>
              <a:rPr lang="en-US" sz="2000">
                <a:solidFill>
                  <a:srgbClr val="C00000"/>
                </a:solidFill>
              </a:rPr>
              <a:t>Max duration: 50 seconds</a:t>
            </a:r>
            <a:endParaRPr lang="en-US" sz="2000" dirty="0">
              <a:solidFill>
                <a:srgbClr val="C00000"/>
              </a:solidFill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26ADEC9-CA9D-AD93-64E3-6912EBEF22E9}"/>
              </a:ext>
            </a:extLst>
          </p:cNvPr>
          <p:cNvCxnSpPr>
            <a:cxnSpLocks/>
          </p:cNvCxnSpPr>
          <p:nvPr/>
        </p:nvCxnSpPr>
        <p:spPr>
          <a:xfrm>
            <a:off x="4876232" y="5041847"/>
            <a:ext cx="789599" cy="257441"/>
          </a:xfrm>
          <a:prstGeom prst="straightConnector1">
            <a:avLst/>
          </a:prstGeom>
          <a:noFill/>
          <a:ln w="28575" cap="flat" cmpd="sng" algn="ctr">
            <a:solidFill>
              <a:srgbClr val="FF0000"/>
            </a:solidFill>
            <a:prstDash val="sysDash"/>
            <a:miter lim="800000"/>
            <a:tailEnd type="triangle"/>
          </a:ln>
          <a:effectLst/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D0095-CE38-51AE-A43C-F8383FF70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85CC6EFD-5E09-259E-DD20-AABF58EACE61}"/>
              </a:ext>
            </a:extLst>
          </p:cNvPr>
          <p:cNvGrpSpPr/>
          <p:nvPr/>
        </p:nvGrpSpPr>
        <p:grpSpPr>
          <a:xfrm>
            <a:off x="487680" y="86082"/>
            <a:ext cx="11094720" cy="822960"/>
            <a:chOff x="864" y="1008"/>
            <a:chExt cx="17472" cy="1296"/>
          </a:xfrm>
        </p:grpSpPr>
        <p:sp>
          <p:nvSpPr>
            <p:cNvPr id="23" name="Chevron 22">
              <a:extLst>
                <a:ext uri="{FF2B5EF4-FFF2-40B4-BE49-F238E27FC236}">
                  <a16:creationId xmlns:a16="http://schemas.microsoft.com/office/drawing/2014/main" id="{B86A8C65-E2AF-2A29-D398-DBD11822C6D3}"/>
                </a:ext>
              </a:extLst>
            </p:cNvPr>
            <p:cNvSpPr/>
            <p:nvPr/>
          </p:nvSpPr>
          <p:spPr>
            <a:xfrm>
              <a:off x="864" y="1008"/>
              <a:ext cx="17472" cy="1296"/>
            </a:xfrm>
            <a:prstGeom prst="chevron">
              <a:avLst/>
            </a:prstGeom>
            <a:solidFill>
              <a:srgbClr val="106BC6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Rectangle 4">
              <a:extLst>
                <a:ext uri="{FF2B5EF4-FFF2-40B4-BE49-F238E27FC236}">
                  <a16:creationId xmlns:a16="http://schemas.microsoft.com/office/drawing/2014/main" id="{CE9DCDF4-46BB-3C38-35BE-52286A6B4B68}"/>
                </a:ext>
              </a:extLst>
            </p:cNvPr>
            <p:cNvSpPr/>
            <p:nvPr/>
          </p:nvSpPr>
          <p:spPr>
            <a:xfrm>
              <a:off x="17328" y="1037"/>
              <a:ext cx="864" cy="1267"/>
            </a:xfrm>
            <a:prstGeom prst="rect">
              <a:avLst/>
            </a:prstGeom>
            <a:solidFill>
              <a:srgbClr val="002864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TextBox 5">
              <a:extLst>
                <a:ext uri="{FF2B5EF4-FFF2-40B4-BE49-F238E27FC236}">
                  <a16:creationId xmlns:a16="http://schemas.microsoft.com/office/drawing/2014/main" id="{A7636C3C-FB67-64AF-A5EC-E083FD48FA90}"/>
                </a:ext>
              </a:extLst>
            </p:cNvPr>
            <p:cNvSpPr txBox="1"/>
            <p:nvPr/>
          </p:nvSpPr>
          <p:spPr>
            <a:xfrm>
              <a:off x="6038" y="1210"/>
              <a:ext cx="7123" cy="92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>
                <a:defRPr sz="4000" b="1">
                  <a:solidFill>
                    <a:srgbClr val="122B5E"/>
                  </a:solidFill>
                </a:defRPr>
              </a:pPr>
              <a:r>
                <a:rPr lang="en-US" sz="3200">
                  <a:solidFill>
                    <a:schemeClr val="bg1"/>
                  </a:solidFill>
                  <a:sym typeface="+mn-ea"/>
                </a:rPr>
                <a:t>3 – EXPERIMENT RESULTS</a:t>
              </a:r>
              <a:endParaRPr lang="en-US" sz="3200" dirty="0">
                <a:solidFill>
                  <a:schemeClr val="bg1"/>
                </a:solidFill>
                <a:sym typeface="+mn-ea"/>
              </a:endParaRPr>
            </a:p>
          </p:txBody>
        </p:sp>
      </p:grpSp>
      <p:sp>
        <p:nvSpPr>
          <p:cNvPr id="5" name="Text Box 4">
            <a:extLst>
              <a:ext uri="{FF2B5EF4-FFF2-40B4-BE49-F238E27FC236}">
                <a16:creationId xmlns:a16="http://schemas.microsoft.com/office/drawing/2014/main" id="{DA055B4F-196C-4C7C-6F83-75EC55C99EBF}"/>
              </a:ext>
            </a:extLst>
          </p:cNvPr>
          <p:cNvSpPr txBox="1"/>
          <p:nvPr/>
        </p:nvSpPr>
        <p:spPr>
          <a:xfrm>
            <a:off x="93344" y="960120"/>
            <a:ext cx="11397615" cy="181588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  <a:defRPr sz="3000" b="1">
                <a:solidFill>
                  <a:srgbClr val="FFFFFF"/>
                </a:solidFill>
              </a:defRPr>
            </a:pPr>
            <a:r>
              <a:rPr lang="en-US" sz="2800">
                <a:solidFill>
                  <a:schemeClr val="accent1">
                    <a:lumMod val="75000"/>
                  </a:schemeClr>
                </a:solidFill>
                <a:sym typeface="+mn-ea"/>
              </a:rPr>
              <a:t>Test set: 20 videos from SymMV [1] (vocals removed)</a:t>
            </a:r>
          </a:p>
          <a:p>
            <a:pPr marL="457200" indent="-457200">
              <a:buFont typeface="Arial" panose="020B0604020202020204" pitchFamily="34" charset="0"/>
              <a:buChar char="•"/>
              <a:defRPr sz="3000" b="1">
                <a:solidFill>
                  <a:srgbClr val="FFFFFF"/>
                </a:solidFill>
              </a:defRPr>
            </a:pPr>
            <a:r>
              <a:rPr lang="en-US" sz="2800">
                <a:solidFill>
                  <a:schemeClr val="accent1">
                    <a:lumMod val="75000"/>
                  </a:schemeClr>
                </a:solidFill>
                <a:sym typeface="+mn-ea"/>
              </a:rPr>
              <a:t>Baseline: GVMGen [2]</a:t>
            </a:r>
          </a:p>
          <a:p>
            <a:pPr marL="457200" indent="-457200">
              <a:buFont typeface="Arial" panose="020B0604020202020204" pitchFamily="34" charset="0"/>
              <a:buChar char="•"/>
              <a:defRPr sz="3000" b="1">
                <a:solidFill>
                  <a:srgbClr val="FFFFFF"/>
                </a:solidFill>
              </a:defRPr>
            </a:pPr>
            <a:r>
              <a:rPr lang="en-US" sz="2800">
                <a:solidFill>
                  <a:schemeClr val="accent1">
                    <a:lumMod val="75000"/>
                  </a:schemeClr>
                </a:solidFill>
                <a:sym typeface="+mn-ea"/>
              </a:rPr>
              <a:t>Metrices:</a:t>
            </a:r>
          </a:p>
          <a:p>
            <a:pPr>
              <a:defRPr sz="3000" b="1">
                <a:solidFill>
                  <a:srgbClr val="FFFFFF"/>
                </a:solidFill>
              </a:defRPr>
            </a:pPr>
            <a:r>
              <a:rPr lang="en-US" sz="2800">
                <a:solidFill>
                  <a:schemeClr val="accent1">
                    <a:lumMod val="75000"/>
                  </a:schemeClr>
                </a:solidFill>
                <a:sym typeface="+mn-ea"/>
              </a:rPr>
              <a:t>	Music quality					Computational cost	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E76F596-4DDE-01E4-7113-F858A883CBB7}"/>
              </a:ext>
            </a:extLst>
          </p:cNvPr>
          <p:cNvGrpSpPr/>
          <p:nvPr/>
        </p:nvGrpSpPr>
        <p:grpSpPr>
          <a:xfrm>
            <a:off x="6705283" y="2776002"/>
            <a:ext cx="4389437" cy="1603176"/>
            <a:chOff x="6024563" y="3731425"/>
            <a:chExt cx="6766877" cy="1603176"/>
          </a:xfrm>
        </p:grpSpPr>
        <p:sp>
          <p:nvSpPr>
            <p:cNvPr id="8" name="Rounded Rectangle 6">
              <a:extLst>
                <a:ext uri="{FF2B5EF4-FFF2-40B4-BE49-F238E27FC236}">
                  <a16:creationId xmlns:a16="http://schemas.microsoft.com/office/drawing/2014/main" id="{30267801-D77E-8E03-8ADE-C3881AD0DF59}"/>
                </a:ext>
              </a:extLst>
            </p:cNvPr>
            <p:cNvSpPr/>
            <p:nvPr/>
          </p:nvSpPr>
          <p:spPr>
            <a:xfrm>
              <a:off x="6024563" y="3731425"/>
              <a:ext cx="6766877" cy="476620"/>
            </a:xfrm>
            <a:prstGeom prst="roundRect">
              <a:avLst/>
            </a:prstGeom>
            <a:solidFill>
              <a:srgbClr val="E9F2FD"/>
            </a:solidFill>
            <a:ln w="9525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just"/>
              <a:r>
                <a:rPr lang="en-US" altLang="en-US" sz="2400" b="1">
                  <a:solidFill>
                    <a:schemeClr val="accent1">
                      <a:lumMod val="50000"/>
                    </a:schemeClr>
                  </a:solidFill>
                  <a:cs typeface="Calibri" panose="020F0502020204030204" charset="0"/>
                  <a:sym typeface="+mn-ea"/>
                </a:rPr>
                <a:t>Computational time (seconds)</a:t>
              </a:r>
              <a:endParaRPr lang="en-US" altLang="en-US" sz="2400" dirty="0">
                <a:solidFill>
                  <a:schemeClr val="accent1">
                    <a:lumMod val="50000"/>
                  </a:schemeClr>
                </a:solidFill>
                <a:cs typeface="Calibri" panose="020F0502020204030204" charset="0"/>
                <a:sym typeface="+mn-ea"/>
              </a:endParaRPr>
            </a:p>
          </p:txBody>
        </p:sp>
        <p:sp>
          <p:nvSpPr>
            <p:cNvPr id="9" name="Rounded Rectangle 7">
              <a:extLst>
                <a:ext uri="{FF2B5EF4-FFF2-40B4-BE49-F238E27FC236}">
                  <a16:creationId xmlns:a16="http://schemas.microsoft.com/office/drawing/2014/main" id="{272F752C-E834-4A33-C7AE-5A01459DA136}"/>
                </a:ext>
              </a:extLst>
            </p:cNvPr>
            <p:cNvSpPr/>
            <p:nvPr/>
          </p:nvSpPr>
          <p:spPr>
            <a:xfrm>
              <a:off x="6024563" y="4294703"/>
              <a:ext cx="6766877" cy="476620"/>
            </a:xfrm>
            <a:prstGeom prst="roundRect">
              <a:avLst/>
            </a:prstGeom>
            <a:solidFill>
              <a:srgbClr val="E9F2FD"/>
            </a:solidFill>
            <a:ln w="9525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just">
                <a:buClrTx/>
                <a:buSzTx/>
                <a:buFontTx/>
              </a:pPr>
              <a:r>
                <a:rPr lang="en-US" altLang="en-US" sz="2400" b="1">
                  <a:solidFill>
                    <a:schemeClr val="accent1">
                      <a:lumMod val="50000"/>
                    </a:schemeClr>
                  </a:solidFill>
                  <a:cs typeface="Calibri" panose="020F0502020204030204" charset="0"/>
                  <a:sym typeface="+mn-ea"/>
                </a:rPr>
                <a:t>Memory usage (GB VRAM)</a:t>
              </a:r>
              <a:endParaRPr lang="en-US" altLang="en-US" sz="2400" dirty="0">
                <a:solidFill>
                  <a:schemeClr val="accent1">
                    <a:lumMod val="50000"/>
                  </a:schemeClr>
                </a:solidFill>
                <a:cs typeface="Calibri" panose="020F0502020204030204" charset="0"/>
                <a:sym typeface="+mn-ea"/>
              </a:endParaRPr>
            </a:p>
          </p:txBody>
        </p:sp>
        <p:sp>
          <p:nvSpPr>
            <p:cNvPr id="10" name="Rounded Rectangle 8">
              <a:extLst>
                <a:ext uri="{FF2B5EF4-FFF2-40B4-BE49-F238E27FC236}">
                  <a16:creationId xmlns:a16="http://schemas.microsoft.com/office/drawing/2014/main" id="{B2E2A901-24CE-52D2-004D-27C5A8C41B73}"/>
                </a:ext>
              </a:extLst>
            </p:cNvPr>
            <p:cNvSpPr/>
            <p:nvPr/>
          </p:nvSpPr>
          <p:spPr>
            <a:xfrm>
              <a:off x="6024563" y="4857981"/>
              <a:ext cx="6766877" cy="476620"/>
            </a:xfrm>
            <a:prstGeom prst="roundRect">
              <a:avLst/>
            </a:prstGeom>
            <a:solidFill>
              <a:srgbClr val="E9F2FD"/>
            </a:solidFill>
            <a:ln w="9525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just">
                <a:buClrTx/>
                <a:buSzTx/>
                <a:buFontTx/>
              </a:pPr>
              <a:r>
                <a:rPr lang="en-US" altLang="en-US" sz="2400" b="1">
                  <a:solidFill>
                    <a:schemeClr val="accent1">
                      <a:lumMod val="50000"/>
                    </a:schemeClr>
                  </a:solidFill>
                  <a:cs typeface="Calibri" panose="020F0502020204030204" charset="0"/>
                  <a:sym typeface="+mn-ea"/>
                </a:rPr>
                <a:t>Number of parameters (Billions)</a:t>
              </a:r>
              <a:endParaRPr lang="en-US" altLang="en-US" sz="2400" dirty="0">
                <a:solidFill>
                  <a:schemeClr val="accent1">
                    <a:lumMod val="50000"/>
                  </a:schemeClr>
                </a:solidFill>
                <a:cs typeface="Calibri" panose="020F0502020204030204" charset="0"/>
                <a:sym typeface="+mn-ea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A407C14-2D6E-ED95-37D2-29AE348F6CF6}"/>
              </a:ext>
            </a:extLst>
          </p:cNvPr>
          <p:cNvGrpSpPr/>
          <p:nvPr/>
        </p:nvGrpSpPr>
        <p:grpSpPr>
          <a:xfrm>
            <a:off x="487680" y="2776002"/>
            <a:ext cx="4718367" cy="2166455"/>
            <a:chOff x="290195" y="2777546"/>
            <a:chExt cx="6248400" cy="2721389"/>
          </a:xfrm>
        </p:grpSpPr>
        <p:sp>
          <p:nvSpPr>
            <p:cNvPr id="14" name="Rounded Rectangle 6">
              <a:extLst>
                <a:ext uri="{FF2B5EF4-FFF2-40B4-BE49-F238E27FC236}">
                  <a16:creationId xmlns:a16="http://schemas.microsoft.com/office/drawing/2014/main" id="{025F1EE8-F55E-B854-DAAF-0252F62EB9B4}"/>
                </a:ext>
              </a:extLst>
            </p:cNvPr>
            <p:cNvSpPr/>
            <p:nvPr/>
          </p:nvSpPr>
          <p:spPr>
            <a:xfrm>
              <a:off x="290195" y="2777546"/>
              <a:ext cx="6248400" cy="598706"/>
            </a:xfrm>
            <a:prstGeom prst="roundRect">
              <a:avLst/>
            </a:prstGeom>
            <a:solidFill>
              <a:srgbClr val="E9F2FD"/>
            </a:solidFill>
            <a:ln w="9525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just"/>
              <a:r>
                <a:rPr lang="en-US" altLang="en-US" sz="2400" b="1">
                  <a:solidFill>
                    <a:schemeClr val="accent1">
                      <a:lumMod val="50000"/>
                    </a:schemeClr>
                  </a:solidFill>
                  <a:cs typeface="Calibri" panose="020F0502020204030204" charset="0"/>
                  <a:sym typeface="+mn-ea"/>
                </a:rPr>
                <a:t>Total Harmonic Distortion (THD)</a:t>
              </a:r>
              <a:endParaRPr lang="en-US" altLang="en-US" sz="2400" dirty="0">
                <a:solidFill>
                  <a:schemeClr val="accent1">
                    <a:lumMod val="50000"/>
                  </a:schemeClr>
                </a:solidFill>
                <a:cs typeface="Calibri" panose="020F0502020204030204" charset="0"/>
                <a:sym typeface="+mn-ea"/>
              </a:endParaRPr>
            </a:p>
          </p:txBody>
        </p:sp>
        <p:sp>
          <p:nvSpPr>
            <p:cNvPr id="15" name="Rounded Rectangle 7">
              <a:extLst>
                <a:ext uri="{FF2B5EF4-FFF2-40B4-BE49-F238E27FC236}">
                  <a16:creationId xmlns:a16="http://schemas.microsoft.com/office/drawing/2014/main" id="{D0DFB68A-30FB-7483-37DD-A2AE3B843A33}"/>
                </a:ext>
              </a:extLst>
            </p:cNvPr>
            <p:cNvSpPr/>
            <p:nvPr/>
          </p:nvSpPr>
          <p:spPr>
            <a:xfrm>
              <a:off x="290195" y="3485107"/>
              <a:ext cx="6248400" cy="598706"/>
            </a:xfrm>
            <a:prstGeom prst="roundRect">
              <a:avLst/>
            </a:prstGeom>
            <a:solidFill>
              <a:srgbClr val="E9F2FD"/>
            </a:solidFill>
            <a:ln w="9525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just">
                <a:buClrTx/>
                <a:buSzTx/>
                <a:buFontTx/>
              </a:pPr>
              <a:r>
                <a:rPr lang="en-US" altLang="en-US" sz="2400" b="1">
                  <a:solidFill>
                    <a:schemeClr val="accent1">
                      <a:lumMod val="50000"/>
                    </a:schemeClr>
                  </a:solidFill>
                  <a:cs typeface="Calibri" panose="020F0502020204030204" charset="0"/>
                  <a:sym typeface="+mn-ea"/>
                </a:rPr>
                <a:t>Spectral Flatness (SF)</a:t>
              </a:r>
              <a:endParaRPr lang="en-US" altLang="en-US" sz="2400" dirty="0">
                <a:solidFill>
                  <a:schemeClr val="accent1">
                    <a:lumMod val="50000"/>
                  </a:schemeClr>
                </a:solidFill>
                <a:cs typeface="Calibri" panose="020F0502020204030204" charset="0"/>
                <a:sym typeface="+mn-ea"/>
              </a:endParaRPr>
            </a:p>
          </p:txBody>
        </p:sp>
        <p:sp>
          <p:nvSpPr>
            <p:cNvPr id="16" name="Rounded Rectangle 8">
              <a:extLst>
                <a:ext uri="{FF2B5EF4-FFF2-40B4-BE49-F238E27FC236}">
                  <a16:creationId xmlns:a16="http://schemas.microsoft.com/office/drawing/2014/main" id="{0BDCF226-7CB5-2358-302E-0B709BDA620A}"/>
                </a:ext>
              </a:extLst>
            </p:cNvPr>
            <p:cNvSpPr/>
            <p:nvPr/>
          </p:nvSpPr>
          <p:spPr>
            <a:xfrm>
              <a:off x="290195" y="4192668"/>
              <a:ext cx="6248400" cy="598706"/>
            </a:xfrm>
            <a:prstGeom prst="roundRect">
              <a:avLst/>
            </a:prstGeom>
            <a:solidFill>
              <a:srgbClr val="E9F2FD"/>
            </a:solidFill>
            <a:ln w="9525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just">
                <a:buClrTx/>
                <a:buSzTx/>
                <a:buFontTx/>
              </a:pPr>
              <a:r>
                <a:rPr lang="en-US" altLang="en-US" sz="2400" b="1">
                  <a:solidFill>
                    <a:schemeClr val="accent1">
                      <a:lumMod val="50000"/>
                    </a:schemeClr>
                  </a:solidFill>
                  <a:cs typeface="Calibri" panose="020F0502020204030204" charset="0"/>
                  <a:sym typeface="+mn-ea"/>
                </a:rPr>
                <a:t>Spectral Centroid Variability (SCV)</a:t>
              </a:r>
              <a:endParaRPr lang="en-US" altLang="en-US" sz="2400" dirty="0">
                <a:solidFill>
                  <a:schemeClr val="accent1">
                    <a:lumMod val="50000"/>
                  </a:schemeClr>
                </a:solidFill>
                <a:cs typeface="Calibri" panose="020F0502020204030204" charset="0"/>
                <a:sym typeface="+mn-ea"/>
              </a:endParaRPr>
            </a:p>
          </p:txBody>
        </p:sp>
        <p:sp>
          <p:nvSpPr>
            <p:cNvPr id="17" name="Rounded Rectangle 8">
              <a:extLst>
                <a:ext uri="{FF2B5EF4-FFF2-40B4-BE49-F238E27FC236}">
                  <a16:creationId xmlns:a16="http://schemas.microsoft.com/office/drawing/2014/main" id="{6391FE0B-6D51-E911-45E3-FDAA9BEA7769}"/>
                </a:ext>
              </a:extLst>
            </p:cNvPr>
            <p:cNvSpPr/>
            <p:nvPr/>
          </p:nvSpPr>
          <p:spPr>
            <a:xfrm>
              <a:off x="290195" y="4900229"/>
              <a:ext cx="6248400" cy="598706"/>
            </a:xfrm>
            <a:prstGeom prst="roundRect">
              <a:avLst/>
            </a:prstGeom>
            <a:solidFill>
              <a:srgbClr val="E9F2FD"/>
            </a:solidFill>
            <a:ln w="9525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just">
                <a:buClrTx/>
                <a:buSzTx/>
                <a:buFontTx/>
              </a:pPr>
              <a:r>
                <a:rPr lang="en-US" altLang="en-US" sz="2400" b="1">
                  <a:solidFill>
                    <a:schemeClr val="accent1">
                      <a:lumMod val="50000"/>
                    </a:schemeClr>
                  </a:solidFill>
                  <a:cs typeface="Calibri" panose="020F0502020204030204" charset="0"/>
                  <a:sym typeface="+mn-ea"/>
                </a:rPr>
                <a:t>Zero-Crossing Rate (ZCR)</a:t>
              </a:r>
              <a:endParaRPr lang="en-US" altLang="en-US" sz="2400" dirty="0">
                <a:solidFill>
                  <a:schemeClr val="accent1">
                    <a:lumMod val="50000"/>
                  </a:schemeClr>
                </a:solidFill>
                <a:cs typeface="Calibri" panose="020F0502020204030204" charset="0"/>
                <a:sym typeface="+mn-ea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4972DC44-C19C-6707-03D5-F11AE38ECA96}"/>
              </a:ext>
            </a:extLst>
          </p:cNvPr>
          <p:cNvSpPr txBox="1"/>
          <p:nvPr/>
        </p:nvSpPr>
        <p:spPr>
          <a:xfrm>
            <a:off x="280352" y="5523154"/>
            <a:ext cx="115093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1"/>
                </a:solidFill>
              </a:rPr>
              <a:t>[1] Zhuo, Le et al, "Video Background Music Generation: Dataset, Method and Evaluation," in Proceedings of ICCV, 2023.</a:t>
            </a:r>
          </a:p>
          <a:p>
            <a:r>
              <a:rPr lang="en-US">
                <a:solidFill>
                  <a:schemeClr val="accent1"/>
                </a:solidFill>
              </a:rPr>
              <a:t>[2] Zuo, Heda et al, "Gvmgen: A general video-to-music generation model with hierarchical attentions," in Proceedings of AAAI, 2025.</a:t>
            </a:r>
          </a:p>
        </p:txBody>
      </p:sp>
    </p:spTree>
    <p:extLst>
      <p:ext uri="{BB962C8B-B14F-4D97-AF65-F5344CB8AC3E}">
        <p14:creationId xmlns:p14="http://schemas.microsoft.com/office/powerpoint/2010/main" val="2065018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/>
          <p:nvPr/>
        </p:nvSpPr>
        <p:spPr>
          <a:xfrm>
            <a:off x="93345" y="1112520"/>
            <a:ext cx="8308976" cy="224676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  <a:defRPr sz="3000" b="1">
                <a:solidFill>
                  <a:srgbClr val="FFFFFF"/>
                </a:solidFill>
              </a:defRPr>
            </a:pPr>
            <a:r>
              <a:rPr lang="en-US" sz="2800">
                <a:solidFill>
                  <a:schemeClr val="accent1">
                    <a:lumMod val="75000"/>
                  </a:schemeClr>
                </a:solidFill>
                <a:sym typeface="+mn-ea"/>
              </a:rPr>
              <a:t>Test set: 20 video from SymMV [1] (vocals removed)</a:t>
            </a:r>
          </a:p>
          <a:p>
            <a:pPr marL="457200" indent="-457200">
              <a:buFont typeface="Arial" panose="020B0604020202020204" pitchFamily="34" charset="0"/>
              <a:buChar char="•"/>
              <a:defRPr sz="3000" b="1">
                <a:solidFill>
                  <a:srgbClr val="FFFFFF"/>
                </a:solidFill>
              </a:defRPr>
            </a:pPr>
            <a:r>
              <a:rPr lang="en-US" sz="2800">
                <a:solidFill>
                  <a:schemeClr val="accent1">
                    <a:lumMod val="75000"/>
                  </a:schemeClr>
                </a:solidFill>
                <a:sym typeface="+mn-ea"/>
              </a:rPr>
              <a:t>Baseline: GVMGen [2]</a:t>
            </a:r>
          </a:p>
          <a:p>
            <a:pPr marL="457200" indent="-457200">
              <a:buFont typeface="Arial" panose="020B0604020202020204" pitchFamily="34" charset="0"/>
              <a:buChar char="•"/>
              <a:defRPr sz="3000" b="1">
                <a:solidFill>
                  <a:srgbClr val="FFFFFF"/>
                </a:solidFill>
              </a:defRPr>
            </a:pPr>
            <a:r>
              <a:rPr lang="en-US" sz="2800">
                <a:solidFill>
                  <a:schemeClr val="accent1">
                    <a:lumMod val="75000"/>
                  </a:schemeClr>
                </a:solidFill>
                <a:sym typeface="+mn-ea"/>
              </a:rPr>
              <a:t>Metrices:</a:t>
            </a:r>
          </a:p>
          <a:p>
            <a:pPr>
              <a:defRPr sz="3000" b="1">
                <a:solidFill>
                  <a:srgbClr val="FFFFFF"/>
                </a:solidFill>
              </a:defRPr>
            </a:pPr>
            <a:r>
              <a:rPr lang="en-US" sz="2800">
                <a:solidFill>
                  <a:schemeClr val="accent1">
                    <a:lumMod val="75000"/>
                  </a:schemeClr>
                </a:solidFill>
                <a:sym typeface="+mn-ea"/>
              </a:rPr>
              <a:t>	Music Theory Benchmark [3] and MMLU [4]</a:t>
            </a:r>
          </a:p>
          <a:p>
            <a:pPr>
              <a:defRPr sz="3000" b="1">
                <a:solidFill>
                  <a:srgbClr val="FFFFFF"/>
                </a:solidFill>
              </a:defRPr>
            </a:pPr>
            <a:r>
              <a:rPr lang="en-US" sz="2800">
                <a:solidFill>
                  <a:schemeClr val="accent1">
                    <a:lumMod val="75000"/>
                  </a:schemeClr>
                </a:solidFill>
                <a:sym typeface="+mn-ea"/>
              </a:rPr>
              <a:t>	Video-Music relationship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DA7034F-198B-19E4-6416-A1CE5D4C8E2E}"/>
              </a:ext>
            </a:extLst>
          </p:cNvPr>
          <p:cNvSpPr txBox="1"/>
          <p:nvPr/>
        </p:nvSpPr>
        <p:spPr>
          <a:xfrm>
            <a:off x="336233" y="5745480"/>
            <a:ext cx="113976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chemeClr val="accent1"/>
                </a:solidFill>
              </a:rPr>
              <a:t>[3] Yuan, Ruibin et al, "Chatmusician: Understanding and generating music intrinsically with llm," in arXiv preprint, 2024. </a:t>
            </a:r>
          </a:p>
          <a:p>
            <a:r>
              <a:rPr lang="en-US" sz="1800">
                <a:solidFill>
                  <a:schemeClr val="accent1"/>
                </a:solidFill>
              </a:rPr>
              <a:t>[4] Hendrycks, Dan, et al, "Measuring massive multitask language understanding," in arXiv preprint, 2020. </a:t>
            </a:r>
            <a:endParaRPr lang="vi-VN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888AD15-506E-56F9-3FF5-A0BC87E0212B}"/>
              </a:ext>
            </a:extLst>
          </p:cNvPr>
          <p:cNvGrpSpPr/>
          <p:nvPr/>
        </p:nvGrpSpPr>
        <p:grpSpPr>
          <a:xfrm>
            <a:off x="452851" y="3359289"/>
            <a:ext cx="4957124" cy="2166455"/>
            <a:chOff x="290195" y="2777546"/>
            <a:chExt cx="6248400" cy="2721389"/>
          </a:xfrm>
        </p:grpSpPr>
        <p:sp>
          <p:nvSpPr>
            <p:cNvPr id="33" name="Rounded Rectangle 6">
              <a:extLst>
                <a:ext uri="{FF2B5EF4-FFF2-40B4-BE49-F238E27FC236}">
                  <a16:creationId xmlns:a16="http://schemas.microsoft.com/office/drawing/2014/main" id="{A1510329-3898-624C-7056-9403FC5DBFCF}"/>
                </a:ext>
              </a:extLst>
            </p:cNvPr>
            <p:cNvSpPr/>
            <p:nvPr/>
          </p:nvSpPr>
          <p:spPr>
            <a:xfrm>
              <a:off x="290195" y="2777546"/>
              <a:ext cx="6248400" cy="598706"/>
            </a:xfrm>
            <a:prstGeom prst="roundRect">
              <a:avLst/>
            </a:prstGeom>
            <a:solidFill>
              <a:srgbClr val="E9F2FD"/>
            </a:solidFill>
            <a:ln w="9525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just"/>
              <a:r>
                <a:rPr lang="en-US" altLang="en-US" sz="2000" b="1">
                  <a:solidFill>
                    <a:schemeClr val="accent1">
                      <a:lumMod val="50000"/>
                    </a:schemeClr>
                  </a:solidFill>
                  <a:cs typeface="Calibri" panose="020F0502020204030204" charset="0"/>
                  <a:sym typeface="+mn-ea"/>
                </a:rPr>
                <a:t>Cross-Modal Embedding Correlation (CMEC)</a:t>
              </a:r>
              <a:endParaRPr lang="en-US" altLang="en-US" sz="2000" dirty="0">
                <a:solidFill>
                  <a:schemeClr val="accent1">
                    <a:lumMod val="50000"/>
                  </a:schemeClr>
                </a:solidFill>
                <a:cs typeface="Calibri" panose="020F0502020204030204" charset="0"/>
                <a:sym typeface="+mn-ea"/>
              </a:endParaRPr>
            </a:p>
          </p:txBody>
        </p:sp>
        <p:sp>
          <p:nvSpPr>
            <p:cNvPr id="34" name="Rounded Rectangle 7">
              <a:extLst>
                <a:ext uri="{FF2B5EF4-FFF2-40B4-BE49-F238E27FC236}">
                  <a16:creationId xmlns:a16="http://schemas.microsoft.com/office/drawing/2014/main" id="{15398DBC-373D-18BB-B510-A3E481EF60D0}"/>
                </a:ext>
              </a:extLst>
            </p:cNvPr>
            <p:cNvSpPr/>
            <p:nvPr/>
          </p:nvSpPr>
          <p:spPr>
            <a:xfrm>
              <a:off x="290195" y="3485107"/>
              <a:ext cx="6248400" cy="598706"/>
            </a:xfrm>
            <a:prstGeom prst="roundRect">
              <a:avLst/>
            </a:prstGeom>
            <a:solidFill>
              <a:srgbClr val="E9F2FD"/>
            </a:solidFill>
            <a:ln w="9525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just">
                <a:buClrTx/>
                <a:buSzTx/>
                <a:buFontTx/>
              </a:pPr>
              <a:r>
                <a:rPr lang="en-US" altLang="en-US" sz="2000" b="1">
                  <a:solidFill>
                    <a:schemeClr val="accent1">
                      <a:lumMod val="50000"/>
                    </a:schemeClr>
                  </a:solidFill>
                  <a:cs typeface="Calibri" panose="020F0502020204030204" charset="0"/>
                  <a:sym typeface="+mn-ea"/>
                </a:rPr>
                <a:t>Beat-Motion Synchrony (BMS)</a:t>
              </a:r>
              <a:endParaRPr lang="en-US" altLang="en-US" sz="2000" dirty="0">
                <a:solidFill>
                  <a:schemeClr val="accent1">
                    <a:lumMod val="50000"/>
                  </a:schemeClr>
                </a:solidFill>
                <a:cs typeface="Calibri" panose="020F0502020204030204" charset="0"/>
                <a:sym typeface="+mn-ea"/>
              </a:endParaRPr>
            </a:p>
          </p:txBody>
        </p:sp>
        <p:sp>
          <p:nvSpPr>
            <p:cNvPr id="35" name="Rounded Rectangle 8">
              <a:extLst>
                <a:ext uri="{FF2B5EF4-FFF2-40B4-BE49-F238E27FC236}">
                  <a16:creationId xmlns:a16="http://schemas.microsoft.com/office/drawing/2014/main" id="{0790DC22-A7B8-676A-C4D0-B7A128959128}"/>
                </a:ext>
              </a:extLst>
            </p:cNvPr>
            <p:cNvSpPr/>
            <p:nvPr/>
          </p:nvSpPr>
          <p:spPr>
            <a:xfrm>
              <a:off x="290195" y="4192668"/>
              <a:ext cx="6248400" cy="598706"/>
            </a:xfrm>
            <a:prstGeom prst="roundRect">
              <a:avLst/>
            </a:prstGeom>
            <a:solidFill>
              <a:srgbClr val="E9F2FD"/>
            </a:solidFill>
            <a:ln w="9525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just">
                <a:buClrTx/>
                <a:buSzTx/>
                <a:buFontTx/>
              </a:pPr>
              <a:r>
                <a:rPr lang="en-US" altLang="en-US" sz="2000" b="1">
                  <a:solidFill>
                    <a:schemeClr val="accent1">
                      <a:lumMod val="50000"/>
                    </a:schemeClr>
                  </a:solidFill>
                  <a:cs typeface="Calibri" panose="020F0502020204030204" charset="0"/>
                  <a:sym typeface="+mn-ea"/>
                </a:rPr>
                <a:t>Cross-Modal Similarity Alignment (CMSA)</a:t>
              </a:r>
              <a:endParaRPr lang="en-US" altLang="en-US" sz="2000" dirty="0">
                <a:solidFill>
                  <a:schemeClr val="accent1">
                    <a:lumMod val="50000"/>
                  </a:schemeClr>
                </a:solidFill>
                <a:cs typeface="Calibri" panose="020F0502020204030204" charset="0"/>
                <a:sym typeface="+mn-ea"/>
              </a:endParaRPr>
            </a:p>
          </p:txBody>
        </p:sp>
        <p:sp>
          <p:nvSpPr>
            <p:cNvPr id="36" name="Rounded Rectangle 8">
              <a:extLst>
                <a:ext uri="{FF2B5EF4-FFF2-40B4-BE49-F238E27FC236}">
                  <a16:creationId xmlns:a16="http://schemas.microsoft.com/office/drawing/2014/main" id="{EC524E88-697C-CBD1-971C-EFFAEB8B7EE3}"/>
                </a:ext>
              </a:extLst>
            </p:cNvPr>
            <p:cNvSpPr/>
            <p:nvPr/>
          </p:nvSpPr>
          <p:spPr>
            <a:xfrm>
              <a:off x="290195" y="4900229"/>
              <a:ext cx="6248400" cy="598706"/>
            </a:xfrm>
            <a:prstGeom prst="roundRect">
              <a:avLst/>
            </a:prstGeom>
            <a:solidFill>
              <a:srgbClr val="E9F2FD"/>
            </a:solidFill>
            <a:ln w="9525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just">
                <a:buClrTx/>
                <a:buSzTx/>
                <a:buFontTx/>
              </a:pPr>
              <a:r>
                <a:rPr lang="en-US" altLang="en-US" sz="2000" b="1">
                  <a:solidFill>
                    <a:schemeClr val="accent1">
                      <a:lumMod val="50000"/>
                    </a:schemeClr>
                  </a:solidFill>
                  <a:cs typeface="Calibri" panose="020F0502020204030204" charset="0"/>
                  <a:sym typeface="+mn-ea"/>
                </a:rPr>
                <a:t>Self-Similarity Matrix (SSM) Alignment</a:t>
              </a:r>
              <a:endParaRPr lang="en-US" altLang="en-US" sz="2000" dirty="0">
                <a:solidFill>
                  <a:schemeClr val="accent1">
                    <a:lumMod val="50000"/>
                  </a:schemeClr>
                </a:solidFill>
                <a:cs typeface="Calibri" panose="020F0502020204030204" charset="0"/>
                <a:sym typeface="+mn-ea"/>
              </a:endParaRPr>
            </a:p>
          </p:txBody>
        </p:sp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77018928-A9FD-129E-3B3B-D1DE7EBAFC2C}"/>
              </a:ext>
            </a:extLst>
          </p:cNvPr>
          <p:cNvGrpSpPr/>
          <p:nvPr/>
        </p:nvGrpSpPr>
        <p:grpSpPr>
          <a:xfrm>
            <a:off x="5517191" y="2324211"/>
            <a:ext cx="6581465" cy="3196712"/>
            <a:chOff x="883678" y="306830"/>
            <a:chExt cx="10891653" cy="5290233"/>
          </a:xfrm>
        </p:grpSpPr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04FC24B7-96E0-ECD3-723D-4A5411C78EAD}"/>
                </a:ext>
              </a:extLst>
            </p:cNvPr>
            <p:cNvGrpSpPr/>
            <p:nvPr/>
          </p:nvGrpSpPr>
          <p:grpSpPr>
            <a:xfrm>
              <a:off x="883678" y="3587504"/>
              <a:ext cx="10891653" cy="764008"/>
              <a:chOff x="883678" y="3587504"/>
              <a:chExt cx="10891653" cy="764008"/>
            </a:xfrm>
          </p:grpSpPr>
          <p:sp>
            <p:nvSpPr>
              <p:cNvPr id="166" name="Rectangle 165">
                <a:extLst>
                  <a:ext uri="{FF2B5EF4-FFF2-40B4-BE49-F238E27FC236}">
                    <a16:creationId xmlns:a16="http://schemas.microsoft.com/office/drawing/2014/main" id="{66DF1208-EB62-3150-AC72-49B54E2289A3}"/>
                  </a:ext>
                </a:extLst>
              </p:cNvPr>
              <p:cNvSpPr/>
              <p:nvPr/>
            </p:nvSpPr>
            <p:spPr>
              <a:xfrm>
                <a:off x="1959429" y="3592285"/>
                <a:ext cx="9815902" cy="283029"/>
              </a:xfrm>
              <a:prstGeom prst="rect">
                <a:avLst/>
              </a:prstGeom>
              <a:solidFill>
                <a:srgbClr val="E97132">
                  <a:lumMod val="60000"/>
                  <a:lumOff val="4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vi-VN" sz="105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AA40CB6B-C64F-0995-5BC8-3B7FE9A47CEA}"/>
                  </a:ext>
                </a:extLst>
              </p:cNvPr>
              <p:cNvSpPr txBox="1"/>
              <p:nvPr/>
            </p:nvSpPr>
            <p:spPr>
              <a:xfrm>
                <a:off x="883678" y="3587504"/>
                <a:ext cx="1170418" cy="7640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E97132"/>
                    </a:solidFill>
                    <a:effectLst/>
                    <a:uLnTx/>
                    <a:uFillTx/>
                    <a:latin typeface="Aptos" panose="02110004020202020204"/>
                  </a:rPr>
                  <a:t>Audio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E97132"/>
                    </a:solidFill>
                    <a:effectLst/>
                    <a:uLnTx/>
                    <a:uFillTx/>
                    <a:latin typeface="Aptos" panose="02110004020202020204"/>
                  </a:rPr>
                  <a:t>(music)</a:t>
                </a:r>
                <a:endParaRPr kumimoji="0" lang="vi-VN" sz="1200" b="1" i="0" u="none" strike="noStrike" kern="0" cap="none" spc="0" normalizeH="0" baseline="0" noProof="0">
                  <a:ln>
                    <a:noFill/>
                  </a:ln>
                  <a:solidFill>
                    <a:srgbClr val="E97132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6AEC4BC5-6EF9-697D-FE94-6EC2B683DEC1}"/>
                </a:ext>
              </a:extLst>
            </p:cNvPr>
            <p:cNvSpPr/>
            <p:nvPr/>
          </p:nvSpPr>
          <p:spPr>
            <a:xfrm>
              <a:off x="3981874" y="2547257"/>
              <a:ext cx="1567543" cy="1534886"/>
            </a:xfrm>
            <a:prstGeom prst="rect">
              <a:avLst/>
            </a:prstGeom>
            <a:noFill/>
            <a:ln w="38100" cap="flat" cmpd="sng" algn="ctr">
              <a:solidFill>
                <a:srgbClr val="FF0000">
                  <a:alpha val="15000"/>
                </a:srgbClr>
              </a:solidFill>
              <a:prstDash val="sys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vi-VN" sz="10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41231715-110E-86E3-9447-1C7D760577EF}"/>
                </a:ext>
              </a:extLst>
            </p:cNvPr>
            <p:cNvGrpSpPr/>
            <p:nvPr/>
          </p:nvGrpSpPr>
          <p:grpSpPr>
            <a:xfrm>
              <a:off x="959041" y="2693358"/>
              <a:ext cx="10816289" cy="764009"/>
              <a:chOff x="959041" y="1593900"/>
              <a:chExt cx="10816289" cy="764009"/>
            </a:xfrm>
          </p:grpSpPr>
          <p:sp>
            <p:nvSpPr>
              <p:cNvPr id="146" name="Rectangle 145">
                <a:extLst>
                  <a:ext uri="{FF2B5EF4-FFF2-40B4-BE49-F238E27FC236}">
                    <a16:creationId xmlns:a16="http://schemas.microsoft.com/office/drawing/2014/main" id="{AE26156F-E6A8-8622-3654-2D6AF98F6162}"/>
                  </a:ext>
                </a:extLst>
              </p:cNvPr>
              <p:cNvSpPr/>
              <p:nvPr/>
            </p:nvSpPr>
            <p:spPr>
              <a:xfrm>
                <a:off x="1959429" y="1665514"/>
                <a:ext cx="326571" cy="283029"/>
              </a:xfrm>
              <a:prstGeom prst="rect">
                <a:avLst/>
              </a:prstGeom>
              <a:solidFill>
                <a:srgbClr val="0E2841">
                  <a:lumMod val="50000"/>
                  <a:lumOff val="5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vi-VN" sz="105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47" name="Rectangle 146">
                <a:extLst>
                  <a:ext uri="{FF2B5EF4-FFF2-40B4-BE49-F238E27FC236}">
                    <a16:creationId xmlns:a16="http://schemas.microsoft.com/office/drawing/2014/main" id="{F821D3CC-092C-18B7-3C89-DF54AE8C8727}"/>
                  </a:ext>
                </a:extLst>
              </p:cNvPr>
              <p:cNvSpPr/>
              <p:nvPr/>
            </p:nvSpPr>
            <p:spPr>
              <a:xfrm>
                <a:off x="2486614" y="1665514"/>
                <a:ext cx="326571" cy="283029"/>
              </a:xfrm>
              <a:prstGeom prst="rect">
                <a:avLst/>
              </a:prstGeom>
              <a:solidFill>
                <a:srgbClr val="0E2841">
                  <a:lumMod val="50000"/>
                  <a:lumOff val="5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vi-VN" sz="105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48" name="Rectangle 147">
                <a:extLst>
                  <a:ext uri="{FF2B5EF4-FFF2-40B4-BE49-F238E27FC236}">
                    <a16:creationId xmlns:a16="http://schemas.microsoft.com/office/drawing/2014/main" id="{E4042995-A5DC-2C6D-A6EF-ABD42877C759}"/>
                  </a:ext>
                </a:extLst>
              </p:cNvPr>
              <p:cNvSpPr/>
              <p:nvPr/>
            </p:nvSpPr>
            <p:spPr>
              <a:xfrm>
                <a:off x="3013799" y="1665514"/>
                <a:ext cx="326571" cy="283029"/>
              </a:xfrm>
              <a:prstGeom prst="rect">
                <a:avLst/>
              </a:prstGeom>
              <a:solidFill>
                <a:srgbClr val="0E2841">
                  <a:lumMod val="50000"/>
                  <a:lumOff val="5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vi-VN" sz="105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49" name="Rectangle 148">
                <a:extLst>
                  <a:ext uri="{FF2B5EF4-FFF2-40B4-BE49-F238E27FC236}">
                    <a16:creationId xmlns:a16="http://schemas.microsoft.com/office/drawing/2014/main" id="{BC5C4E2D-9C50-6498-5F02-CDCEA4E4DB1C}"/>
                  </a:ext>
                </a:extLst>
              </p:cNvPr>
              <p:cNvSpPr/>
              <p:nvPr/>
            </p:nvSpPr>
            <p:spPr>
              <a:xfrm>
                <a:off x="3540984" y="1665514"/>
                <a:ext cx="326571" cy="283029"/>
              </a:xfrm>
              <a:prstGeom prst="rect">
                <a:avLst/>
              </a:prstGeom>
              <a:solidFill>
                <a:srgbClr val="0E2841">
                  <a:lumMod val="50000"/>
                  <a:lumOff val="5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vi-VN" sz="105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50" name="Rectangle 149">
                <a:extLst>
                  <a:ext uri="{FF2B5EF4-FFF2-40B4-BE49-F238E27FC236}">
                    <a16:creationId xmlns:a16="http://schemas.microsoft.com/office/drawing/2014/main" id="{E5359716-CC81-0E28-79F7-61C366FCFFEB}"/>
                  </a:ext>
                </a:extLst>
              </p:cNvPr>
              <p:cNvSpPr/>
              <p:nvPr/>
            </p:nvSpPr>
            <p:spPr>
              <a:xfrm>
                <a:off x="4068169" y="1665514"/>
                <a:ext cx="326571" cy="283029"/>
              </a:xfrm>
              <a:prstGeom prst="rect">
                <a:avLst/>
              </a:prstGeom>
              <a:solidFill>
                <a:srgbClr val="0E2841">
                  <a:lumMod val="50000"/>
                  <a:lumOff val="5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vi-VN" sz="105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51" name="Rectangle 150">
                <a:extLst>
                  <a:ext uri="{FF2B5EF4-FFF2-40B4-BE49-F238E27FC236}">
                    <a16:creationId xmlns:a16="http://schemas.microsoft.com/office/drawing/2014/main" id="{0B8E0091-87A4-BA25-A5B3-8C54673CA446}"/>
                  </a:ext>
                </a:extLst>
              </p:cNvPr>
              <p:cNvSpPr/>
              <p:nvPr/>
            </p:nvSpPr>
            <p:spPr>
              <a:xfrm>
                <a:off x="4595354" y="1665514"/>
                <a:ext cx="326571" cy="283029"/>
              </a:xfrm>
              <a:prstGeom prst="rect">
                <a:avLst/>
              </a:prstGeom>
              <a:solidFill>
                <a:srgbClr val="0E2841">
                  <a:lumMod val="50000"/>
                  <a:lumOff val="5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vi-VN" sz="105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52" name="Rectangle 151">
                <a:extLst>
                  <a:ext uri="{FF2B5EF4-FFF2-40B4-BE49-F238E27FC236}">
                    <a16:creationId xmlns:a16="http://schemas.microsoft.com/office/drawing/2014/main" id="{134AFF4A-F922-6A9B-6E97-4AE61605538B}"/>
                  </a:ext>
                </a:extLst>
              </p:cNvPr>
              <p:cNvSpPr/>
              <p:nvPr/>
            </p:nvSpPr>
            <p:spPr>
              <a:xfrm>
                <a:off x="5122539" y="1665514"/>
                <a:ext cx="326571" cy="283029"/>
              </a:xfrm>
              <a:prstGeom prst="rect">
                <a:avLst/>
              </a:prstGeom>
              <a:solidFill>
                <a:srgbClr val="0E2841">
                  <a:lumMod val="50000"/>
                  <a:lumOff val="5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vi-VN" sz="105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53" name="Rectangle 152">
                <a:extLst>
                  <a:ext uri="{FF2B5EF4-FFF2-40B4-BE49-F238E27FC236}">
                    <a16:creationId xmlns:a16="http://schemas.microsoft.com/office/drawing/2014/main" id="{EEA27B1B-46ED-B9E7-D424-91FB4377D67E}"/>
                  </a:ext>
                </a:extLst>
              </p:cNvPr>
              <p:cNvSpPr/>
              <p:nvPr/>
            </p:nvSpPr>
            <p:spPr>
              <a:xfrm>
                <a:off x="5649724" y="1665514"/>
                <a:ext cx="326571" cy="283029"/>
              </a:xfrm>
              <a:prstGeom prst="rect">
                <a:avLst/>
              </a:prstGeom>
              <a:solidFill>
                <a:srgbClr val="0E2841">
                  <a:lumMod val="50000"/>
                  <a:lumOff val="5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vi-VN" sz="105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54" name="Rectangle 153">
                <a:extLst>
                  <a:ext uri="{FF2B5EF4-FFF2-40B4-BE49-F238E27FC236}">
                    <a16:creationId xmlns:a16="http://schemas.microsoft.com/office/drawing/2014/main" id="{BE0E62C7-B8EE-7D2C-E9B1-FF42EE3AED19}"/>
                  </a:ext>
                </a:extLst>
              </p:cNvPr>
              <p:cNvSpPr/>
              <p:nvPr/>
            </p:nvSpPr>
            <p:spPr>
              <a:xfrm>
                <a:off x="6176909" y="1665514"/>
                <a:ext cx="326571" cy="283029"/>
              </a:xfrm>
              <a:prstGeom prst="rect">
                <a:avLst/>
              </a:prstGeom>
              <a:solidFill>
                <a:srgbClr val="0E2841">
                  <a:lumMod val="50000"/>
                  <a:lumOff val="5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vi-VN" sz="105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55" name="Rectangle 154">
                <a:extLst>
                  <a:ext uri="{FF2B5EF4-FFF2-40B4-BE49-F238E27FC236}">
                    <a16:creationId xmlns:a16="http://schemas.microsoft.com/office/drawing/2014/main" id="{C6DCFF65-213D-03E5-DF13-46D188E3D84A}"/>
                  </a:ext>
                </a:extLst>
              </p:cNvPr>
              <p:cNvSpPr/>
              <p:nvPr/>
            </p:nvSpPr>
            <p:spPr>
              <a:xfrm>
                <a:off x="6704094" y="1665514"/>
                <a:ext cx="326571" cy="283029"/>
              </a:xfrm>
              <a:prstGeom prst="rect">
                <a:avLst/>
              </a:prstGeom>
              <a:solidFill>
                <a:srgbClr val="0E2841">
                  <a:lumMod val="50000"/>
                  <a:lumOff val="5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vi-VN" sz="105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56" name="Rectangle 155">
                <a:extLst>
                  <a:ext uri="{FF2B5EF4-FFF2-40B4-BE49-F238E27FC236}">
                    <a16:creationId xmlns:a16="http://schemas.microsoft.com/office/drawing/2014/main" id="{DC144AA0-B68A-A2E3-7EE9-4B18DC3D40BB}"/>
                  </a:ext>
                </a:extLst>
              </p:cNvPr>
              <p:cNvSpPr/>
              <p:nvPr/>
            </p:nvSpPr>
            <p:spPr>
              <a:xfrm>
                <a:off x="7231279" y="1665514"/>
                <a:ext cx="326571" cy="283029"/>
              </a:xfrm>
              <a:prstGeom prst="rect">
                <a:avLst/>
              </a:prstGeom>
              <a:solidFill>
                <a:srgbClr val="0E2841">
                  <a:lumMod val="50000"/>
                  <a:lumOff val="5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vi-VN" sz="105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57" name="Rectangle 156">
                <a:extLst>
                  <a:ext uri="{FF2B5EF4-FFF2-40B4-BE49-F238E27FC236}">
                    <a16:creationId xmlns:a16="http://schemas.microsoft.com/office/drawing/2014/main" id="{5F829880-3BA3-8105-260E-D804906051A8}"/>
                  </a:ext>
                </a:extLst>
              </p:cNvPr>
              <p:cNvSpPr/>
              <p:nvPr/>
            </p:nvSpPr>
            <p:spPr>
              <a:xfrm>
                <a:off x="7758464" y="1665514"/>
                <a:ext cx="326571" cy="283029"/>
              </a:xfrm>
              <a:prstGeom prst="rect">
                <a:avLst/>
              </a:prstGeom>
              <a:solidFill>
                <a:srgbClr val="0E2841">
                  <a:lumMod val="50000"/>
                  <a:lumOff val="5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vi-VN" sz="105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58" name="Rectangle 157">
                <a:extLst>
                  <a:ext uri="{FF2B5EF4-FFF2-40B4-BE49-F238E27FC236}">
                    <a16:creationId xmlns:a16="http://schemas.microsoft.com/office/drawing/2014/main" id="{18B6D39E-D8D7-D576-4A31-12733732BB4C}"/>
                  </a:ext>
                </a:extLst>
              </p:cNvPr>
              <p:cNvSpPr/>
              <p:nvPr/>
            </p:nvSpPr>
            <p:spPr>
              <a:xfrm>
                <a:off x="8285649" y="1665514"/>
                <a:ext cx="326571" cy="283029"/>
              </a:xfrm>
              <a:prstGeom prst="rect">
                <a:avLst/>
              </a:prstGeom>
              <a:solidFill>
                <a:srgbClr val="0E2841">
                  <a:lumMod val="50000"/>
                  <a:lumOff val="5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vi-VN" sz="105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59" name="Rectangle 158">
                <a:extLst>
                  <a:ext uri="{FF2B5EF4-FFF2-40B4-BE49-F238E27FC236}">
                    <a16:creationId xmlns:a16="http://schemas.microsoft.com/office/drawing/2014/main" id="{1188586D-7495-BA0F-6EEA-EA289068C569}"/>
                  </a:ext>
                </a:extLst>
              </p:cNvPr>
              <p:cNvSpPr/>
              <p:nvPr/>
            </p:nvSpPr>
            <p:spPr>
              <a:xfrm>
                <a:off x="8812834" y="1665514"/>
                <a:ext cx="326571" cy="283029"/>
              </a:xfrm>
              <a:prstGeom prst="rect">
                <a:avLst/>
              </a:prstGeom>
              <a:solidFill>
                <a:srgbClr val="0E2841">
                  <a:lumMod val="50000"/>
                  <a:lumOff val="5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vi-VN" sz="105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60" name="Rectangle 159">
                <a:extLst>
                  <a:ext uri="{FF2B5EF4-FFF2-40B4-BE49-F238E27FC236}">
                    <a16:creationId xmlns:a16="http://schemas.microsoft.com/office/drawing/2014/main" id="{BE94CCB8-7761-8A56-9135-CC81C5060304}"/>
                  </a:ext>
                </a:extLst>
              </p:cNvPr>
              <p:cNvSpPr/>
              <p:nvPr/>
            </p:nvSpPr>
            <p:spPr>
              <a:xfrm>
                <a:off x="9340019" y="1665514"/>
                <a:ext cx="326571" cy="283029"/>
              </a:xfrm>
              <a:prstGeom prst="rect">
                <a:avLst/>
              </a:prstGeom>
              <a:solidFill>
                <a:srgbClr val="0E2841">
                  <a:lumMod val="50000"/>
                  <a:lumOff val="5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vi-VN" sz="105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61" name="Rectangle 160">
                <a:extLst>
                  <a:ext uri="{FF2B5EF4-FFF2-40B4-BE49-F238E27FC236}">
                    <a16:creationId xmlns:a16="http://schemas.microsoft.com/office/drawing/2014/main" id="{70D917AE-8B71-DF17-ECB3-1E4635E23722}"/>
                  </a:ext>
                </a:extLst>
              </p:cNvPr>
              <p:cNvSpPr/>
              <p:nvPr/>
            </p:nvSpPr>
            <p:spPr>
              <a:xfrm>
                <a:off x="9867204" y="1665514"/>
                <a:ext cx="326571" cy="283029"/>
              </a:xfrm>
              <a:prstGeom prst="rect">
                <a:avLst/>
              </a:prstGeom>
              <a:solidFill>
                <a:srgbClr val="0E2841">
                  <a:lumMod val="50000"/>
                  <a:lumOff val="5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vi-VN" sz="105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62" name="Rectangle 161">
                <a:extLst>
                  <a:ext uri="{FF2B5EF4-FFF2-40B4-BE49-F238E27FC236}">
                    <a16:creationId xmlns:a16="http://schemas.microsoft.com/office/drawing/2014/main" id="{894B47F6-206F-7E7E-A107-0BBCB7F9DDFA}"/>
                  </a:ext>
                </a:extLst>
              </p:cNvPr>
              <p:cNvSpPr/>
              <p:nvPr/>
            </p:nvSpPr>
            <p:spPr>
              <a:xfrm>
                <a:off x="10394389" y="1665514"/>
                <a:ext cx="326571" cy="283029"/>
              </a:xfrm>
              <a:prstGeom prst="rect">
                <a:avLst/>
              </a:prstGeom>
              <a:solidFill>
                <a:srgbClr val="0E2841">
                  <a:lumMod val="50000"/>
                  <a:lumOff val="5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vi-VN" sz="105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63" name="Rectangle 162">
                <a:extLst>
                  <a:ext uri="{FF2B5EF4-FFF2-40B4-BE49-F238E27FC236}">
                    <a16:creationId xmlns:a16="http://schemas.microsoft.com/office/drawing/2014/main" id="{B25C1205-EBFA-3289-9319-B3D7CDCAC735}"/>
                  </a:ext>
                </a:extLst>
              </p:cNvPr>
              <p:cNvSpPr/>
              <p:nvPr/>
            </p:nvSpPr>
            <p:spPr>
              <a:xfrm>
                <a:off x="10921574" y="1665514"/>
                <a:ext cx="326571" cy="283029"/>
              </a:xfrm>
              <a:prstGeom prst="rect">
                <a:avLst/>
              </a:prstGeom>
              <a:solidFill>
                <a:srgbClr val="0E2841">
                  <a:lumMod val="50000"/>
                  <a:lumOff val="5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vi-VN" sz="105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64" name="Rectangle 163">
                <a:extLst>
                  <a:ext uri="{FF2B5EF4-FFF2-40B4-BE49-F238E27FC236}">
                    <a16:creationId xmlns:a16="http://schemas.microsoft.com/office/drawing/2014/main" id="{EC08AA56-FB2D-8BC9-F70C-D841BA924B54}"/>
                  </a:ext>
                </a:extLst>
              </p:cNvPr>
              <p:cNvSpPr/>
              <p:nvPr/>
            </p:nvSpPr>
            <p:spPr>
              <a:xfrm>
                <a:off x="11448759" y="1665514"/>
                <a:ext cx="326571" cy="283029"/>
              </a:xfrm>
              <a:prstGeom prst="rect">
                <a:avLst/>
              </a:prstGeom>
              <a:solidFill>
                <a:srgbClr val="0E2841">
                  <a:lumMod val="50000"/>
                  <a:lumOff val="50000"/>
                </a:srgb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vi-VN" sz="105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2D745402-CB90-2534-21A6-2D364AA77B6D}"/>
                  </a:ext>
                </a:extLst>
              </p:cNvPr>
              <p:cNvSpPr txBox="1"/>
              <p:nvPr/>
            </p:nvSpPr>
            <p:spPr>
              <a:xfrm>
                <a:off x="959041" y="1593900"/>
                <a:ext cx="1008596" cy="7640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156082"/>
                    </a:solidFill>
                    <a:effectLst/>
                    <a:uLnTx/>
                    <a:uFillTx/>
                    <a:latin typeface="Aptos" panose="02110004020202020204"/>
                  </a:rPr>
                  <a:t>Video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156082"/>
                    </a:solidFill>
                    <a:effectLst/>
                    <a:uLnTx/>
                    <a:uFillTx/>
                    <a:latin typeface="Aptos" panose="02110004020202020204"/>
                  </a:rPr>
                  <a:t>(1 fps)</a:t>
                </a:r>
                <a:endParaRPr kumimoji="0" lang="vi-VN" sz="1200" b="1" i="0" u="none" strike="noStrike" kern="0" cap="none" spc="0" normalizeH="0" baseline="0" noProof="0">
                  <a:ln>
                    <a:noFill/>
                  </a:ln>
                  <a:solidFill>
                    <a:srgbClr val="156082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F7DC146E-1C42-E395-2098-38ABDA9B6975}"/>
                </a:ext>
              </a:extLst>
            </p:cNvPr>
            <p:cNvSpPr/>
            <p:nvPr/>
          </p:nvSpPr>
          <p:spPr>
            <a:xfrm>
              <a:off x="5029237" y="2547257"/>
              <a:ext cx="1567543" cy="1534886"/>
            </a:xfrm>
            <a:prstGeom prst="rect">
              <a:avLst/>
            </a:prstGeom>
            <a:noFill/>
            <a:ln w="38100" cap="flat" cmpd="sng" algn="ctr">
              <a:solidFill>
                <a:srgbClr val="FF0000">
                  <a:alpha val="35000"/>
                </a:srgbClr>
              </a:solidFill>
              <a:prstDash val="sys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vi-VN" sz="10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F760A48D-0E7E-CB35-B345-7F96F779774A}"/>
                </a:ext>
              </a:extLst>
            </p:cNvPr>
            <p:cNvSpPr/>
            <p:nvPr/>
          </p:nvSpPr>
          <p:spPr>
            <a:xfrm>
              <a:off x="7129467" y="2547257"/>
              <a:ext cx="1567543" cy="1534886"/>
            </a:xfrm>
            <a:prstGeom prst="rect">
              <a:avLst/>
            </a:prstGeom>
            <a:noFill/>
            <a:ln w="38100" cap="flat" cmpd="sng" algn="ctr">
              <a:solidFill>
                <a:srgbClr val="FF0000">
                  <a:alpha val="35000"/>
                </a:srgbClr>
              </a:solidFill>
              <a:prstDash val="sys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vi-VN" sz="10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DCB77EFD-4FB3-5C1F-9720-7D1D28E41CB1}"/>
                </a:ext>
              </a:extLst>
            </p:cNvPr>
            <p:cNvSpPr/>
            <p:nvPr/>
          </p:nvSpPr>
          <p:spPr>
            <a:xfrm>
              <a:off x="8179956" y="2547257"/>
              <a:ext cx="1567543" cy="1534886"/>
            </a:xfrm>
            <a:prstGeom prst="rect">
              <a:avLst/>
            </a:prstGeom>
            <a:noFill/>
            <a:ln w="38100" cap="flat" cmpd="sng" algn="ctr">
              <a:solidFill>
                <a:srgbClr val="FF0000">
                  <a:alpha val="15000"/>
                </a:srgbClr>
              </a:solidFill>
              <a:prstDash val="sys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vi-VN" sz="10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5B0A1986-44F2-3F44-0286-E508AAE60374}"/>
                </a:ext>
              </a:extLst>
            </p:cNvPr>
            <p:cNvSpPr/>
            <p:nvPr/>
          </p:nvSpPr>
          <p:spPr>
            <a:xfrm>
              <a:off x="6096000" y="2547257"/>
              <a:ext cx="1567543" cy="1534886"/>
            </a:xfrm>
            <a:prstGeom prst="rect">
              <a:avLst/>
            </a:prstGeom>
            <a:noFill/>
            <a:ln w="38100" cap="flat" cmpd="sng" algn="ctr">
              <a:solidFill>
                <a:srgbClr val="FF0000"/>
              </a:solidFill>
              <a:prstDash val="sys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vi-VN" sz="10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EB49115F-BA1B-75E8-3956-067F669A0A93}"/>
                </a:ext>
              </a:extLst>
            </p:cNvPr>
            <p:cNvSpPr txBox="1"/>
            <p:nvPr/>
          </p:nvSpPr>
          <p:spPr>
            <a:xfrm>
              <a:off x="1311467" y="4909456"/>
              <a:ext cx="2886784" cy="6876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ptos" panose="02110004020202020204"/>
                </a:rPr>
                <a:t>3 seconds sliding window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ptos" panose="02110004020202020204"/>
                </a:rPr>
                <a:t>(1 second overlapped)</a:t>
              </a:r>
              <a:endParaRPr kumimoji="0" lang="vi-VN" sz="105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endParaRPr>
            </a:p>
          </p:txBody>
        </p:sp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A89CEAFE-6E4D-03EF-CE8C-FEE8C18029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87099" y="4185557"/>
              <a:ext cx="1242138" cy="723898"/>
            </a:xfrm>
            <a:prstGeom prst="straightConnector1">
              <a:avLst/>
            </a:prstGeom>
            <a:noFill/>
            <a:ln w="38100" cap="flat" cmpd="sng" algn="ctr">
              <a:solidFill>
                <a:srgbClr val="FF0000"/>
              </a:solidFill>
              <a:prstDash val="sysDash"/>
              <a:miter lim="800000"/>
              <a:tailEnd type="triangle"/>
            </a:ln>
            <a:effectLst/>
          </p:spPr>
        </p:cxnSp>
        <p:cxnSp>
          <p:nvCxnSpPr>
            <p:cNvPr id="135" name="Straight Arrow Connector 134">
              <a:extLst>
                <a:ext uri="{FF2B5EF4-FFF2-40B4-BE49-F238E27FC236}">
                  <a16:creationId xmlns:a16="http://schemas.microsoft.com/office/drawing/2014/main" id="{A00C921D-0B2B-83B0-0117-ECC4CB5E4561}"/>
                </a:ext>
              </a:extLst>
            </p:cNvPr>
            <p:cNvCxnSpPr>
              <a:cxnSpLocks/>
              <a:endCxn id="139" idx="3"/>
            </p:cNvCxnSpPr>
            <p:nvPr/>
          </p:nvCxnSpPr>
          <p:spPr>
            <a:xfrm flipV="1">
              <a:off x="6324636" y="1337299"/>
              <a:ext cx="211261" cy="1427674"/>
            </a:xfrm>
            <a:prstGeom prst="straightConnector1">
              <a:avLst/>
            </a:prstGeom>
            <a:noFill/>
            <a:ln w="38100" cap="flat" cmpd="sng" algn="ctr">
              <a:solidFill>
                <a:srgbClr val="156082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36" name="Straight Arrow Connector 135">
              <a:extLst>
                <a:ext uri="{FF2B5EF4-FFF2-40B4-BE49-F238E27FC236}">
                  <a16:creationId xmlns:a16="http://schemas.microsoft.com/office/drawing/2014/main" id="{532AE95E-B8CB-2A7C-0E10-E007E23C9580}"/>
                </a:ext>
              </a:extLst>
            </p:cNvPr>
            <p:cNvCxnSpPr>
              <a:cxnSpLocks/>
              <a:endCxn id="139" idx="4"/>
            </p:cNvCxnSpPr>
            <p:nvPr/>
          </p:nvCxnSpPr>
          <p:spPr>
            <a:xfrm flipV="1">
              <a:off x="6868922" y="1404254"/>
              <a:ext cx="10848" cy="1360717"/>
            </a:xfrm>
            <a:prstGeom prst="straightConnector1">
              <a:avLst/>
            </a:prstGeom>
            <a:noFill/>
            <a:ln w="38100" cap="flat" cmpd="sng" algn="ctr">
              <a:solidFill>
                <a:srgbClr val="156082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37" name="Straight Arrow Connector 136">
              <a:extLst>
                <a:ext uri="{FF2B5EF4-FFF2-40B4-BE49-F238E27FC236}">
                  <a16:creationId xmlns:a16="http://schemas.microsoft.com/office/drawing/2014/main" id="{5627B9D0-B641-6686-CFB8-AED3E427AFA1}"/>
                </a:ext>
              </a:extLst>
            </p:cNvPr>
            <p:cNvCxnSpPr>
              <a:cxnSpLocks/>
              <a:endCxn id="139" idx="5"/>
            </p:cNvCxnSpPr>
            <p:nvPr/>
          </p:nvCxnSpPr>
          <p:spPr>
            <a:xfrm flipH="1" flipV="1">
              <a:off x="7223643" y="1337299"/>
              <a:ext cx="178679" cy="1427674"/>
            </a:xfrm>
            <a:prstGeom prst="straightConnector1">
              <a:avLst/>
            </a:prstGeom>
            <a:noFill/>
            <a:ln w="38100" cap="flat" cmpd="sng" algn="ctr">
              <a:solidFill>
                <a:srgbClr val="156082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138" name="Trapezoid 137">
              <a:extLst>
                <a:ext uri="{FF2B5EF4-FFF2-40B4-BE49-F238E27FC236}">
                  <a16:creationId xmlns:a16="http://schemas.microsoft.com/office/drawing/2014/main" id="{40F5F702-83FC-D839-4A31-3F2E3D6B5322}"/>
                </a:ext>
              </a:extLst>
            </p:cNvPr>
            <p:cNvSpPr/>
            <p:nvPr/>
          </p:nvSpPr>
          <p:spPr>
            <a:xfrm>
              <a:off x="5976295" y="1730831"/>
              <a:ext cx="1835016" cy="483680"/>
            </a:xfrm>
            <a:prstGeom prst="trapezoid">
              <a:avLst/>
            </a:prstGeom>
            <a:solidFill>
              <a:srgbClr val="196B24">
                <a:lumMod val="20000"/>
                <a:lumOff val="80000"/>
              </a:srgbClr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100" b="1" i="0" u="none" strike="noStrike" kern="0" cap="none" spc="0" normalizeH="0" baseline="0" noProof="0">
                  <a:ln>
                    <a:noFill/>
                  </a:ln>
                  <a:solidFill>
                    <a:srgbClr val="196B24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ImageBind</a:t>
              </a:r>
              <a:endParaRPr kumimoji="0" lang="vi-VN" sz="1100" b="1" i="0" u="none" strike="noStrike" kern="0" cap="none" spc="0" normalizeH="0" baseline="0" noProof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25D67D84-1D9A-7D8A-48EB-4DC0F8096FF2}"/>
                </a:ext>
              </a:extLst>
            </p:cNvPr>
            <p:cNvSpPr/>
            <p:nvPr/>
          </p:nvSpPr>
          <p:spPr>
            <a:xfrm>
              <a:off x="6393460" y="947056"/>
              <a:ext cx="972620" cy="457199"/>
            </a:xfrm>
            <a:prstGeom prst="ellipse">
              <a:avLst/>
            </a:prstGeom>
            <a:solidFill>
              <a:srgbClr val="156082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5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Avg</a:t>
              </a:r>
              <a:endParaRPr kumimoji="0" lang="vi-VN" sz="105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cxnSp>
          <p:nvCxnSpPr>
            <p:cNvPr id="140" name="Straight Arrow Connector 139">
              <a:extLst>
                <a:ext uri="{FF2B5EF4-FFF2-40B4-BE49-F238E27FC236}">
                  <a16:creationId xmlns:a16="http://schemas.microsoft.com/office/drawing/2014/main" id="{ADCDF215-86F0-F41B-310C-7D87233D35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9770" y="702380"/>
              <a:ext cx="0" cy="244675"/>
            </a:xfrm>
            <a:prstGeom prst="straightConnector1">
              <a:avLst/>
            </a:prstGeom>
            <a:noFill/>
            <a:ln w="38100" cap="flat" cmpd="sng" algn="ctr">
              <a:solidFill>
                <a:srgbClr val="156082"/>
              </a:solidFill>
              <a:prstDash val="solid"/>
              <a:miter lim="800000"/>
              <a:tailEnd type="triangle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1" name="TextBox 140">
                  <a:extLst>
                    <a:ext uri="{FF2B5EF4-FFF2-40B4-BE49-F238E27FC236}">
                      <a16:creationId xmlns:a16="http://schemas.microsoft.com/office/drawing/2014/main" id="{1F4F6347-9FC5-1B93-FC81-EC1DA1C15362}"/>
                    </a:ext>
                  </a:extLst>
                </p:cNvPr>
                <p:cNvSpPr txBox="1"/>
                <p:nvPr/>
              </p:nvSpPr>
              <p:spPr>
                <a:xfrm>
                  <a:off x="6614381" y="306830"/>
                  <a:ext cx="618634" cy="45840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vi-VN" sz="1200" b="1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56082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sz="1200" b="1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56082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kumimoji="0" lang="en-US" sz="1200" b="1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156082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b>
                        </m:sSub>
                      </m:oMath>
                    </m:oMathPara>
                  </a14:m>
                  <a:endParaRPr kumimoji="0" lang="vi-VN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156082"/>
                    </a:solidFill>
                    <a:effectLst/>
                    <a:uLnTx/>
                    <a:uFillTx/>
                  </a:endParaRPr>
                </a:p>
              </p:txBody>
            </p:sp>
          </mc:Choice>
          <mc:Fallback xmlns="">
            <p:sp>
              <p:nvSpPr>
                <p:cNvPr id="141" name="TextBox 140">
                  <a:extLst>
                    <a:ext uri="{FF2B5EF4-FFF2-40B4-BE49-F238E27FC236}">
                      <a16:creationId xmlns:a16="http://schemas.microsoft.com/office/drawing/2014/main" id="{1F4F6347-9FC5-1B93-FC81-EC1DA1C153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14381" y="306830"/>
                  <a:ext cx="618634" cy="45840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2" name="Straight Arrow Connector 141">
              <a:extLst>
                <a:ext uri="{FF2B5EF4-FFF2-40B4-BE49-F238E27FC236}">
                  <a16:creationId xmlns:a16="http://schemas.microsoft.com/office/drawing/2014/main" id="{827499A3-54BA-5BA6-34BC-0FD66CF5666A}"/>
                </a:ext>
              </a:extLst>
            </p:cNvPr>
            <p:cNvCxnSpPr>
              <a:cxnSpLocks/>
              <a:stCxn id="166" idx="2"/>
            </p:cNvCxnSpPr>
            <p:nvPr/>
          </p:nvCxnSpPr>
          <p:spPr>
            <a:xfrm>
              <a:off x="6867380" y="3875314"/>
              <a:ext cx="12391" cy="1234800"/>
            </a:xfrm>
            <a:prstGeom prst="straightConnector1">
              <a:avLst/>
            </a:prstGeom>
            <a:noFill/>
            <a:ln w="38100" cap="flat" cmpd="sng" algn="ctr">
              <a:solidFill>
                <a:srgbClr val="E97132">
                  <a:lumMod val="75000"/>
                </a:srgbClr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143" name="Trapezoid 142">
              <a:extLst>
                <a:ext uri="{FF2B5EF4-FFF2-40B4-BE49-F238E27FC236}">
                  <a16:creationId xmlns:a16="http://schemas.microsoft.com/office/drawing/2014/main" id="{87466510-CC57-9117-96C1-5EC9088C079C}"/>
                </a:ext>
              </a:extLst>
            </p:cNvPr>
            <p:cNvSpPr/>
            <p:nvPr/>
          </p:nvSpPr>
          <p:spPr>
            <a:xfrm flipV="1">
              <a:off x="5976295" y="4299858"/>
              <a:ext cx="1835016" cy="483680"/>
            </a:xfrm>
            <a:prstGeom prst="trapezoid">
              <a:avLst/>
            </a:prstGeom>
            <a:solidFill>
              <a:srgbClr val="196B24">
                <a:lumMod val="20000"/>
                <a:lumOff val="80000"/>
              </a:srgbClr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vi-VN" sz="1100" b="1" i="0" u="none" strike="noStrike" kern="0" cap="none" spc="0" normalizeH="0" baseline="0" noProof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A616C829-0B24-81CB-D401-6170AE589F8D}"/>
                    </a:ext>
                  </a:extLst>
                </p:cNvPr>
                <p:cNvSpPr txBox="1"/>
                <p:nvPr/>
              </p:nvSpPr>
              <p:spPr>
                <a:xfrm rot="10800000" flipV="1">
                  <a:off x="6635448" y="5003418"/>
                  <a:ext cx="623940" cy="45840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vi-VN" sz="1200" b="1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E97132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sz="1200" b="1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E97132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kumimoji="0" lang="en-US" sz="1200" b="1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E97132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b>
                        </m:sSub>
                      </m:oMath>
                    </m:oMathPara>
                  </a14:m>
                  <a:endParaRPr kumimoji="0" lang="vi-VN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E97132"/>
                    </a:solidFill>
                    <a:effectLst/>
                    <a:uLnTx/>
                    <a:uFillTx/>
                  </a:endParaRPr>
                </a:p>
              </p:txBody>
            </p:sp>
          </mc:Choice>
          <mc:Fallback xmlns=""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A616C829-0B24-81CB-D401-6170AE589F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0800000" flipV="1">
                  <a:off x="6635448" y="5003418"/>
                  <a:ext cx="623940" cy="45840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D0C1D0C0-4445-1344-7D17-604F3A5DAA58}"/>
                </a:ext>
              </a:extLst>
            </p:cNvPr>
            <p:cNvSpPr txBox="1"/>
            <p:nvPr/>
          </p:nvSpPr>
          <p:spPr>
            <a:xfrm>
              <a:off x="6110031" y="4302517"/>
              <a:ext cx="1553512" cy="40011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vi-VN"/>
              </a:defPPr>
              <a:lvl1pPr algn="ctr">
                <a:defRPr sz="2000" b="1">
                  <a:solidFill>
                    <a:schemeClr val="accent3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100" b="1" i="0" u="none" strike="noStrike" kern="0" cap="none" spc="0" normalizeH="0" baseline="0" noProof="0">
                  <a:ln>
                    <a:noFill/>
                  </a:ln>
                  <a:solidFill>
                    <a:srgbClr val="196B24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ImageBind</a:t>
              </a:r>
              <a:endParaRPr kumimoji="0" lang="vi-VN" sz="1100" b="1" i="0" u="none" strike="noStrike" kern="0" cap="none" spc="0" normalizeH="0" baseline="0" noProof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0702D26A-D73C-B9A0-CD96-DAE071CAF6E6}"/>
              </a:ext>
            </a:extLst>
          </p:cNvPr>
          <p:cNvGrpSpPr/>
          <p:nvPr/>
        </p:nvGrpSpPr>
        <p:grpSpPr>
          <a:xfrm>
            <a:off x="8650394" y="809611"/>
            <a:ext cx="2475211" cy="2685453"/>
            <a:chOff x="3446936" y="982546"/>
            <a:chExt cx="4509687" cy="4892734"/>
          </a:xfrm>
        </p:grpSpPr>
        <p:pic>
          <p:nvPicPr>
            <p:cNvPr id="175" name="Picture 174">
              <a:extLst>
                <a:ext uri="{FF2B5EF4-FFF2-40B4-BE49-F238E27FC236}">
                  <a16:creationId xmlns:a16="http://schemas.microsoft.com/office/drawing/2014/main" id="{2A03834A-C5AB-4BD8-FF32-E16C9EA251A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5516" t="6650" r="16401" b="7176"/>
            <a:stretch/>
          </p:blipFill>
          <p:spPr>
            <a:xfrm>
              <a:off x="4049486" y="1632857"/>
              <a:ext cx="3592285" cy="3570514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6" name="TextBox 175">
                  <a:extLst>
                    <a:ext uri="{FF2B5EF4-FFF2-40B4-BE49-F238E27FC236}">
                      <a16:creationId xmlns:a16="http://schemas.microsoft.com/office/drawing/2014/main" id="{AE71F06B-0EA1-D9AC-F16E-644A4D508F1D}"/>
                    </a:ext>
                  </a:extLst>
                </p:cNvPr>
                <p:cNvSpPr txBox="1"/>
                <p:nvPr/>
              </p:nvSpPr>
              <p:spPr>
                <a:xfrm>
                  <a:off x="4012114" y="1254517"/>
                  <a:ext cx="654764" cy="45696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vi-VN" sz="11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sz="11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vi-VN" sz="1100" b="1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176" name="TextBox 175">
                  <a:extLst>
                    <a:ext uri="{FF2B5EF4-FFF2-40B4-BE49-F238E27FC236}">
                      <a16:creationId xmlns:a16="http://schemas.microsoft.com/office/drawing/2014/main" id="{AE71F06B-0EA1-D9AC-F16E-644A4D508F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12114" y="1254517"/>
                  <a:ext cx="654764" cy="45696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7" name="TextBox 176">
                  <a:extLst>
                    <a:ext uri="{FF2B5EF4-FFF2-40B4-BE49-F238E27FC236}">
                      <a16:creationId xmlns:a16="http://schemas.microsoft.com/office/drawing/2014/main" id="{A08990BF-91E5-DF89-400D-DC4D25707F4A}"/>
                    </a:ext>
                  </a:extLst>
                </p:cNvPr>
                <p:cNvSpPr txBox="1"/>
                <p:nvPr/>
              </p:nvSpPr>
              <p:spPr>
                <a:xfrm rot="10800000" flipV="1">
                  <a:off x="3446938" y="1515500"/>
                  <a:ext cx="660364" cy="45696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vi-VN" sz="1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sz="1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vi-VN" sz="1100" b="1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177" name="TextBox 176">
                  <a:extLst>
                    <a:ext uri="{FF2B5EF4-FFF2-40B4-BE49-F238E27FC236}">
                      <a16:creationId xmlns:a16="http://schemas.microsoft.com/office/drawing/2014/main" id="{A08990BF-91E5-DF89-400D-DC4D25707F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0800000" flipV="1">
                  <a:off x="3446938" y="1515500"/>
                  <a:ext cx="660364" cy="456968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8" name="TextBox 177">
                  <a:extLst>
                    <a:ext uri="{FF2B5EF4-FFF2-40B4-BE49-F238E27FC236}">
                      <a16:creationId xmlns:a16="http://schemas.microsoft.com/office/drawing/2014/main" id="{823DB745-237B-E863-0A39-54F0F0FFD4AA}"/>
                    </a:ext>
                  </a:extLst>
                </p:cNvPr>
                <p:cNvSpPr txBox="1"/>
                <p:nvPr/>
              </p:nvSpPr>
              <p:spPr>
                <a:xfrm>
                  <a:off x="4365820" y="1254517"/>
                  <a:ext cx="654764" cy="45696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vi-VN" sz="11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sz="11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vi-VN" sz="1100" b="1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178" name="TextBox 177">
                  <a:extLst>
                    <a:ext uri="{FF2B5EF4-FFF2-40B4-BE49-F238E27FC236}">
                      <a16:creationId xmlns:a16="http://schemas.microsoft.com/office/drawing/2014/main" id="{823DB745-237B-E863-0A39-54F0F0FFD4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65820" y="1254517"/>
                  <a:ext cx="654764" cy="456968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9" name="TextBox 178">
                  <a:extLst>
                    <a:ext uri="{FF2B5EF4-FFF2-40B4-BE49-F238E27FC236}">
                      <a16:creationId xmlns:a16="http://schemas.microsoft.com/office/drawing/2014/main" id="{1D1C2679-5D5A-BA09-52C1-96D74B51BF33}"/>
                    </a:ext>
                  </a:extLst>
                </p:cNvPr>
                <p:cNvSpPr txBox="1"/>
                <p:nvPr/>
              </p:nvSpPr>
              <p:spPr>
                <a:xfrm>
                  <a:off x="4719527" y="1254517"/>
                  <a:ext cx="654764" cy="45696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vi-VN" sz="11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sz="11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vi-VN" sz="1100" b="1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179" name="TextBox 178">
                  <a:extLst>
                    <a:ext uri="{FF2B5EF4-FFF2-40B4-BE49-F238E27FC236}">
                      <a16:creationId xmlns:a16="http://schemas.microsoft.com/office/drawing/2014/main" id="{1D1C2679-5D5A-BA09-52C1-96D74B51BF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19527" y="1254517"/>
                  <a:ext cx="654764" cy="456968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0" name="TextBox 179">
                  <a:extLst>
                    <a:ext uri="{FF2B5EF4-FFF2-40B4-BE49-F238E27FC236}">
                      <a16:creationId xmlns:a16="http://schemas.microsoft.com/office/drawing/2014/main" id="{C8DF4340-F640-7393-1E3C-DB2F9A8FD03C}"/>
                    </a:ext>
                  </a:extLst>
                </p:cNvPr>
                <p:cNvSpPr txBox="1"/>
                <p:nvPr/>
              </p:nvSpPr>
              <p:spPr>
                <a:xfrm>
                  <a:off x="5073229" y="1254517"/>
                  <a:ext cx="654764" cy="45696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vi-VN" sz="11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sz="11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vi-VN" sz="1100" b="1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180" name="TextBox 179">
                  <a:extLst>
                    <a:ext uri="{FF2B5EF4-FFF2-40B4-BE49-F238E27FC236}">
                      <a16:creationId xmlns:a16="http://schemas.microsoft.com/office/drawing/2014/main" id="{C8DF4340-F640-7393-1E3C-DB2F9A8FD0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73229" y="1254517"/>
                  <a:ext cx="654764" cy="456968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1" name="TextBox 180">
                  <a:extLst>
                    <a:ext uri="{FF2B5EF4-FFF2-40B4-BE49-F238E27FC236}">
                      <a16:creationId xmlns:a16="http://schemas.microsoft.com/office/drawing/2014/main" id="{FB8D3DCA-B77B-2B8E-ED83-22A90FDF5FCF}"/>
                    </a:ext>
                  </a:extLst>
                </p:cNvPr>
                <p:cNvSpPr txBox="1"/>
                <p:nvPr/>
              </p:nvSpPr>
              <p:spPr>
                <a:xfrm>
                  <a:off x="5426935" y="1254517"/>
                  <a:ext cx="654764" cy="45696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vi-VN" sz="11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sz="11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</m:oMath>
                    </m:oMathPara>
                  </a14:m>
                  <a:endParaRPr lang="vi-VN" sz="1100" b="1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181" name="TextBox 180">
                  <a:extLst>
                    <a:ext uri="{FF2B5EF4-FFF2-40B4-BE49-F238E27FC236}">
                      <a16:creationId xmlns:a16="http://schemas.microsoft.com/office/drawing/2014/main" id="{FB8D3DCA-B77B-2B8E-ED83-22A90FDF5F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26935" y="1254517"/>
                  <a:ext cx="654764" cy="456968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5FF9DF87-2938-3237-4F53-0F9EA90760B6}"/>
                    </a:ext>
                  </a:extLst>
                </p:cNvPr>
                <p:cNvSpPr txBox="1"/>
                <p:nvPr/>
              </p:nvSpPr>
              <p:spPr>
                <a:xfrm>
                  <a:off x="5780640" y="1254517"/>
                  <a:ext cx="654764" cy="45696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vi-VN" sz="11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sz="11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𝟔</m:t>
                            </m:r>
                          </m:sub>
                        </m:sSub>
                      </m:oMath>
                    </m:oMathPara>
                  </a14:m>
                  <a:endParaRPr lang="vi-VN" sz="1100" b="1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5FF9DF87-2938-3237-4F53-0F9EA90760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80640" y="1254517"/>
                  <a:ext cx="654764" cy="456968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3" name="TextBox 182">
                  <a:extLst>
                    <a:ext uri="{FF2B5EF4-FFF2-40B4-BE49-F238E27FC236}">
                      <a16:creationId xmlns:a16="http://schemas.microsoft.com/office/drawing/2014/main" id="{B0E71564-C730-2075-74ED-7062897DBEE3}"/>
                    </a:ext>
                  </a:extLst>
                </p:cNvPr>
                <p:cNvSpPr txBox="1"/>
                <p:nvPr/>
              </p:nvSpPr>
              <p:spPr>
                <a:xfrm>
                  <a:off x="6134344" y="1254517"/>
                  <a:ext cx="654764" cy="45696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vi-VN" sz="11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sz="11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𝟕</m:t>
                            </m:r>
                          </m:sub>
                        </m:sSub>
                      </m:oMath>
                    </m:oMathPara>
                  </a14:m>
                  <a:endParaRPr lang="vi-VN" sz="1100" b="1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183" name="TextBox 182">
                  <a:extLst>
                    <a:ext uri="{FF2B5EF4-FFF2-40B4-BE49-F238E27FC236}">
                      <a16:creationId xmlns:a16="http://schemas.microsoft.com/office/drawing/2014/main" id="{B0E71564-C730-2075-74ED-7062897DBE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34344" y="1254517"/>
                  <a:ext cx="654764" cy="456968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4" name="TextBox 183">
                  <a:extLst>
                    <a:ext uri="{FF2B5EF4-FFF2-40B4-BE49-F238E27FC236}">
                      <a16:creationId xmlns:a16="http://schemas.microsoft.com/office/drawing/2014/main" id="{25F7C800-59E4-3500-4013-01A3208467DE}"/>
                    </a:ext>
                  </a:extLst>
                </p:cNvPr>
                <p:cNvSpPr txBox="1"/>
                <p:nvPr/>
              </p:nvSpPr>
              <p:spPr>
                <a:xfrm>
                  <a:off x="6488051" y="1254517"/>
                  <a:ext cx="654764" cy="45696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vi-VN" sz="11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sz="11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𝟖</m:t>
                            </m:r>
                          </m:sub>
                        </m:sSub>
                      </m:oMath>
                    </m:oMathPara>
                  </a14:m>
                  <a:endParaRPr lang="vi-VN" sz="1100" b="1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184" name="TextBox 183">
                  <a:extLst>
                    <a:ext uri="{FF2B5EF4-FFF2-40B4-BE49-F238E27FC236}">
                      <a16:creationId xmlns:a16="http://schemas.microsoft.com/office/drawing/2014/main" id="{25F7C800-59E4-3500-4013-01A3208467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88051" y="1254517"/>
                  <a:ext cx="654764" cy="456968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5" name="TextBox 184">
                  <a:extLst>
                    <a:ext uri="{FF2B5EF4-FFF2-40B4-BE49-F238E27FC236}">
                      <a16:creationId xmlns:a16="http://schemas.microsoft.com/office/drawing/2014/main" id="{A6334094-7D2E-40D7-F4CD-F158C07EC3B7}"/>
                    </a:ext>
                  </a:extLst>
                </p:cNvPr>
                <p:cNvSpPr txBox="1"/>
                <p:nvPr/>
              </p:nvSpPr>
              <p:spPr>
                <a:xfrm>
                  <a:off x="6841755" y="1254517"/>
                  <a:ext cx="654764" cy="45696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vi-VN" sz="11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sz="11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𝟗</m:t>
                            </m:r>
                          </m:sub>
                        </m:sSub>
                      </m:oMath>
                    </m:oMathPara>
                  </a14:m>
                  <a:endParaRPr lang="vi-VN" sz="1100" b="1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185" name="TextBox 184">
                  <a:extLst>
                    <a:ext uri="{FF2B5EF4-FFF2-40B4-BE49-F238E27FC236}">
                      <a16:creationId xmlns:a16="http://schemas.microsoft.com/office/drawing/2014/main" id="{A6334094-7D2E-40D7-F4CD-F158C07EC3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41755" y="1254517"/>
                  <a:ext cx="654764" cy="456968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6" name="TextBox 185">
                  <a:extLst>
                    <a:ext uri="{FF2B5EF4-FFF2-40B4-BE49-F238E27FC236}">
                      <a16:creationId xmlns:a16="http://schemas.microsoft.com/office/drawing/2014/main" id="{8E243B56-6987-8FF6-5FAB-C6D399FAFA40}"/>
                    </a:ext>
                  </a:extLst>
                </p:cNvPr>
                <p:cNvSpPr txBox="1"/>
                <p:nvPr/>
              </p:nvSpPr>
              <p:spPr>
                <a:xfrm>
                  <a:off x="7195457" y="1254517"/>
                  <a:ext cx="761166" cy="45696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vi-VN" sz="11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sz="11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𝟏𝟎</m:t>
                            </m:r>
                          </m:sub>
                        </m:sSub>
                      </m:oMath>
                    </m:oMathPara>
                  </a14:m>
                  <a:endParaRPr lang="vi-VN" sz="1100" b="1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186" name="TextBox 185">
                  <a:extLst>
                    <a:ext uri="{FF2B5EF4-FFF2-40B4-BE49-F238E27FC236}">
                      <a16:creationId xmlns:a16="http://schemas.microsoft.com/office/drawing/2014/main" id="{8E243B56-6987-8FF6-5FAB-C6D399FAFA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95457" y="1254517"/>
                  <a:ext cx="761166" cy="456968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7" name="TextBox 186">
                  <a:extLst>
                    <a:ext uri="{FF2B5EF4-FFF2-40B4-BE49-F238E27FC236}">
                      <a16:creationId xmlns:a16="http://schemas.microsoft.com/office/drawing/2014/main" id="{35CC51AB-77AB-94F1-BD89-DEB0CAA8A586}"/>
                    </a:ext>
                  </a:extLst>
                </p:cNvPr>
                <p:cNvSpPr txBox="1"/>
                <p:nvPr/>
              </p:nvSpPr>
              <p:spPr>
                <a:xfrm rot="10800000" flipV="1">
                  <a:off x="3446936" y="1877155"/>
                  <a:ext cx="660364" cy="45696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vi-VN" sz="1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sz="1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vi-VN" sz="1100" b="1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187" name="TextBox 186">
                  <a:extLst>
                    <a:ext uri="{FF2B5EF4-FFF2-40B4-BE49-F238E27FC236}">
                      <a16:creationId xmlns:a16="http://schemas.microsoft.com/office/drawing/2014/main" id="{35CC51AB-77AB-94F1-BD89-DEB0CAA8A5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0800000" flipV="1">
                  <a:off x="3446936" y="1877155"/>
                  <a:ext cx="660364" cy="456968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8" name="TextBox 187">
                  <a:extLst>
                    <a:ext uri="{FF2B5EF4-FFF2-40B4-BE49-F238E27FC236}">
                      <a16:creationId xmlns:a16="http://schemas.microsoft.com/office/drawing/2014/main" id="{E58BC6E3-BEBA-D5E7-EFCF-36CCC2EC2C6D}"/>
                    </a:ext>
                  </a:extLst>
                </p:cNvPr>
                <p:cNvSpPr txBox="1"/>
                <p:nvPr/>
              </p:nvSpPr>
              <p:spPr>
                <a:xfrm rot="10800000" flipV="1">
                  <a:off x="3446936" y="2238812"/>
                  <a:ext cx="660364" cy="45696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vi-VN" sz="1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sz="1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vi-VN" sz="1100" b="1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188" name="TextBox 187">
                  <a:extLst>
                    <a:ext uri="{FF2B5EF4-FFF2-40B4-BE49-F238E27FC236}">
                      <a16:creationId xmlns:a16="http://schemas.microsoft.com/office/drawing/2014/main" id="{E58BC6E3-BEBA-D5E7-EFCF-36CCC2EC2C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0800000" flipV="1">
                  <a:off x="3446936" y="2238812"/>
                  <a:ext cx="660364" cy="456968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AF088273-33EB-53D0-20A5-0CE4E39F8074}"/>
                    </a:ext>
                  </a:extLst>
                </p:cNvPr>
                <p:cNvSpPr txBox="1"/>
                <p:nvPr/>
              </p:nvSpPr>
              <p:spPr>
                <a:xfrm rot="10800000" flipV="1">
                  <a:off x="3446936" y="2600468"/>
                  <a:ext cx="660364" cy="45696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vi-VN" sz="1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sz="1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vi-VN" sz="1100" b="1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AF088273-33EB-53D0-20A5-0CE4E39F80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0800000" flipV="1">
                  <a:off x="3446936" y="2600468"/>
                  <a:ext cx="660364" cy="456968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0" name="TextBox 189">
                  <a:extLst>
                    <a:ext uri="{FF2B5EF4-FFF2-40B4-BE49-F238E27FC236}">
                      <a16:creationId xmlns:a16="http://schemas.microsoft.com/office/drawing/2014/main" id="{7936B88D-2FFB-95C3-9C44-D9261F04DD5B}"/>
                    </a:ext>
                  </a:extLst>
                </p:cNvPr>
                <p:cNvSpPr txBox="1"/>
                <p:nvPr/>
              </p:nvSpPr>
              <p:spPr>
                <a:xfrm rot="10800000" flipV="1">
                  <a:off x="3446936" y="2962123"/>
                  <a:ext cx="660364" cy="45696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vi-VN" sz="1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sz="1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</m:oMath>
                    </m:oMathPara>
                  </a14:m>
                  <a:endParaRPr lang="vi-VN" sz="1100" b="1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190" name="TextBox 189">
                  <a:extLst>
                    <a:ext uri="{FF2B5EF4-FFF2-40B4-BE49-F238E27FC236}">
                      <a16:creationId xmlns:a16="http://schemas.microsoft.com/office/drawing/2014/main" id="{7936B88D-2FFB-95C3-9C44-D9261F04DD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0800000" flipV="1">
                  <a:off x="3446936" y="2962123"/>
                  <a:ext cx="660364" cy="456968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1" name="TextBox 190">
                  <a:extLst>
                    <a:ext uri="{FF2B5EF4-FFF2-40B4-BE49-F238E27FC236}">
                      <a16:creationId xmlns:a16="http://schemas.microsoft.com/office/drawing/2014/main" id="{F3161D4E-E3A9-17DE-B659-E4BD5221908F}"/>
                    </a:ext>
                  </a:extLst>
                </p:cNvPr>
                <p:cNvSpPr txBox="1"/>
                <p:nvPr/>
              </p:nvSpPr>
              <p:spPr>
                <a:xfrm rot="10800000" flipV="1">
                  <a:off x="3446936" y="3323780"/>
                  <a:ext cx="660364" cy="45696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vi-VN" sz="1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sz="1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𝟔</m:t>
                            </m:r>
                          </m:sub>
                        </m:sSub>
                      </m:oMath>
                    </m:oMathPara>
                  </a14:m>
                  <a:endParaRPr lang="vi-VN" sz="1100" b="1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191" name="TextBox 190">
                  <a:extLst>
                    <a:ext uri="{FF2B5EF4-FFF2-40B4-BE49-F238E27FC236}">
                      <a16:creationId xmlns:a16="http://schemas.microsoft.com/office/drawing/2014/main" id="{F3161D4E-E3A9-17DE-B659-E4BD522190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0800000" flipV="1">
                  <a:off x="3446936" y="3323780"/>
                  <a:ext cx="660364" cy="456968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2" name="TextBox 191">
                  <a:extLst>
                    <a:ext uri="{FF2B5EF4-FFF2-40B4-BE49-F238E27FC236}">
                      <a16:creationId xmlns:a16="http://schemas.microsoft.com/office/drawing/2014/main" id="{E15A296A-CBEF-3F83-66A4-C9D2432A8A4F}"/>
                    </a:ext>
                  </a:extLst>
                </p:cNvPr>
                <p:cNvSpPr txBox="1"/>
                <p:nvPr/>
              </p:nvSpPr>
              <p:spPr>
                <a:xfrm rot="10800000" flipV="1">
                  <a:off x="3446936" y="3685435"/>
                  <a:ext cx="660364" cy="45696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vi-VN" sz="1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sz="1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𝟕</m:t>
                            </m:r>
                          </m:sub>
                        </m:sSub>
                      </m:oMath>
                    </m:oMathPara>
                  </a14:m>
                  <a:endParaRPr lang="vi-VN" sz="1100" b="1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192" name="TextBox 191">
                  <a:extLst>
                    <a:ext uri="{FF2B5EF4-FFF2-40B4-BE49-F238E27FC236}">
                      <a16:creationId xmlns:a16="http://schemas.microsoft.com/office/drawing/2014/main" id="{E15A296A-CBEF-3F83-66A4-C9D2432A8A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0800000" flipV="1">
                  <a:off x="3446936" y="3685435"/>
                  <a:ext cx="660364" cy="456968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3" name="TextBox 192">
                  <a:extLst>
                    <a:ext uri="{FF2B5EF4-FFF2-40B4-BE49-F238E27FC236}">
                      <a16:creationId xmlns:a16="http://schemas.microsoft.com/office/drawing/2014/main" id="{D3ACE5EC-456A-6515-A6FA-22B8119B8664}"/>
                    </a:ext>
                  </a:extLst>
                </p:cNvPr>
                <p:cNvSpPr txBox="1"/>
                <p:nvPr/>
              </p:nvSpPr>
              <p:spPr>
                <a:xfrm rot="10800000" flipV="1">
                  <a:off x="3446936" y="4047092"/>
                  <a:ext cx="660364" cy="45696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vi-VN" sz="1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sz="1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𝟖</m:t>
                            </m:r>
                          </m:sub>
                        </m:sSub>
                      </m:oMath>
                    </m:oMathPara>
                  </a14:m>
                  <a:endParaRPr lang="vi-VN" sz="1100" b="1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193" name="TextBox 192">
                  <a:extLst>
                    <a:ext uri="{FF2B5EF4-FFF2-40B4-BE49-F238E27FC236}">
                      <a16:creationId xmlns:a16="http://schemas.microsoft.com/office/drawing/2014/main" id="{D3ACE5EC-456A-6515-A6FA-22B8119B86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0800000" flipV="1">
                  <a:off x="3446936" y="4047092"/>
                  <a:ext cx="660364" cy="456968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4" name="TextBox 193">
                  <a:extLst>
                    <a:ext uri="{FF2B5EF4-FFF2-40B4-BE49-F238E27FC236}">
                      <a16:creationId xmlns:a16="http://schemas.microsoft.com/office/drawing/2014/main" id="{51091F70-D148-8711-F56E-4737AF839D43}"/>
                    </a:ext>
                  </a:extLst>
                </p:cNvPr>
                <p:cNvSpPr txBox="1"/>
                <p:nvPr/>
              </p:nvSpPr>
              <p:spPr>
                <a:xfrm rot="10800000" flipV="1">
                  <a:off x="3446936" y="4408747"/>
                  <a:ext cx="660364" cy="45696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vi-VN" sz="1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sz="1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𝟗</m:t>
                            </m:r>
                          </m:sub>
                        </m:sSub>
                      </m:oMath>
                    </m:oMathPara>
                  </a14:m>
                  <a:endParaRPr lang="vi-VN" sz="1100" b="1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194" name="TextBox 193">
                  <a:extLst>
                    <a:ext uri="{FF2B5EF4-FFF2-40B4-BE49-F238E27FC236}">
                      <a16:creationId xmlns:a16="http://schemas.microsoft.com/office/drawing/2014/main" id="{51091F70-D148-8711-F56E-4737AF839D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0800000" flipV="1">
                  <a:off x="3446936" y="4408747"/>
                  <a:ext cx="660364" cy="456968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5" name="TextBox 194">
                  <a:extLst>
                    <a:ext uri="{FF2B5EF4-FFF2-40B4-BE49-F238E27FC236}">
                      <a16:creationId xmlns:a16="http://schemas.microsoft.com/office/drawing/2014/main" id="{74BB46C1-467E-0EDF-E30D-2995AD10C66A}"/>
                    </a:ext>
                  </a:extLst>
                </p:cNvPr>
                <p:cNvSpPr txBox="1"/>
                <p:nvPr/>
              </p:nvSpPr>
              <p:spPr>
                <a:xfrm rot="10800000" flipV="1">
                  <a:off x="3455602" y="4770402"/>
                  <a:ext cx="766766" cy="45696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vi-VN" sz="1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sz="1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𝟏𝟎</m:t>
                            </m:r>
                          </m:sub>
                        </m:sSub>
                      </m:oMath>
                    </m:oMathPara>
                  </a14:m>
                  <a:endParaRPr lang="vi-VN" sz="1100" b="1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195" name="TextBox 194">
                  <a:extLst>
                    <a:ext uri="{FF2B5EF4-FFF2-40B4-BE49-F238E27FC236}">
                      <a16:creationId xmlns:a16="http://schemas.microsoft.com/office/drawing/2014/main" id="{74BB46C1-467E-0EDF-E30D-2995AD10C6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0800000" flipV="1">
                  <a:off x="3455602" y="4770402"/>
                  <a:ext cx="766766" cy="456968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6" name="Rectangle: Rounded Corners 195">
              <a:extLst>
                <a:ext uri="{FF2B5EF4-FFF2-40B4-BE49-F238E27FC236}">
                  <a16:creationId xmlns:a16="http://schemas.microsoft.com/office/drawing/2014/main" id="{EDA77038-9ED6-42A1-2BFA-9F170D74C05C}"/>
                </a:ext>
              </a:extLst>
            </p:cNvPr>
            <p:cNvSpPr/>
            <p:nvPr/>
          </p:nvSpPr>
          <p:spPr>
            <a:xfrm rot="2700000">
              <a:off x="3399260" y="3217246"/>
              <a:ext cx="4892734" cy="423333"/>
            </a:xfrm>
            <a:prstGeom prst="roundRect">
              <a:avLst>
                <a:gd name="adj" fmla="val 50000"/>
              </a:avLst>
            </a:prstGeom>
            <a:noFill/>
            <a:ln w="3810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050"/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05A8C304-F5F7-314E-6A36-2197EC42D3C1}"/>
                </a:ext>
              </a:extLst>
            </p:cNvPr>
            <p:cNvSpPr txBox="1"/>
            <p:nvPr/>
          </p:nvSpPr>
          <p:spPr>
            <a:xfrm>
              <a:off x="3936267" y="5329930"/>
              <a:ext cx="3598628" cy="4435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050" b="1">
                  <a:solidFill>
                    <a:srgbClr val="FF0000"/>
                  </a:solidFill>
                </a:rPr>
                <a:t>Cross-Modal Similarity Alignment</a:t>
              </a:r>
              <a:endParaRPr lang="vi-VN" sz="1050" b="1">
                <a:solidFill>
                  <a:srgbClr val="FF0000"/>
                </a:solidFill>
              </a:endParaRPr>
            </a:p>
          </p:txBody>
        </p:sp>
        <p:cxnSp>
          <p:nvCxnSpPr>
            <p:cNvPr id="198" name="Straight Arrow Connector 197">
              <a:extLst>
                <a:ext uri="{FF2B5EF4-FFF2-40B4-BE49-F238E27FC236}">
                  <a16:creationId xmlns:a16="http://schemas.microsoft.com/office/drawing/2014/main" id="{EB971ED3-EA1A-BA45-BE40-8540A6E55F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80640" y="4075522"/>
              <a:ext cx="315360" cy="1316364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C1E1A61D-70DB-7C28-A058-2B4F9A28FB24}"/>
              </a:ext>
            </a:extLst>
          </p:cNvPr>
          <p:cNvGrpSpPr/>
          <p:nvPr/>
        </p:nvGrpSpPr>
        <p:grpSpPr>
          <a:xfrm>
            <a:off x="5764552" y="3277717"/>
            <a:ext cx="6479401" cy="2469603"/>
            <a:chOff x="215660" y="1100293"/>
            <a:chExt cx="11706269" cy="446180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0" name="TextBox 199">
                  <a:extLst>
                    <a:ext uri="{FF2B5EF4-FFF2-40B4-BE49-F238E27FC236}">
                      <a16:creationId xmlns:a16="http://schemas.microsoft.com/office/drawing/2014/main" id="{8006A551-9F74-9622-FEFC-67439EF21540}"/>
                    </a:ext>
                  </a:extLst>
                </p:cNvPr>
                <p:cNvSpPr txBox="1"/>
                <p:nvPr/>
              </p:nvSpPr>
              <p:spPr>
                <a:xfrm>
                  <a:off x="787402" y="1132358"/>
                  <a:ext cx="666626" cy="46524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vi-VN" sz="11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sz="11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vi-VN" sz="1100" b="1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200" name="TextBox 199">
                  <a:extLst>
                    <a:ext uri="{FF2B5EF4-FFF2-40B4-BE49-F238E27FC236}">
                      <a16:creationId xmlns:a16="http://schemas.microsoft.com/office/drawing/2014/main" id="{8006A551-9F74-9622-FEFC-67439EF215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7402" y="1132358"/>
                  <a:ext cx="666626" cy="465247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1" name="TextBox 200">
                  <a:extLst>
                    <a:ext uri="{FF2B5EF4-FFF2-40B4-BE49-F238E27FC236}">
                      <a16:creationId xmlns:a16="http://schemas.microsoft.com/office/drawing/2014/main" id="{BDD71516-52FE-88B5-AE1D-703A964506DD}"/>
                    </a:ext>
                  </a:extLst>
                </p:cNvPr>
                <p:cNvSpPr txBox="1"/>
                <p:nvPr/>
              </p:nvSpPr>
              <p:spPr>
                <a:xfrm>
                  <a:off x="1141104" y="1132358"/>
                  <a:ext cx="666626" cy="46524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vi-VN" sz="11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sz="11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vi-VN" sz="1100" b="1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201" name="TextBox 200">
                  <a:extLst>
                    <a:ext uri="{FF2B5EF4-FFF2-40B4-BE49-F238E27FC236}">
                      <a16:creationId xmlns:a16="http://schemas.microsoft.com/office/drawing/2014/main" id="{BDD71516-52FE-88B5-AE1D-703A964506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1104" y="1132358"/>
                  <a:ext cx="666626" cy="465247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2" name="TextBox 201">
                  <a:extLst>
                    <a:ext uri="{FF2B5EF4-FFF2-40B4-BE49-F238E27FC236}">
                      <a16:creationId xmlns:a16="http://schemas.microsoft.com/office/drawing/2014/main" id="{001F4606-D012-4389-428B-13675B86C166}"/>
                    </a:ext>
                  </a:extLst>
                </p:cNvPr>
                <p:cNvSpPr txBox="1"/>
                <p:nvPr/>
              </p:nvSpPr>
              <p:spPr>
                <a:xfrm>
                  <a:off x="1494808" y="1132358"/>
                  <a:ext cx="666626" cy="46524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vi-VN" sz="11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sz="11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vi-VN" sz="1100" b="1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202" name="TextBox 201">
                  <a:extLst>
                    <a:ext uri="{FF2B5EF4-FFF2-40B4-BE49-F238E27FC236}">
                      <a16:creationId xmlns:a16="http://schemas.microsoft.com/office/drawing/2014/main" id="{001F4606-D012-4389-428B-13675B86C1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94808" y="1132358"/>
                  <a:ext cx="666626" cy="465247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3" name="TextBox 202">
                  <a:extLst>
                    <a:ext uri="{FF2B5EF4-FFF2-40B4-BE49-F238E27FC236}">
                      <a16:creationId xmlns:a16="http://schemas.microsoft.com/office/drawing/2014/main" id="{D45E451C-7DE9-08E0-4B10-DF959B8E9718}"/>
                    </a:ext>
                  </a:extLst>
                </p:cNvPr>
                <p:cNvSpPr txBox="1"/>
                <p:nvPr/>
              </p:nvSpPr>
              <p:spPr>
                <a:xfrm>
                  <a:off x="1848514" y="1132358"/>
                  <a:ext cx="666626" cy="46524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vi-VN" sz="11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sz="11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vi-VN" sz="1100" b="1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203" name="TextBox 202">
                  <a:extLst>
                    <a:ext uri="{FF2B5EF4-FFF2-40B4-BE49-F238E27FC236}">
                      <a16:creationId xmlns:a16="http://schemas.microsoft.com/office/drawing/2014/main" id="{D45E451C-7DE9-08E0-4B10-DF959B8E97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48514" y="1132358"/>
                  <a:ext cx="666626" cy="465247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4" name="TextBox 203">
                  <a:extLst>
                    <a:ext uri="{FF2B5EF4-FFF2-40B4-BE49-F238E27FC236}">
                      <a16:creationId xmlns:a16="http://schemas.microsoft.com/office/drawing/2014/main" id="{6975F464-61D6-609A-F86D-897017E24574}"/>
                    </a:ext>
                  </a:extLst>
                </p:cNvPr>
                <p:cNvSpPr txBox="1"/>
                <p:nvPr/>
              </p:nvSpPr>
              <p:spPr>
                <a:xfrm>
                  <a:off x="2202221" y="1132358"/>
                  <a:ext cx="666626" cy="46524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vi-VN" sz="11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sz="11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</m:oMath>
                    </m:oMathPara>
                  </a14:m>
                  <a:endParaRPr lang="vi-VN" sz="1100" b="1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204" name="TextBox 203">
                  <a:extLst>
                    <a:ext uri="{FF2B5EF4-FFF2-40B4-BE49-F238E27FC236}">
                      <a16:creationId xmlns:a16="http://schemas.microsoft.com/office/drawing/2014/main" id="{6975F464-61D6-609A-F86D-897017E245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2221" y="1132358"/>
                  <a:ext cx="666626" cy="465247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5" name="TextBox 204">
                  <a:extLst>
                    <a:ext uri="{FF2B5EF4-FFF2-40B4-BE49-F238E27FC236}">
                      <a16:creationId xmlns:a16="http://schemas.microsoft.com/office/drawing/2014/main" id="{02655EF0-6EEB-50BC-E431-96B1804D3E32}"/>
                    </a:ext>
                  </a:extLst>
                </p:cNvPr>
                <p:cNvSpPr txBox="1"/>
                <p:nvPr/>
              </p:nvSpPr>
              <p:spPr>
                <a:xfrm>
                  <a:off x="2555925" y="1132358"/>
                  <a:ext cx="666626" cy="46524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vi-VN" sz="11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sz="11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𝟔</m:t>
                            </m:r>
                          </m:sub>
                        </m:sSub>
                      </m:oMath>
                    </m:oMathPara>
                  </a14:m>
                  <a:endParaRPr lang="vi-VN" sz="1100" b="1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205" name="TextBox 204">
                  <a:extLst>
                    <a:ext uri="{FF2B5EF4-FFF2-40B4-BE49-F238E27FC236}">
                      <a16:creationId xmlns:a16="http://schemas.microsoft.com/office/drawing/2014/main" id="{02655EF0-6EEB-50BC-E431-96B1804D3E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55925" y="1132358"/>
                  <a:ext cx="666626" cy="465247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6" name="TextBox 205">
                  <a:extLst>
                    <a:ext uri="{FF2B5EF4-FFF2-40B4-BE49-F238E27FC236}">
                      <a16:creationId xmlns:a16="http://schemas.microsoft.com/office/drawing/2014/main" id="{C444CD9B-DFC7-226A-6EEF-E6BDF4CC8C89}"/>
                    </a:ext>
                  </a:extLst>
                </p:cNvPr>
                <p:cNvSpPr txBox="1"/>
                <p:nvPr/>
              </p:nvSpPr>
              <p:spPr>
                <a:xfrm>
                  <a:off x="2909629" y="1132358"/>
                  <a:ext cx="666626" cy="46524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vi-VN" sz="11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sz="11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𝟕</m:t>
                            </m:r>
                          </m:sub>
                        </m:sSub>
                      </m:oMath>
                    </m:oMathPara>
                  </a14:m>
                  <a:endParaRPr lang="vi-VN" sz="1100" b="1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206" name="TextBox 205">
                  <a:extLst>
                    <a:ext uri="{FF2B5EF4-FFF2-40B4-BE49-F238E27FC236}">
                      <a16:creationId xmlns:a16="http://schemas.microsoft.com/office/drawing/2014/main" id="{C444CD9B-DFC7-226A-6EEF-E6BDF4CC8C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09629" y="1132358"/>
                  <a:ext cx="666626" cy="465247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7" name="TextBox 206">
                  <a:extLst>
                    <a:ext uri="{FF2B5EF4-FFF2-40B4-BE49-F238E27FC236}">
                      <a16:creationId xmlns:a16="http://schemas.microsoft.com/office/drawing/2014/main" id="{134487F0-A60B-C957-192B-C6E384B70BE6}"/>
                    </a:ext>
                  </a:extLst>
                </p:cNvPr>
                <p:cNvSpPr txBox="1"/>
                <p:nvPr/>
              </p:nvSpPr>
              <p:spPr>
                <a:xfrm>
                  <a:off x="3263333" y="1132358"/>
                  <a:ext cx="666626" cy="46524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vi-VN" sz="11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sz="11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𝟖</m:t>
                            </m:r>
                          </m:sub>
                        </m:sSub>
                      </m:oMath>
                    </m:oMathPara>
                  </a14:m>
                  <a:endParaRPr lang="vi-VN" sz="1100" b="1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207" name="TextBox 206">
                  <a:extLst>
                    <a:ext uri="{FF2B5EF4-FFF2-40B4-BE49-F238E27FC236}">
                      <a16:creationId xmlns:a16="http://schemas.microsoft.com/office/drawing/2014/main" id="{134487F0-A60B-C957-192B-C6E384B70B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63333" y="1132358"/>
                  <a:ext cx="666626" cy="465247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8" name="TextBox 207">
                  <a:extLst>
                    <a:ext uri="{FF2B5EF4-FFF2-40B4-BE49-F238E27FC236}">
                      <a16:creationId xmlns:a16="http://schemas.microsoft.com/office/drawing/2014/main" id="{3A9F262B-FF84-C746-A1E2-1DDFBF54B668}"/>
                    </a:ext>
                  </a:extLst>
                </p:cNvPr>
                <p:cNvSpPr txBox="1"/>
                <p:nvPr/>
              </p:nvSpPr>
              <p:spPr>
                <a:xfrm>
                  <a:off x="3617040" y="1132358"/>
                  <a:ext cx="666626" cy="46524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vi-VN" sz="11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sz="11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𝟗</m:t>
                            </m:r>
                          </m:sub>
                        </m:sSub>
                      </m:oMath>
                    </m:oMathPara>
                  </a14:m>
                  <a:endParaRPr lang="vi-VN" sz="1100" b="1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208" name="TextBox 207">
                  <a:extLst>
                    <a:ext uri="{FF2B5EF4-FFF2-40B4-BE49-F238E27FC236}">
                      <a16:creationId xmlns:a16="http://schemas.microsoft.com/office/drawing/2014/main" id="{3A9F262B-FF84-C746-A1E2-1DDFBF54B6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17040" y="1132358"/>
                  <a:ext cx="666626" cy="465247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9" name="TextBox 208">
                  <a:extLst>
                    <a:ext uri="{FF2B5EF4-FFF2-40B4-BE49-F238E27FC236}">
                      <a16:creationId xmlns:a16="http://schemas.microsoft.com/office/drawing/2014/main" id="{3578637B-A53B-A84C-2B7D-D757B3127DAB}"/>
                    </a:ext>
                  </a:extLst>
                </p:cNvPr>
                <p:cNvSpPr txBox="1"/>
                <p:nvPr/>
              </p:nvSpPr>
              <p:spPr>
                <a:xfrm>
                  <a:off x="3970742" y="1132358"/>
                  <a:ext cx="774956" cy="46524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vi-VN" sz="11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sz="11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𝟏𝟎</m:t>
                            </m:r>
                          </m:sub>
                        </m:sSub>
                      </m:oMath>
                    </m:oMathPara>
                  </a14:m>
                  <a:endParaRPr lang="vi-VN" sz="1100" b="1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209" name="TextBox 208">
                  <a:extLst>
                    <a:ext uri="{FF2B5EF4-FFF2-40B4-BE49-F238E27FC236}">
                      <a16:creationId xmlns:a16="http://schemas.microsoft.com/office/drawing/2014/main" id="{3578637B-A53B-A84C-2B7D-D757B3127D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70742" y="1132358"/>
                  <a:ext cx="774956" cy="465247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0" name="TextBox 209">
                  <a:extLst>
                    <a:ext uri="{FF2B5EF4-FFF2-40B4-BE49-F238E27FC236}">
                      <a16:creationId xmlns:a16="http://schemas.microsoft.com/office/drawing/2014/main" id="{18FE8DE5-F63F-2BA5-1DCD-E388D0607E7F}"/>
                    </a:ext>
                  </a:extLst>
                </p:cNvPr>
                <p:cNvSpPr txBox="1"/>
                <p:nvPr/>
              </p:nvSpPr>
              <p:spPr>
                <a:xfrm>
                  <a:off x="215660" y="1465528"/>
                  <a:ext cx="666626" cy="46524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vi-VN" sz="11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sz="11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vi-VN" sz="1100" b="1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210" name="TextBox 209">
                  <a:extLst>
                    <a:ext uri="{FF2B5EF4-FFF2-40B4-BE49-F238E27FC236}">
                      <a16:creationId xmlns:a16="http://schemas.microsoft.com/office/drawing/2014/main" id="{18FE8DE5-F63F-2BA5-1DCD-E388D0607E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660" y="1465528"/>
                  <a:ext cx="666626" cy="465247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1" name="TextBox 210">
                  <a:extLst>
                    <a:ext uri="{FF2B5EF4-FFF2-40B4-BE49-F238E27FC236}">
                      <a16:creationId xmlns:a16="http://schemas.microsoft.com/office/drawing/2014/main" id="{86914884-C4B3-834E-E249-AD8E0C15600D}"/>
                    </a:ext>
                  </a:extLst>
                </p:cNvPr>
                <p:cNvSpPr txBox="1"/>
                <p:nvPr/>
              </p:nvSpPr>
              <p:spPr>
                <a:xfrm>
                  <a:off x="215660" y="1825832"/>
                  <a:ext cx="666626" cy="46524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vi-VN" sz="11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sz="11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vi-VN" sz="1100" b="1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211" name="TextBox 210">
                  <a:extLst>
                    <a:ext uri="{FF2B5EF4-FFF2-40B4-BE49-F238E27FC236}">
                      <a16:creationId xmlns:a16="http://schemas.microsoft.com/office/drawing/2014/main" id="{86914884-C4B3-834E-E249-AD8E0C1560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660" y="1825832"/>
                  <a:ext cx="666626" cy="465247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2" name="TextBox 211">
                  <a:extLst>
                    <a:ext uri="{FF2B5EF4-FFF2-40B4-BE49-F238E27FC236}">
                      <a16:creationId xmlns:a16="http://schemas.microsoft.com/office/drawing/2014/main" id="{17221D96-E79B-2501-0D51-B372987758A8}"/>
                    </a:ext>
                  </a:extLst>
                </p:cNvPr>
                <p:cNvSpPr txBox="1"/>
                <p:nvPr/>
              </p:nvSpPr>
              <p:spPr>
                <a:xfrm>
                  <a:off x="215660" y="2186136"/>
                  <a:ext cx="666626" cy="46524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vi-VN" sz="11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sz="11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vi-VN" sz="1100" b="1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212" name="TextBox 211">
                  <a:extLst>
                    <a:ext uri="{FF2B5EF4-FFF2-40B4-BE49-F238E27FC236}">
                      <a16:creationId xmlns:a16="http://schemas.microsoft.com/office/drawing/2014/main" id="{17221D96-E79B-2501-0D51-B372987758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660" y="2186136"/>
                  <a:ext cx="666626" cy="465247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3" name="TextBox 212">
                  <a:extLst>
                    <a:ext uri="{FF2B5EF4-FFF2-40B4-BE49-F238E27FC236}">
                      <a16:creationId xmlns:a16="http://schemas.microsoft.com/office/drawing/2014/main" id="{398038EA-CD24-42F7-8E03-45E7E93650F6}"/>
                    </a:ext>
                  </a:extLst>
                </p:cNvPr>
                <p:cNvSpPr txBox="1"/>
                <p:nvPr/>
              </p:nvSpPr>
              <p:spPr>
                <a:xfrm>
                  <a:off x="215660" y="2546440"/>
                  <a:ext cx="666626" cy="46524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vi-VN" sz="11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sz="11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vi-VN" sz="1100" b="1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213" name="TextBox 212">
                  <a:extLst>
                    <a:ext uri="{FF2B5EF4-FFF2-40B4-BE49-F238E27FC236}">
                      <a16:creationId xmlns:a16="http://schemas.microsoft.com/office/drawing/2014/main" id="{398038EA-CD24-42F7-8E03-45E7E93650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660" y="2546440"/>
                  <a:ext cx="666626" cy="465247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4" name="TextBox 213">
                  <a:extLst>
                    <a:ext uri="{FF2B5EF4-FFF2-40B4-BE49-F238E27FC236}">
                      <a16:creationId xmlns:a16="http://schemas.microsoft.com/office/drawing/2014/main" id="{2C305E9F-7841-8932-9BBD-EE7DDAACB324}"/>
                    </a:ext>
                  </a:extLst>
                </p:cNvPr>
                <p:cNvSpPr txBox="1"/>
                <p:nvPr/>
              </p:nvSpPr>
              <p:spPr>
                <a:xfrm>
                  <a:off x="215660" y="2906744"/>
                  <a:ext cx="666626" cy="46524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vi-VN" sz="11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sz="11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</m:oMath>
                    </m:oMathPara>
                  </a14:m>
                  <a:endParaRPr lang="vi-VN" sz="1100" b="1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214" name="TextBox 213">
                  <a:extLst>
                    <a:ext uri="{FF2B5EF4-FFF2-40B4-BE49-F238E27FC236}">
                      <a16:creationId xmlns:a16="http://schemas.microsoft.com/office/drawing/2014/main" id="{2C305E9F-7841-8932-9BBD-EE7DDAACB3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660" y="2906744"/>
                  <a:ext cx="666626" cy="465247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" name="TextBox 214">
                  <a:extLst>
                    <a:ext uri="{FF2B5EF4-FFF2-40B4-BE49-F238E27FC236}">
                      <a16:creationId xmlns:a16="http://schemas.microsoft.com/office/drawing/2014/main" id="{164F1545-2040-D8E1-79D3-4D8C067F412B}"/>
                    </a:ext>
                  </a:extLst>
                </p:cNvPr>
                <p:cNvSpPr txBox="1"/>
                <p:nvPr/>
              </p:nvSpPr>
              <p:spPr>
                <a:xfrm>
                  <a:off x="215660" y="3267047"/>
                  <a:ext cx="666626" cy="46524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vi-VN" sz="11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sz="11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𝟔</m:t>
                            </m:r>
                          </m:sub>
                        </m:sSub>
                      </m:oMath>
                    </m:oMathPara>
                  </a14:m>
                  <a:endParaRPr lang="vi-VN" sz="1100" b="1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215" name="TextBox 214">
                  <a:extLst>
                    <a:ext uri="{FF2B5EF4-FFF2-40B4-BE49-F238E27FC236}">
                      <a16:creationId xmlns:a16="http://schemas.microsoft.com/office/drawing/2014/main" id="{164F1545-2040-D8E1-79D3-4D8C067F41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660" y="3267047"/>
                  <a:ext cx="666626" cy="465247"/>
                </a:xfrm>
                <a:prstGeom prst="rect">
                  <a:avLst/>
                </a:prstGeom>
                <a:blipFill>
                  <a:blip r:embed="rId4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6" name="TextBox 215">
                  <a:extLst>
                    <a:ext uri="{FF2B5EF4-FFF2-40B4-BE49-F238E27FC236}">
                      <a16:creationId xmlns:a16="http://schemas.microsoft.com/office/drawing/2014/main" id="{5784D56B-7246-DCB9-C363-21612B8C78C7}"/>
                    </a:ext>
                  </a:extLst>
                </p:cNvPr>
                <p:cNvSpPr txBox="1"/>
                <p:nvPr/>
              </p:nvSpPr>
              <p:spPr>
                <a:xfrm>
                  <a:off x="215660" y="3627351"/>
                  <a:ext cx="666626" cy="46524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vi-VN" sz="11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sz="11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𝟕</m:t>
                            </m:r>
                          </m:sub>
                        </m:sSub>
                      </m:oMath>
                    </m:oMathPara>
                  </a14:m>
                  <a:endParaRPr lang="vi-VN" sz="1100" b="1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216" name="TextBox 215">
                  <a:extLst>
                    <a:ext uri="{FF2B5EF4-FFF2-40B4-BE49-F238E27FC236}">
                      <a16:creationId xmlns:a16="http://schemas.microsoft.com/office/drawing/2014/main" id="{5784D56B-7246-DCB9-C363-21612B8C78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660" y="3627351"/>
                  <a:ext cx="666626" cy="465247"/>
                </a:xfrm>
                <a:prstGeom prst="rect">
                  <a:avLst/>
                </a:prstGeom>
                <a:blipFill>
                  <a:blip r:embed="rId4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7" name="TextBox 216">
                  <a:extLst>
                    <a:ext uri="{FF2B5EF4-FFF2-40B4-BE49-F238E27FC236}">
                      <a16:creationId xmlns:a16="http://schemas.microsoft.com/office/drawing/2014/main" id="{9D40DB8E-3087-8569-3839-E167B6C48BE1}"/>
                    </a:ext>
                  </a:extLst>
                </p:cNvPr>
                <p:cNvSpPr txBox="1"/>
                <p:nvPr/>
              </p:nvSpPr>
              <p:spPr>
                <a:xfrm>
                  <a:off x="215660" y="3987657"/>
                  <a:ext cx="666626" cy="46524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vi-VN" sz="11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sz="11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𝟖</m:t>
                            </m:r>
                          </m:sub>
                        </m:sSub>
                      </m:oMath>
                    </m:oMathPara>
                  </a14:m>
                  <a:endParaRPr lang="vi-VN" sz="1100" b="1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217" name="TextBox 216">
                  <a:extLst>
                    <a:ext uri="{FF2B5EF4-FFF2-40B4-BE49-F238E27FC236}">
                      <a16:creationId xmlns:a16="http://schemas.microsoft.com/office/drawing/2014/main" id="{9D40DB8E-3087-8569-3839-E167B6C48B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660" y="3987657"/>
                  <a:ext cx="666626" cy="465247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8" name="TextBox 217">
                  <a:extLst>
                    <a:ext uri="{FF2B5EF4-FFF2-40B4-BE49-F238E27FC236}">
                      <a16:creationId xmlns:a16="http://schemas.microsoft.com/office/drawing/2014/main" id="{D5F59F76-DBFB-909F-6CEE-8CF7B061B67A}"/>
                    </a:ext>
                  </a:extLst>
                </p:cNvPr>
                <p:cNvSpPr txBox="1"/>
                <p:nvPr/>
              </p:nvSpPr>
              <p:spPr>
                <a:xfrm>
                  <a:off x="215660" y="4347959"/>
                  <a:ext cx="666626" cy="46524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vi-VN" sz="11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sz="11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𝟗</m:t>
                            </m:r>
                          </m:sub>
                        </m:sSub>
                      </m:oMath>
                    </m:oMathPara>
                  </a14:m>
                  <a:endParaRPr lang="vi-VN" sz="1100" b="1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218" name="TextBox 217">
                  <a:extLst>
                    <a:ext uri="{FF2B5EF4-FFF2-40B4-BE49-F238E27FC236}">
                      <a16:creationId xmlns:a16="http://schemas.microsoft.com/office/drawing/2014/main" id="{D5F59F76-DBFB-909F-6CEE-8CF7B061B6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660" y="4347959"/>
                  <a:ext cx="666626" cy="465247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9" name="TextBox 218">
                  <a:extLst>
                    <a:ext uri="{FF2B5EF4-FFF2-40B4-BE49-F238E27FC236}">
                      <a16:creationId xmlns:a16="http://schemas.microsoft.com/office/drawing/2014/main" id="{A5638442-5D21-1486-B971-856EB0B547B7}"/>
                    </a:ext>
                  </a:extLst>
                </p:cNvPr>
                <p:cNvSpPr txBox="1"/>
                <p:nvPr/>
              </p:nvSpPr>
              <p:spPr>
                <a:xfrm>
                  <a:off x="242395" y="4696822"/>
                  <a:ext cx="774956" cy="46524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vi-VN" sz="11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1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sz="11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𝟏𝟎</m:t>
                            </m:r>
                          </m:sub>
                        </m:sSub>
                      </m:oMath>
                    </m:oMathPara>
                  </a14:m>
                  <a:endParaRPr lang="vi-VN" sz="1100" b="1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219" name="TextBox 218">
                  <a:extLst>
                    <a:ext uri="{FF2B5EF4-FFF2-40B4-BE49-F238E27FC236}">
                      <a16:creationId xmlns:a16="http://schemas.microsoft.com/office/drawing/2014/main" id="{A5638442-5D21-1486-B971-856EB0B547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2395" y="4696822"/>
                  <a:ext cx="774956" cy="465247"/>
                </a:xfrm>
                <a:prstGeom prst="rect">
                  <a:avLst/>
                </a:prstGeom>
                <a:blipFill>
                  <a:blip r:embed="rId4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0" name="TextBox 219">
                  <a:extLst>
                    <a:ext uri="{FF2B5EF4-FFF2-40B4-BE49-F238E27FC236}">
                      <a16:creationId xmlns:a16="http://schemas.microsoft.com/office/drawing/2014/main" id="{B5E6A54C-77CE-E5A7-481D-B04E2B9CBB57}"/>
                    </a:ext>
                  </a:extLst>
                </p:cNvPr>
                <p:cNvSpPr txBox="1"/>
                <p:nvPr/>
              </p:nvSpPr>
              <p:spPr>
                <a:xfrm rot="10800000" flipV="1">
                  <a:off x="11133568" y="1409350"/>
                  <a:ext cx="672328" cy="46524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vi-VN" sz="1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sz="1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vi-VN" sz="1100" b="1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220" name="TextBox 219">
                  <a:extLst>
                    <a:ext uri="{FF2B5EF4-FFF2-40B4-BE49-F238E27FC236}">
                      <a16:creationId xmlns:a16="http://schemas.microsoft.com/office/drawing/2014/main" id="{B5E6A54C-77CE-E5A7-481D-B04E2B9CBB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0800000" flipV="1">
                  <a:off x="11133568" y="1409350"/>
                  <a:ext cx="672328" cy="465247"/>
                </a:xfrm>
                <a:prstGeom prst="rect">
                  <a:avLst/>
                </a:prstGeom>
                <a:blipFill>
                  <a:blip r:embed="rId4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1" name="TextBox 220">
                  <a:extLst>
                    <a:ext uri="{FF2B5EF4-FFF2-40B4-BE49-F238E27FC236}">
                      <a16:creationId xmlns:a16="http://schemas.microsoft.com/office/drawing/2014/main" id="{E736E44B-6181-420D-13A8-3FB766D0332A}"/>
                    </a:ext>
                  </a:extLst>
                </p:cNvPr>
                <p:cNvSpPr txBox="1"/>
                <p:nvPr/>
              </p:nvSpPr>
              <p:spPr>
                <a:xfrm rot="10800000" flipV="1">
                  <a:off x="11133568" y="1771008"/>
                  <a:ext cx="672328" cy="46524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vi-VN" sz="1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sz="1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vi-VN" sz="1100" b="1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221" name="TextBox 220">
                  <a:extLst>
                    <a:ext uri="{FF2B5EF4-FFF2-40B4-BE49-F238E27FC236}">
                      <a16:creationId xmlns:a16="http://schemas.microsoft.com/office/drawing/2014/main" id="{E736E44B-6181-420D-13A8-3FB766D033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0800000" flipV="1">
                  <a:off x="11133568" y="1771008"/>
                  <a:ext cx="672328" cy="465247"/>
                </a:xfrm>
                <a:prstGeom prst="rect">
                  <a:avLst/>
                </a:prstGeom>
                <a:blipFill>
                  <a:blip r:embed="rId4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2" name="TextBox 221">
                  <a:extLst>
                    <a:ext uri="{FF2B5EF4-FFF2-40B4-BE49-F238E27FC236}">
                      <a16:creationId xmlns:a16="http://schemas.microsoft.com/office/drawing/2014/main" id="{C0A5E33B-4CDF-2DA8-48D0-9A0C2AE2E1D5}"/>
                    </a:ext>
                  </a:extLst>
                </p:cNvPr>
                <p:cNvSpPr txBox="1"/>
                <p:nvPr/>
              </p:nvSpPr>
              <p:spPr>
                <a:xfrm rot="10800000" flipV="1">
                  <a:off x="11133568" y="2132663"/>
                  <a:ext cx="672328" cy="46524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vi-VN" sz="1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sz="1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vi-VN" sz="1100" b="1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222" name="TextBox 221">
                  <a:extLst>
                    <a:ext uri="{FF2B5EF4-FFF2-40B4-BE49-F238E27FC236}">
                      <a16:creationId xmlns:a16="http://schemas.microsoft.com/office/drawing/2014/main" id="{C0A5E33B-4CDF-2DA8-48D0-9A0C2AE2E1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0800000" flipV="1">
                  <a:off x="11133568" y="2132663"/>
                  <a:ext cx="672328" cy="465247"/>
                </a:xfrm>
                <a:prstGeom prst="rect">
                  <a:avLst/>
                </a:prstGeom>
                <a:blipFill>
                  <a:blip r:embed="rId4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3" name="TextBox 222">
                  <a:extLst>
                    <a:ext uri="{FF2B5EF4-FFF2-40B4-BE49-F238E27FC236}">
                      <a16:creationId xmlns:a16="http://schemas.microsoft.com/office/drawing/2014/main" id="{BF65F888-D36F-EC1E-27BD-66F26B80EBFD}"/>
                    </a:ext>
                  </a:extLst>
                </p:cNvPr>
                <p:cNvSpPr txBox="1"/>
                <p:nvPr/>
              </p:nvSpPr>
              <p:spPr>
                <a:xfrm rot="10800000" flipV="1">
                  <a:off x="11133568" y="2494318"/>
                  <a:ext cx="672328" cy="46524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vi-VN" sz="1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sz="1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vi-VN" sz="1100" b="1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223" name="TextBox 222">
                  <a:extLst>
                    <a:ext uri="{FF2B5EF4-FFF2-40B4-BE49-F238E27FC236}">
                      <a16:creationId xmlns:a16="http://schemas.microsoft.com/office/drawing/2014/main" id="{BF65F888-D36F-EC1E-27BD-66F26B80EB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0800000" flipV="1">
                  <a:off x="11133568" y="2494318"/>
                  <a:ext cx="672328" cy="465247"/>
                </a:xfrm>
                <a:prstGeom prst="rect">
                  <a:avLst/>
                </a:prstGeom>
                <a:blipFill>
                  <a:blip r:embed="rId4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4" name="TextBox 223">
                  <a:extLst>
                    <a:ext uri="{FF2B5EF4-FFF2-40B4-BE49-F238E27FC236}">
                      <a16:creationId xmlns:a16="http://schemas.microsoft.com/office/drawing/2014/main" id="{CF638AAE-DF63-FFCF-9543-3CF8F99A6779}"/>
                    </a:ext>
                  </a:extLst>
                </p:cNvPr>
                <p:cNvSpPr txBox="1"/>
                <p:nvPr/>
              </p:nvSpPr>
              <p:spPr>
                <a:xfrm rot="10800000" flipV="1">
                  <a:off x="11133568" y="2855974"/>
                  <a:ext cx="672328" cy="46524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vi-VN" sz="1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sz="1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</m:oMath>
                    </m:oMathPara>
                  </a14:m>
                  <a:endParaRPr lang="vi-VN" sz="1100" b="1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224" name="TextBox 223">
                  <a:extLst>
                    <a:ext uri="{FF2B5EF4-FFF2-40B4-BE49-F238E27FC236}">
                      <a16:creationId xmlns:a16="http://schemas.microsoft.com/office/drawing/2014/main" id="{CF638AAE-DF63-FFCF-9543-3CF8F99A67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0800000" flipV="1">
                  <a:off x="11133568" y="2855974"/>
                  <a:ext cx="672328" cy="465247"/>
                </a:xfrm>
                <a:prstGeom prst="rect">
                  <a:avLst/>
                </a:prstGeom>
                <a:blipFill>
                  <a:blip r:embed="rId4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5" name="TextBox 224">
                  <a:extLst>
                    <a:ext uri="{FF2B5EF4-FFF2-40B4-BE49-F238E27FC236}">
                      <a16:creationId xmlns:a16="http://schemas.microsoft.com/office/drawing/2014/main" id="{7C65A742-C233-A505-DC49-51FDDA4F1FF3}"/>
                    </a:ext>
                  </a:extLst>
                </p:cNvPr>
                <p:cNvSpPr txBox="1"/>
                <p:nvPr/>
              </p:nvSpPr>
              <p:spPr>
                <a:xfrm rot="10800000" flipV="1">
                  <a:off x="11133568" y="3217631"/>
                  <a:ext cx="672328" cy="46524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vi-VN" sz="1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sz="1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𝟔</m:t>
                            </m:r>
                          </m:sub>
                        </m:sSub>
                      </m:oMath>
                    </m:oMathPara>
                  </a14:m>
                  <a:endParaRPr lang="vi-VN" sz="1100" b="1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225" name="TextBox 224">
                  <a:extLst>
                    <a:ext uri="{FF2B5EF4-FFF2-40B4-BE49-F238E27FC236}">
                      <a16:creationId xmlns:a16="http://schemas.microsoft.com/office/drawing/2014/main" id="{7C65A742-C233-A505-DC49-51FDDA4F1F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0800000" flipV="1">
                  <a:off x="11133568" y="3217631"/>
                  <a:ext cx="672328" cy="465247"/>
                </a:xfrm>
                <a:prstGeom prst="rect">
                  <a:avLst/>
                </a:prstGeom>
                <a:blipFill>
                  <a:blip r:embed="rId4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6" name="TextBox 225">
                  <a:extLst>
                    <a:ext uri="{FF2B5EF4-FFF2-40B4-BE49-F238E27FC236}">
                      <a16:creationId xmlns:a16="http://schemas.microsoft.com/office/drawing/2014/main" id="{2BDF06DA-3F36-A51D-9BE1-B7AF90387297}"/>
                    </a:ext>
                  </a:extLst>
                </p:cNvPr>
                <p:cNvSpPr txBox="1"/>
                <p:nvPr/>
              </p:nvSpPr>
              <p:spPr>
                <a:xfrm rot="10800000" flipV="1">
                  <a:off x="11133568" y="3579286"/>
                  <a:ext cx="672328" cy="46524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vi-VN" sz="1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sz="1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𝟕</m:t>
                            </m:r>
                          </m:sub>
                        </m:sSub>
                      </m:oMath>
                    </m:oMathPara>
                  </a14:m>
                  <a:endParaRPr lang="vi-VN" sz="1100" b="1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226" name="TextBox 225">
                  <a:extLst>
                    <a:ext uri="{FF2B5EF4-FFF2-40B4-BE49-F238E27FC236}">
                      <a16:creationId xmlns:a16="http://schemas.microsoft.com/office/drawing/2014/main" id="{2BDF06DA-3F36-A51D-9BE1-B7AF903872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0800000" flipV="1">
                  <a:off x="11133568" y="3579286"/>
                  <a:ext cx="672328" cy="465247"/>
                </a:xfrm>
                <a:prstGeom prst="rect">
                  <a:avLst/>
                </a:prstGeom>
                <a:blipFill>
                  <a:blip r:embed="rId5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7" name="TextBox 226">
                  <a:extLst>
                    <a:ext uri="{FF2B5EF4-FFF2-40B4-BE49-F238E27FC236}">
                      <a16:creationId xmlns:a16="http://schemas.microsoft.com/office/drawing/2014/main" id="{F8E134A4-8048-3A11-7691-3CA37FE8C868}"/>
                    </a:ext>
                  </a:extLst>
                </p:cNvPr>
                <p:cNvSpPr txBox="1"/>
                <p:nvPr/>
              </p:nvSpPr>
              <p:spPr>
                <a:xfrm rot="10800000" flipV="1">
                  <a:off x="11133568" y="3940942"/>
                  <a:ext cx="672328" cy="46524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vi-VN" sz="1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sz="1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𝟖</m:t>
                            </m:r>
                          </m:sub>
                        </m:sSub>
                      </m:oMath>
                    </m:oMathPara>
                  </a14:m>
                  <a:endParaRPr lang="vi-VN" sz="1100" b="1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227" name="TextBox 226">
                  <a:extLst>
                    <a:ext uri="{FF2B5EF4-FFF2-40B4-BE49-F238E27FC236}">
                      <a16:creationId xmlns:a16="http://schemas.microsoft.com/office/drawing/2014/main" id="{F8E134A4-8048-3A11-7691-3CA37FE8C8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0800000" flipV="1">
                  <a:off x="11133568" y="3940942"/>
                  <a:ext cx="672328" cy="465247"/>
                </a:xfrm>
                <a:prstGeom prst="rect">
                  <a:avLst/>
                </a:prstGeom>
                <a:blipFill>
                  <a:blip r:embed="rId5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8" name="TextBox 227">
                  <a:extLst>
                    <a:ext uri="{FF2B5EF4-FFF2-40B4-BE49-F238E27FC236}">
                      <a16:creationId xmlns:a16="http://schemas.microsoft.com/office/drawing/2014/main" id="{9BFA2D72-F6C3-A06D-7F85-C19F96783181}"/>
                    </a:ext>
                  </a:extLst>
                </p:cNvPr>
                <p:cNvSpPr txBox="1"/>
                <p:nvPr/>
              </p:nvSpPr>
              <p:spPr>
                <a:xfrm rot="10800000" flipV="1">
                  <a:off x="11133568" y="4302599"/>
                  <a:ext cx="672328" cy="46524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vi-VN" sz="1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sz="1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𝟗</m:t>
                            </m:r>
                          </m:sub>
                        </m:sSub>
                      </m:oMath>
                    </m:oMathPara>
                  </a14:m>
                  <a:endParaRPr lang="vi-VN" sz="1100" b="1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228" name="TextBox 227">
                  <a:extLst>
                    <a:ext uri="{FF2B5EF4-FFF2-40B4-BE49-F238E27FC236}">
                      <a16:creationId xmlns:a16="http://schemas.microsoft.com/office/drawing/2014/main" id="{9BFA2D72-F6C3-A06D-7F85-C19F967831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0800000" flipV="1">
                  <a:off x="11133568" y="4302599"/>
                  <a:ext cx="672328" cy="465247"/>
                </a:xfrm>
                <a:prstGeom prst="rect">
                  <a:avLst/>
                </a:prstGeom>
                <a:blipFill>
                  <a:blip r:embed="rId5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9" name="TextBox 228">
                  <a:extLst>
                    <a:ext uri="{FF2B5EF4-FFF2-40B4-BE49-F238E27FC236}">
                      <a16:creationId xmlns:a16="http://schemas.microsoft.com/office/drawing/2014/main" id="{91637620-DFCE-20A0-A23C-6D3A1BAA07E0}"/>
                    </a:ext>
                  </a:extLst>
                </p:cNvPr>
                <p:cNvSpPr txBox="1"/>
                <p:nvPr/>
              </p:nvSpPr>
              <p:spPr>
                <a:xfrm rot="10800000" flipV="1">
                  <a:off x="11141272" y="4664253"/>
                  <a:ext cx="780657" cy="46524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vi-VN" sz="1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sz="1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𝟏𝟎</m:t>
                            </m:r>
                          </m:sub>
                        </m:sSub>
                      </m:oMath>
                    </m:oMathPara>
                  </a14:m>
                  <a:endParaRPr lang="vi-VN" sz="1100" b="1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229" name="TextBox 228">
                  <a:extLst>
                    <a:ext uri="{FF2B5EF4-FFF2-40B4-BE49-F238E27FC236}">
                      <a16:creationId xmlns:a16="http://schemas.microsoft.com/office/drawing/2014/main" id="{91637620-DFCE-20A0-A23C-6D3A1BAA07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0800000" flipV="1">
                  <a:off x="11141272" y="4664253"/>
                  <a:ext cx="780657" cy="465247"/>
                </a:xfrm>
                <a:prstGeom prst="rect">
                  <a:avLst/>
                </a:prstGeom>
                <a:blipFill>
                  <a:blip r:embed="rId5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30" name="Picture 229">
              <a:extLst>
                <a:ext uri="{FF2B5EF4-FFF2-40B4-BE49-F238E27FC236}">
                  <a16:creationId xmlns:a16="http://schemas.microsoft.com/office/drawing/2014/main" id="{5F2C2AEE-3E9C-D540-A0E6-82598E8FF423}"/>
                </a:ext>
              </a:extLst>
            </p:cNvPr>
            <p:cNvPicPr>
              <a:picLocks noChangeAspect="1"/>
            </p:cNvPicPr>
            <p:nvPr/>
          </p:nvPicPr>
          <p:blipFill>
            <a:blip r:embed="rId5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438" t="12971" r="24329" b="11652"/>
            <a:stretch/>
          </p:blipFill>
          <p:spPr>
            <a:xfrm>
              <a:off x="7704480" y="1539780"/>
              <a:ext cx="3564648" cy="3541113"/>
            </a:xfrm>
            <a:prstGeom prst="rect">
              <a:avLst/>
            </a:prstGeom>
          </p:spPr>
        </p:pic>
        <p:pic>
          <p:nvPicPr>
            <p:cNvPr id="231" name="Picture 230">
              <a:extLst>
                <a:ext uri="{FF2B5EF4-FFF2-40B4-BE49-F238E27FC236}">
                  <a16:creationId xmlns:a16="http://schemas.microsoft.com/office/drawing/2014/main" id="{F51799BC-3181-D95F-0B1F-D6B98C26E679}"/>
                </a:ext>
              </a:extLst>
            </p:cNvPr>
            <p:cNvPicPr>
              <a:picLocks noChangeAspect="1"/>
            </p:cNvPicPr>
            <p:nvPr/>
          </p:nvPicPr>
          <p:blipFill>
            <a:blip r:embed="rId5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378" t="13435" r="25031" b="11929"/>
            <a:stretch/>
          </p:blipFill>
          <p:spPr>
            <a:xfrm>
              <a:off x="873166" y="1560219"/>
              <a:ext cx="3510262" cy="3488128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2" name="TextBox 231">
                  <a:extLst>
                    <a:ext uri="{FF2B5EF4-FFF2-40B4-BE49-F238E27FC236}">
                      <a16:creationId xmlns:a16="http://schemas.microsoft.com/office/drawing/2014/main" id="{1E902A43-D68C-94D1-7007-FAB4321C2F8A}"/>
                    </a:ext>
                  </a:extLst>
                </p:cNvPr>
                <p:cNvSpPr txBox="1"/>
                <p:nvPr/>
              </p:nvSpPr>
              <p:spPr>
                <a:xfrm rot="10800000" flipV="1">
                  <a:off x="7515284" y="1105367"/>
                  <a:ext cx="672328" cy="46524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vi-VN" sz="1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sz="1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vi-VN" sz="1100" b="1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232" name="TextBox 231">
                  <a:extLst>
                    <a:ext uri="{FF2B5EF4-FFF2-40B4-BE49-F238E27FC236}">
                      <a16:creationId xmlns:a16="http://schemas.microsoft.com/office/drawing/2014/main" id="{1E902A43-D68C-94D1-7007-FAB4321C2F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0800000" flipV="1">
                  <a:off x="7515284" y="1105367"/>
                  <a:ext cx="672328" cy="465247"/>
                </a:xfrm>
                <a:prstGeom prst="rect">
                  <a:avLst/>
                </a:prstGeom>
                <a:blipFill>
                  <a:blip r:embed="rId4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3" name="TextBox 232">
                  <a:extLst>
                    <a:ext uri="{FF2B5EF4-FFF2-40B4-BE49-F238E27FC236}">
                      <a16:creationId xmlns:a16="http://schemas.microsoft.com/office/drawing/2014/main" id="{27AAD5BA-B02C-FFA6-FE1C-837CB9B6C702}"/>
                    </a:ext>
                  </a:extLst>
                </p:cNvPr>
                <p:cNvSpPr txBox="1"/>
                <p:nvPr/>
              </p:nvSpPr>
              <p:spPr>
                <a:xfrm rot="10800000" flipV="1">
                  <a:off x="7873970" y="1105365"/>
                  <a:ext cx="672328" cy="46524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vi-VN" sz="1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sz="1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vi-VN" sz="1100" b="1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233" name="TextBox 232">
                  <a:extLst>
                    <a:ext uri="{FF2B5EF4-FFF2-40B4-BE49-F238E27FC236}">
                      <a16:creationId xmlns:a16="http://schemas.microsoft.com/office/drawing/2014/main" id="{27AAD5BA-B02C-FFA6-FE1C-837CB9B6C7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0800000" flipV="1">
                  <a:off x="7873970" y="1105365"/>
                  <a:ext cx="672328" cy="465247"/>
                </a:xfrm>
                <a:prstGeom prst="rect">
                  <a:avLst/>
                </a:prstGeom>
                <a:blipFill>
                  <a:blip r:embed="rId5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4" name="TextBox 233">
                  <a:extLst>
                    <a:ext uri="{FF2B5EF4-FFF2-40B4-BE49-F238E27FC236}">
                      <a16:creationId xmlns:a16="http://schemas.microsoft.com/office/drawing/2014/main" id="{A6F81FD5-3DC8-EA6F-4046-9D7E8C24F045}"/>
                    </a:ext>
                  </a:extLst>
                </p:cNvPr>
                <p:cNvSpPr txBox="1"/>
                <p:nvPr/>
              </p:nvSpPr>
              <p:spPr>
                <a:xfrm rot="10800000" flipV="1">
                  <a:off x="8232657" y="1105365"/>
                  <a:ext cx="672328" cy="46524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vi-VN" sz="1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sz="1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vi-VN" sz="1100" b="1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234" name="TextBox 233">
                  <a:extLst>
                    <a:ext uri="{FF2B5EF4-FFF2-40B4-BE49-F238E27FC236}">
                      <a16:creationId xmlns:a16="http://schemas.microsoft.com/office/drawing/2014/main" id="{A6F81FD5-3DC8-EA6F-4046-9D7E8C24F0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0800000" flipV="1">
                  <a:off x="8232657" y="1105365"/>
                  <a:ext cx="672328" cy="465247"/>
                </a:xfrm>
                <a:prstGeom prst="rect">
                  <a:avLst/>
                </a:prstGeom>
                <a:blipFill>
                  <a:blip r:embed="rId5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5" name="TextBox 234">
                  <a:extLst>
                    <a:ext uri="{FF2B5EF4-FFF2-40B4-BE49-F238E27FC236}">
                      <a16:creationId xmlns:a16="http://schemas.microsoft.com/office/drawing/2014/main" id="{FFAEAAA6-683B-BE05-B47C-1960B9F4FAA8}"/>
                    </a:ext>
                  </a:extLst>
                </p:cNvPr>
                <p:cNvSpPr txBox="1"/>
                <p:nvPr/>
              </p:nvSpPr>
              <p:spPr>
                <a:xfrm rot="10800000" flipV="1">
                  <a:off x="8591346" y="1105365"/>
                  <a:ext cx="672328" cy="46524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vi-VN" sz="1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sz="1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vi-VN" sz="1100" b="1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235" name="TextBox 234">
                  <a:extLst>
                    <a:ext uri="{FF2B5EF4-FFF2-40B4-BE49-F238E27FC236}">
                      <a16:creationId xmlns:a16="http://schemas.microsoft.com/office/drawing/2014/main" id="{FFAEAAA6-683B-BE05-B47C-1960B9F4FA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0800000" flipV="1">
                  <a:off x="8591346" y="1105365"/>
                  <a:ext cx="672328" cy="465247"/>
                </a:xfrm>
                <a:prstGeom prst="rect">
                  <a:avLst/>
                </a:prstGeom>
                <a:blipFill>
                  <a:blip r:embed="rId5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6" name="TextBox 235">
                  <a:extLst>
                    <a:ext uri="{FF2B5EF4-FFF2-40B4-BE49-F238E27FC236}">
                      <a16:creationId xmlns:a16="http://schemas.microsoft.com/office/drawing/2014/main" id="{126D355C-8692-F31B-A9B1-D45541220E53}"/>
                    </a:ext>
                  </a:extLst>
                </p:cNvPr>
                <p:cNvSpPr txBox="1"/>
                <p:nvPr/>
              </p:nvSpPr>
              <p:spPr>
                <a:xfrm rot="10800000" flipV="1">
                  <a:off x="8950032" y="1105365"/>
                  <a:ext cx="672328" cy="46524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vi-VN" sz="1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sz="1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</m:oMath>
                    </m:oMathPara>
                  </a14:m>
                  <a:endParaRPr lang="vi-VN" sz="1100" b="1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236" name="TextBox 235">
                  <a:extLst>
                    <a:ext uri="{FF2B5EF4-FFF2-40B4-BE49-F238E27FC236}">
                      <a16:creationId xmlns:a16="http://schemas.microsoft.com/office/drawing/2014/main" id="{126D355C-8692-F31B-A9B1-D45541220E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0800000" flipV="1">
                  <a:off x="8950032" y="1105365"/>
                  <a:ext cx="672328" cy="465247"/>
                </a:xfrm>
                <a:prstGeom prst="rect">
                  <a:avLst/>
                </a:prstGeom>
                <a:blipFill>
                  <a:blip r:embed="rId5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7" name="TextBox 236">
                  <a:extLst>
                    <a:ext uri="{FF2B5EF4-FFF2-40B4-BE49-F238E27FC236}">
                      <a16:creationId xmlns:a16="http://schemas.microsoft.com/office/drawing/2014/main" id="{35279709-CB7F-80BF-62AE-536B8FA17C94}"/>
                    </a:ext>
                  </a:extLst>
                </p:cNvPr>
                <p:cNvSpPr txBox="1"/>
                <p:nvPr/>
              </p:nvSpPr>
              <p:spPr>
                <a:xfrm rot="10800000" flipV="1">
                  <a:off x="9308719" y="1105365"/>
                  <a:ext cx="672328" cy="46524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vi-VN" sz="1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sz="1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𝟔</m:t>
                            </m:r>
                          </m:sub>
                        </m:sSub>
                      </m:oMath>
                    </m:oMathPara>
                  </a14:m>
                  <a:endParaRPr lang="vi-VN" sz="1100" b="1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237" name="TextBox 236">
                  <a:extLst>
                    <a:ext uri="{FF2B5EF4-FFF2-40B4-BE49-F238E27FC236}">
                      <a16:creationId xmlns:a16="http://schemas.microsoft.com/office/drawing/2014/main" id="{35279709-CB7F-80BF-62AE-536B8FA17C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0800000" flipV="1">
                  <a:off x="9308719" y="1105365"/>
                  <a:ext cx="672328" cy="465247"/>
                </a:xfrm>
                <a:prstGeom prst="rect">
                  <a:avLst/>
                </a:prstGeom>
                <a:blipFill>
                  <a:blip r:embed="rId4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8" name="TextBox 237">
                  <a:extLst>
                    <a:ext uri="{FF2B5EF4-FFF2-40B4-BE49-F238E27FC236}">
                      <a16:creationId xmlns:a16="http://schemas.microsoft.com/office/drawing/2014/main" id="{1753E508-8D17-FBBE-AFF3-0D6118F40674}"/>
                    </a:ext>
                  </a:extLst>
                </p:cNvPr>
                <p:cNvSpPr txBox="1"/>
                <p:nvPr/>
              </p:nvSpPr>
              <p:spPr>
                <a:xfrm rot="10800000" flipV="1">
                  <a:off x="9667405" y="1105365"/>
                  <a:ext cx="672328" cy="46524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vi-VN" sz="1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sz="1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𝟕</m:t>
                            </m:r>
                          </m:sub>
                        </m:sSub>
                      </m:oMath>
                    </m:oMathPara>
                  </a14:m>
                  <a:endParaRPr lang="vi-VN" sz="1100" b="1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238" name="TextBox 237">
                  <a:extLst>
                    <a:ext uri="{FF2B5EF4-FFF2-40B4-BE49-F238E27FC236}">
                      <a16:creationId xmlns:a16="http://schemas.microsoft.com/office/drawing/2014/main" id="{1753E508-8D17-FBBE-AFF3-0D6118F406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0800000" flipV="1">
                  <a:off x="9667405" y="1105365"/>
                  <a:ext cx="672328" cy="465247"/>
                </a:xfrm>
                <a:prstGeom prst="rect">
                  <a:avLst/>
                </a:prstGeom>
                <a:blipFill>
                  <a:blip r:embed="rId5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9" name="TextBox 238">
                  <a:extLst>
                    <a:ext uri="{FF2B5EF4-FFF2-40B4-BE49-F238E27FC236}">
                      <a16:creationId xmlns:a16="http://schemas.microsoft.com/office/drawing/2014/main" id="{317EDCE1-29CC-BE89-6743-1859062BE077}"/>
                    </a:ext>
                  </a:extLst>
                </p:cNvPr>
                <p:cNvSpPr txBox="1"/>
                <p:nvPr/>
              </p:nvSpPr>
              <p:spPr>
                <a:xfrm rot="10800000" flipV="1">
                  <a:off x="10026094" y="1105365"/>
                  <a:ext cx="672328" cy="46524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vi-VN" sz="1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sz="1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𝟖</m:t>
                            </m:r>
                          </m:sub>
                        </m:sSub>
                      </m:oMath>
                    </m:oMathPara>
                  </a14:m>
                  <a:endParaRPr lang="vi-VN" sz="1100" b="1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239" name="TextBox 238">
                  <a:extLst>
                    <a:ext uri="{FF2B5EF4-FFF2-40B4-BE49-F238E27FC236}">
                      <a16:creationId xmlns:a16="http://schemas.microsoft.com/office/drawing/2014/main" id="{317EDCE1-29CC-BE89-6743-1859062BE0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0800000" flipV="1">
                  <a:off x="10026094" y="1105365"/>
                  <a:ext cx="672328" cy="465247"/>
                </a:xfrm>
                <a:prstGeom prst="rect">
                  <a:avLst/>
                </a:prstGeom>
                <a:blipFill>
                  <a:blip r:embed="rId6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0" name="TextBox 239">
                  <a:extLst>
                    <a:ext uri="{FF2B5EF4-FFF2-40B4-BE49-F238E27FC236}">
                      <a16:creationId xmlns:a16="http://schemas.microsoft.com/office/drawing/2014/main" id="{B8CD68E5-AB85-FBF8-BD44-4B7E059A4B3A}"/>
                    </a:ext>
                  </a:extLst>
                </p:cNvPr>
                <p:cNvSpPr txBox="1"/>
                <p:nvPr/>
              </p:nvSpPr>
              <p:spPr>
                <a:xfrm rot="10800000" flipV="1">
                  <a:off x="10384779" y="1105365"/>
                  <a:ext cx="672328" cy="46524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vi-VN" sz="1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sz="1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𝟗</m:t>
                            </m:r>
                          </m:sub>
                        </m:sSub>
                      </m:oMath>
                    </m:oMathPara>
                  </a14:m>
                  <a:endParaRPr lang="vi-VN" sz="1100" b="1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240" name="TextBox 239">
                  <a:extLst>
                    <a:ext uri="{FF2B5EF4-FFF2-40B4-BE49-F238E27FC236}">
                      <a16:creationId xmlns:a16="http://schemas.microsoft.com/office/drawing/2014/main" id="{B8CD68E5-AB85-FBF8-BD44-4B7E059A4B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0800000" flipV="1">
                  <a:off x="10384779" y="1105365"/>
                  <a:ext cx="672328" cy="465247"/>
                </a:xfrm>
                <a:prstGeom prst="rect">
                  <a:avLst/>
                </a:prstGeom>
                <a:blipFill>
                  <a:blip r:embed="rId6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1" name="TextBox 240">
                  <a:extLst>
                    <a:ext uri="{FF2B5EF4-FFF2-40B4-BE49-F238E27FC236}">
                      <a16:creationId xmlns:a16="http://schemas.microsoft.com/office/drawing/2014/main" id="{3AFF9021-516E-7618-C894-5FF61B900496}"/>
                    </a:ext>
                  </a:extLst>
                </p:cNvPr>
                <p:cNvSpPr txBox="1"/>
                <p:nvPr/>
              </p:nvSpPr>
              <p:spPr>
                <a:xfrm rot="10800000" flipV="1">
                  <a:off x="10745409" y="1100293"/>
                  <a:ext cx="780657" cy="46524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vi-VN" sz="1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sz="11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𝟏𝟎</m:t>
                            </m:r>
                          </m:sub>
                        </m:sSub>
                      </m:oMath>
                    </m:oMathPara>
                  </a14:m>
                  <a:endParaRPr lang="vi-VN" sz="1100" b="1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241" name="TextBox 240">
                  <a:extLst>
                    <a:ext uri="{FF2B5EF4-FFF2-40B4-BE49-F238E27FC236}">
                      <a16:creationId xmlns:a16="http://schemas.microsoft.com/office/drawing/2014/main" id="{3AFF9021-516E-7618-C894-5FF61B9004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0800000" flipV="1">
                  <a:off x="10745409" y="1100293"/>
                  <a:ext cx="780657" cy="465247"/>
                </a:xfrm>
                <a:prstGeom prst="rect">
                  <a:avLst/>
                </a:prstGeom>
                <a:blipFill>
                  <a:blip r:embed="rId6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vi-V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2" name="TextBox 241">
              <a:extLst>
                <a:ext uri="{FF2B5EF4-FFF2-40B4-BE49-F238E27FC236}">
                  <a16:creationId xmlns:a16="http://schemas.microsoft.com/office/drawing/2014/main" id="{86679B8F-C2B0-C6ED-1969-692FFBC63CC6}"/>
                </a:ext>
              </a:extLst>
            </p:cNvPr>
            <p:cNvSpPr txBox="1"/>
            <p:nvPr/>
          </p:nvSpPr>
          <p:spPr>
            <a:xfrm>
              <a:off x="7587251" y="5096852"/>
              <a:ext cx="3934647" cy="4652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100" b="1">
                  <a:solidFill>
                    <a:schemeClr val="accent2"/>
                  </a:solidFill>
                </a:rPr>
                <a:t>Self-Similarity of audio embedding</a:t>
              </a:r>
              <a:endParaRPr lang="vi-VN" sz="1100" b="1">
                <a:solidFill>
                  <a:schemeClr val="accent2"/>
                </a:solidFill>
              </a:endParaRPr>
            </a:p>
          </p:txBody>
        </p:sp>
        <p:sp>
          <p:nvSpPr>
            <p:cNvPr id="243" name="TextBox 242">
              <a:extLst>
                <a:ext uri="{FF2B5EF4-FFF2-40B4-BE49-F238E27FC236}">
                  <a16:creationId xmlns:a16="http://schemas.microsoft.com/office/drawing/2014/main" id="{29B7E0AC-0183-73B8-B5F3-B7874C8075AB}"/>
                </a:ext>
              </a:extLst>
            </p:cNvPr>
            <p:cNvSpPr txBox="1"/>
            <p:nvPr/>
          </p:nvSpPr>
          <p:spPr>
            <a:xfrm>
              <a:off x="698611" y="5096852"/>
              <a:ext cx="3923246" cy="4652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100" b="1">
                  <a:solidFill>
                    <a:schemeClr val="accent1"/>
                  </a:solidFill>
                </a:rPr>
                <a:t>Self-Similarity of video embedding</a:t>
              </a:r>
              <a:endParaRPr lang="vi-VN" sz="1100" b="1">
                <a:solidFill>
                  <a:schemeClr val="accent1"/>
                </a:solidFill>
              </a:endParaRPr>
            </a:p>
          </p:txBody>
        </p:sp>
        <p:sp>
          <p:nvSpPr>
            <p:cNvPr id="244" name="Arrow: Up-Down 243">
              <a:extLst>
                <a:ext uri="{FF2B5EF4-FFF2-40B4-BE49-F238E27FC236}">
                  <a16:creationId xmlns:a16="http://schemas.microsoft.com/office/drawing/2014/main" id="{95DA700A-88F3-1C18-37BE-60425B507043}"/>
                </a:ext>
              </a:extLst>
            </p:cNvPr>
            <p:cNvSpPr/>
            <p:nvPr/>
          </p:nvSpPr>
          <p:spPr>
            <a:xfrm rot="5400000">
              <a:off x="5823628" y="1915595"/>
              <a:ext cx="459439" cy="2805448"/>
            </a:xfrm>
            <a:prstGeom prst="upDownArrow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050"/>
            </a:p>
          </p:txBody>
        </p:sp>
        <p:sp>
          <p:nvSpPr>
            <p:cNvPr id="245" name="TextBox 244">
              <a:extLst>
                <a:ext uri="{FF2B5EF4-FFF2-40B4-BE49-F238E27FC236}">
                  <a16:creationId xmlns:a16="http://schemas.microsoft.com/office/drawing/2014/main" id="{4A26622F-2EAF-4348-5C0E-326D0186A1E0}"/>
                </a:ext>
              </a:extLst>
            </p:cNvPr>
            <p:cNvSpPr txBox="1"/>
            <p:nvPr/>
          </p:nvSpPr>
          <p:spPr>
            <a:xfrm>
              <a:off x="4546620" y="2386192"/>
              <a:ext cx="3010994" cy="7662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100" b="1">
                  <a:solidFill>
                    <a:schemeClr val="accent6"/>
                  </a:solidFill>
                </a:rPr>
                <a:t>Pearson product-moment</a:t>
              </a:r>
            </a:p>
            <a:p>
              <a:pPr algn="ctr"/>
              <a:r>
                <a:rPr lang="en-GB" sz="1100" b="1">
                  <a:solidFill>
                    <a:schemeClr val="accent6"/>
                  </a:solidFill>
                </a:rPr>
                <a:t> correlation coefficients</a:t>
              </a:r>
              <a:endParaRPr lang="vi-VN" sz="1100" b="1">
                <a:solidFill>
                  <a:schemeClr val="accent6"/>
                </a:solidFill>
              </a:endParaRPr>
            </a:p>
          </p:txBody>
        </p:sp>
        <p:grpSp>
          <p:nvGrpSpPr>
            <p:cNvPr id="246" name="Group 245">
              <a:extLst>
                <a:ext uri="{FF2B5EF4-FFF2-40B4-BE49-F238E27FC236}">
                  <a16:creationId xmlns:a16="http://schemas.microsoft.com/office/drawing/2014/main" id="{B064B05B-424C-35AB-73ED-04A02ECF7DDF}"/>
                </a:ext>
              </a:extLst>
            </p:cNvPr>
            <p:cNvGrpSpPr/>
            <p:nvPr/>
          </p:nvGrpSpPr>
          <p:grpSpPr>
            <a:xfrm>
              <a:off x="879588" y="1561947"/>
              <a:ext cx="1709616" cy="3109625"/>
              <a:chOff x="879588" y="1561947"/>
              <a:chExt cx="1709616" cy="3109625"/>
            </a:xfrm>
          </p:grpSpPr>
          <p:cxnSp>
            <p:nvCxnSpPr>
              <p:cNvPr id="279" name="Straight Connector 278">
                <a:extLst>
                  <a:ext uri="{FF2B5EF4-FFF2-40B4-BE49-F238E27FC236}">
                    <a16:creationId xmlns:a16="http://schemas.microsoft.com/office/drawing/2014/main" id="{311D9311-D0B1-748F-DFC5-CA4E6E2E01F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00537" y="1561947"/>
                <a:ext cx="303691" cy="303691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0" name="Straight Connector 279">
                <a:extLst>
                  <a:ext uri="{FF2B5EF4-FFF2-40B4-BE49-F238E27FC236}">
                    <a16:creationId xmlns:a16="http://schemas.microsoft.com/office/drawing/2014/main" id="{28056C90-096F-D3B2-02A8-00092EAAC9A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79588" y="1899995"/>
                <a:ext cx="303691" cy="303691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1" name="Straight Connector 280">
                <a:extLst>
                  <a:ext uri="{FF2B5EF4-FFF2-40B4-BE49-F238E27FC236}">
                    <a16:creationId xmlns:a16="http://schemas.microsoft.com/office/drawing/2014/main" id="{8146138C-ED66-8E7E-2CDE-3E79B9D01F9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00537" y="1903748"/>
                <a:ext cx="640343" cy="640343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2" name="Straight Connector 281">
                <a:extLst>
                  <a:ext uri="{FF2B5EF4-FFF2-40B4-BE49-F238E27FC236}">
                    <a16:creationId xmlns:a16="http://schemas.microsoft.com/office/drawing/2014/main" id="{8CD53678-55E9-07A8-9803-2E1EEB2F70C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05195" y="2266727"/>
                <a:ext cx="632583" cy="632583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3" name="Straight Connector 282">
                <a:extLst>
                  <a:ext uri="{FF2B5EF4-FFF2-40B4-BE49-F238E27FC236}">
                    <a16:creationId xmlns:a16="http://schemas.microsoft.com/office/drawing/2014/main" id="{A8E8139A-44F6-C80E-B441-84D58EA3C4F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86546" y="2231982"/>
                <a:ext cx="1036828" cy="1036828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4" name="Straight Connector 283">
                <a:extLst>
                  <a:ext uri="{FF2B5EF4-FFF2-40B4-BE49-F238E27FC236}">
                    <a16:creationId xmlns:a16="http://schemas.microsoft.com/office/drawing/2014/main" id="{0871BE06-28D2-4612-58B1-48B617F370B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79746" y="2570184"/>
                <a:ext cx="1036828" cy="1036828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5" name="Straight Connector 284">
                <a:extLst>
                  <a:ext uri="{FF2B5EF4-FFF2-40B4-BE49-F238E27FC236}">
                    <a16:creationId xmlns:a16="http://schemas.microsoft.com/office/drawing/2014/main" id="{D9767ECC-3C7A-1109-8659-B3FC69A9AE8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00537" y="2596231"/>
                <a:ext cx="1355553" cy="1355553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6" name="Straight Connector 285">
                <a:extLst>
                  <a:ext uri="{FF2B5EF4-FFF2-40B4-BE49-F238E27FC236}">
                    <a16:creationId xmlns:a16="http://schemas.microsoft.com/office/drawing/2014/main" id="{CCEC50B2-BEF6-F130-2339-7FC4981E229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86546" y="2956125"/>
                <a:ext cx="1355553" cy="1355553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7" name="Straight Connector 286">
                <a:extLst>
                  <a:ext uri="{FF2B5EF4-FFF2-40B4-BE49-F238E27FC236}">
                    <a16:creationId xmlns:a16="http://schemas.microsoft.com/office/drawing/2014/main" id="{EE3D29CB-E18E-E088-E47A-BB15B4A4627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84352" y="2966720"/>
                <a:ext cx="1704852" cy="1704852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2A7A5B97-75FF-427B-11ED-E964FBF7CC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4670" y="3321140"/>
              <a:ext cx="1704852" cy="1704852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8" name="Group 247">
              <a:extLst>
                <a:ext uri="{FF2B5EF4-FFF2-40B4-BE49-F238E27FC236}">
                  <a16:creationId xmlns:a16="http://schemas.microsoft.com/office/drawing/2014/main" id="{BCB61E9D-48C4-7697-A072-8B7D71C79A5B}"/>
                </a:ext>
              </a:extLst>
            </p:cNvPr>
            <p:cNvGrpSpPr/>
            <p:nvPr/>
          </p:nvGrpSpPr>
          <p:grpSpPr>
            <a:xfrm rot="5400000" flipH="1">
              <a:off x="1916447" y="2650014"/>
              <a:ext cx="1709616" cy="3109625"/>
              <a:chOff x="879588" y="1561947"/>
              <a:chExt cx="1709616" cy="3109625"/>
            </a:xfrm>
          </p:grpSpPr>
          <p:cxnSp>
            <p:nvCxnSpPr>
              <p:cNvPr id="270" name="Straight Connector 269">
                <a:extLst>
                  <a:ext uri="{FF2B5EF4-FFF2-40B4-BE49-F238E27FC236}">
                    <a16:creationId xmlns:a16="http://schemas.microsoft.com/office/drawing/2014/main" id="{F1F12714-CAD8-A99E-44F8-E218AA75905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00537" y="1561947"/>
                <a:ext cx="303691" cy="303691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1" name="Straight Connector 270">
                <a:extLst>
                  <a:ext uri="{FF2B5EF4-FFF2-40B4-BE49-F238E27FC236}">
                    <a16:creationId xmlns:a16="http://schemas.microsoft.com/office/drawing/2014/main" id="{0A6CEE0C-D735-17A1-6C4E-018C1787C9C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79588" y="1899995"/>
                <a:ext cx="303691" cy="303691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2" name="Straight Connector 271">
                <a:extLst>
                  <a:ext uri="{FF2B5EF4-FFF2-40B4-BE49-F238E27FC236}">
                    <a16:creationId xmlns:a16="http://schemas.microsoft.com/office/drawing/2014/main" id="{0FE634FD-5588-B146-54B3-71DF1DAC843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00537" y="1903748"/>
                <a:ext cx="640343" cy="640343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3" name="Straight Connector 272">
                <a:extLst>
                  <a:ext uri="{FF2B5EF4-FFF2-40B4-BE49-F238E27FC236}">
                    <a16:creationId xmlns:a16="http://schemas.microsoft.com/office/drawing/2014/main" id="{8A0B8773-0345-3AA3-C0FE-9F1475C34F2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05195" y="2266727"/>
                <a:ext cx="632583" cy="632583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4" name="Straight Connector 273">
                <a:extLst>
                  <a:ext uri="{FF2B5EF4-FFF2-40B4-BE49-F238E27FC236}">
                    <a16:creationId xmlns:a16="http://schemas.microsoft.com/office/drawing/2014/main" id="{7DAB3344-886B-C8E9-9706-730F4747453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86546" y="2231982"/>
                <a:ext cx="1036828" cy="1036828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5" name="Straight Connector 274">
                <a:extLst>
                  <a:ext uri="{FF2B5EF4-FFF2-40B4-BE49-F238E27FC236}">
                    <a16:creationId xmlns:a16="http://schemas.microsoft.com/office/drawing/2014/main" id="{DD90C904-F6B3-BBEE-F143-BAAEC8EA8C1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79746" y="2570184"/>
                <a:ext cx="1036828" cy="1036828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6" name="Straight Connector 275">
                <a:extLst>
                  <a:ext uri="{FF2B5EF4-FFF2-40B4-BE49-F238E27FC236}">
                    <a16:creationId xmlns:a16="http://schemas.microsoft.com/office/drawing/2014/main" id="{D05FFB50-13B4-66CA-3642-750C7C65929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00537" y="2596231"/>
                <a:ext cx="1355553" cy="1355553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7" name="Straight Connector 276">
                <a:extLst>
                  <a:ext uri="{FF2B5EF4-FFF2-40B4-BE49-F238E27FC236}">
                    <a16:creationId xmlns:a16="http://schemas.microsoft.com/office/drawing/2014/main" id="{1A80B371-EB28-4A20-8ECE-86B962832A0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86546" y="2956125"/>
                <a:ext cx="1355553" cy="1355553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8" name="Straight Connector 277">
                <a:extLst>
                  <a:ext uri="{FF2B5EF4-FFF2-40B4-BE49-F238E27FC236}">
                    <a16:creationId xmlns:a16="http://schemas.microsoft.com/office/drawing/2014/main" id="{19111754-8FBA-E1D3-09E0-D75F85E525A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84352" y="2966720"/>
                <a:ext cx="1704852" cy="1704852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9" name="Group 248">
              <a:extLst>
                <a:ext uri="{FF2B5EF4-FFF2-40B4-BE49-F238E27FC236}">
                  <a16:creationId xmlns:a16="http://schemas.microsoft.com/office/drawing/2014/main" id="{269760EA-8F87-F886-5DAF-E66EDBBA1B4C}"/>
                </a:ext>
              </a:extLst>
            </p:cNvPr>
            <p:cNvGrpSpPr/>
            <p:nvPr/>
          </p:nvGrpSpPr>
          <p:grpSpPr>
            <a:xfrm>
              <a:off x="7707295" y="1572856"/>
              <a:ext cx="1709616" cy="3109625"/>
              <a:chOff x="879588" y="1561947"/>
              <a:chExt cx="1709616" cy="3109625"/>
            </a:xfrm>
          </p:grpSpPr>
          <p:cxnSp>
            <p:nvCxnSpPr>
              <p:cNvPr id="261" name="Straight Connector 260">
                <a:extLst>
                  <a:ext uri="{FF2B5EF4-FFF2-40B4-BE49-F238E27FC236}">
                    <a16:creationId xmlns:a16="http://schemas.microsoft.com/office/drawing/2014/main" id="{3F9E4649-7DA5-D9E7-DD7B-EC6CBDA3C32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00537" y="1561947"/>
                <a:ext cx="303691" cy="303691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2" name="Straight Connector 261">
                <a:extLst>
                  <a:ext uri="{FF2B5EF4-FFF2-40B4-BE49-F238E27FC236}">
                    <a16:creationId xmlns:a16="http://schemas.microsoft.com/office/drawing/2014/main" id="{A2DC3923-56F5-AACC-B783-27983BF212E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79588" y="1899995"/>
                <a:ext cx="303691" cy="303691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3" name="Straight Connector 262">
                <a:extLst>
                  <a:ext uri="{FF2B5EF4-FFF2-40B4-BE49-F238E27FC236}">
                    <a16:creationId xmlns:a16="http://schemas.microsoft.com/office/drawing/2014/main" id="{068DE3C2-A40E-15EC-A907-DBA4CDEADD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00537" y="1903748"/>
                <a:ext cx="640343" cy="640343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4" name="Straight Connector 263">
                <a:extLst>
                  <a:ext uri="{FF2B5EF4-FFF2-40B4-BE49-F238E27FC236}">
                    <a16:creationId xmlns:a16="http://schemas.microsoft.com/office/drawing/2014/main" id="{9877F0EE-E427-1FAE-86B7-F2A6EB59C6E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05195" y="2266727"/>
                <a:ext cx="632583" cy="632583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5" name="Straight Connector 264">
                <a:extLst>
                  <a:ext uri="{FF2B5EF4-FFF2-40B4-BE49-F238E27FC236}">
                    <a16:creationId xmlns:a16="http://schemas.microsoft.com/office/drawing/2014/main" id="{6A63B239-0B96-B8C9-C027-DA471D4D379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86546" y="2231982"/>
                <a:ext cx="1036828" cy="1036828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6" name="Straight Connector 265">
                <a:extLst>
                  <a:ext uri="{FF2B5EF4-FFF2-40B4-BE49-F238E27FC236}">
                    <a16:creationId xmlns:a16="http://schemas.microsoft.com/office/drawing/2014/main" id="{4576AD2C-E43A-5C0A-3574-955B53E456F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79746" y="2570184"/>
                <a:ext cx="1036828" cy="1036828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7" name="Straight Connector 266">
                <a:extLst>
                  <a:ext uri="{FF2B5EF4-FFF2-40B4-BE49-F238E27FC236}">
                    <a16:creationId xmlns:a16="http://schemas.microsoft.com/office/drawing/2014/main" id="{353AE96C-0796-C09F-13A3-CF4DB0C31E3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00537" y="2596231"/>
                <a:ext cx="1355553" cy="1355553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8" name="Straight Connector 267">
                <a:extLst>
                  <a:ext uri="{FF2B5EF4-FFF2-40B4-BE49-F238E27FC236}">
                    <a16:creationId xmlns:a16="http://schemas.microsoft.com/office/drawing/2014/main" id="{A5B16F71-A521-DF30-A03E-AA5DCEB9E2E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86546" y="2956125"/>
                <a:ext cx="1355553" cy="1355553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9" name="Straight Connector 268">
                <a:extLst>
                  <a:ext uri="{FF2B5EF4-FFF2-40B4-BE49-F238E27FC236}">
                    <a16:creationId xmlns:a16="http://schemas.microsoft.com/office/drawing/2014/main" id="{F9BA37AB-B8EB-0B54-8CFE-007F083A91A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84352" y="2966720"/>
                <a:ext cx="1704852" cy="1704852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4752975B-F9FC-736C-2EFB-EA550E72A5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22377" y="3332049"/>
              <a:ext cx="1704852" cy="1704852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1" name="Group 250">
              <a:extLst>
                <a:ext uri="{FF2B5EF4-FFF2-40B4-BE49-F238E27FC236}">
                  <a16:creationId xmlns:a16="http://schemas.microsoft.com/office/drawing/2014/main" id="{E483C8A6-0452-BAAA-8303-9E9EF38E9022}"/>
                </a:ext>
              </a:extLst>
            </p:cNvPr>
            <p:cNvGrpSpPr/>
            <p:nvPr/>
          </p:nvGrpSpPr>
          <p:grpSpPr>
            <a:xfrm rot="5400000" flipH="1">
              <a:off x="8744154" y="2660923"/>
              <a:ext cx="1709616" cy="3109625"/>
              <a:chOff x="879588" y="1561947"/>
              <a:chExt cx="1709616" cy="3109625"/>
            </a:xfrm>
          </p:grpSpPr>
          <p:cxnSp>
            <p:nvCxnSpPr>
              <p:cNvPr id="252" name="Straight Connector 251">
                <a:extLst>
                  <a:ext uri="{FF2B5EF4-FFF2-40B4-BE49-F238E27FC236}">
                    <a16:creationId xmlns:a16="http://schemas.microsoft.com/office/drawing/2014/main" id="{62E7F168-B293-87E5-AEA1-7D54F4E23D7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00537" y="1561947"/>
                <a:ext cx="303691" cy="303691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3" name="Straight Connector 252">
                <a:extLst>
                  <a:ext uri="{FF2B5EF4-FFF2-40B4-BE49-F238E27FC236}">
                    <a16:creationId xmlns:a16="http://schemas.microsoft.com/office/drawing/2014/main" id="{B3AE8AAD-A7D8-F774-9E2C-6F9CC6E2485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79588" y="1899995"/>
                <a:ext cx="303691" cy="303691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4" name="Straight Connector 253">
                <a:extLst>
                  <a:ext uri="{FF2B5EF4-FFF2-40B4-BE49-F238E27FC236}">
                    <a16:creationId xmlns:a16="http://schemas.microsoft.com/office/drawing/2014/main" id="{F34ACF58-8AF2-4098-F3BE-C61FAB2A83A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00537" y="1903748"/>
                <a:ext cx="640343" cy="640343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5" name="Straight Connector 254">
                <a:extLst>
                  <a:ext uri="{FF2B5EF4-FFF2-40B4-BE49-F238E27FC236}">
                    <a16:creationId xmlns:a16="http://schemas.microsoft.com/office/drawing/2014/main" id="{53D829DE-FB91-55B0-CBBC-AF8676FA734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05195" y="2266727"/>
                <a:ext cx="632583" cy="632583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" name="Straight Connector 255">
                <a:extLst>
                  <a:ext uri="{FF2B5EF4-FFF2-40B4-BE49-F238E27FC236}">
                    <a16:creationId xmlns:a16="http://schemas.microsoft.com/office/drawing/2014/main" id="{1C6BFA40-BFDC-CA3D-00A4-65D430F529F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86546" y="2231982"/>
                <a:ext cx="1036828" cy="1036828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7" name="Straight Connector 256">
                <a:extLst>
                  <a:ext uri="{FF2B5EF4-FFF2-40B4-BE49-F238E27FC236}">
                    <a16:creationId xmlns:a16="http://schemas.microsoft.com/office/drawing/2014/main" id="{64F57DCA-F254-8ECD-BD29-739347A2C67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79746" y="2570184"/>
                <a:ext cx="1036828" cy="1036828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8" name="Straight Connector 257">
                <a:extLst>
                  <a:ext uri="{FF2B5EF4-FFF2-40B4-BE49-F238E27FC236}">
                    <a16:creationId xmlns:a16="http://schemas.microsoft.com/office/drawing/2014/main" id="{24A94452-DA29-DBCB-67AE-ED59A3D326A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00537" y="2596231"/>
                <a:ext cx="1355553" cy="1355553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9" name="Straight Connector 258">
                <a:extLst>
                  <a:ext uri="{FF2B5EF4-FFF2-40B4-BE49-F238E27FC236}">
                    <a16:creationId xmlns:a16="http://schemas.microsoft.com/office/drawing/2014/main" id="{200633EE-1DA2-9BC0-B991-47E7F9E1887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86546" y="2956125"/>
                <a:ext cx="1355553" cy="1355553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0" name="Straight Connector 259">
                <a:extLst>
                  <a:ext uri="{FF2B5EF4-FFF2-40B4-BE49-F238E27FC236}">
                    <a16:creationId xmlns:a16="http://schemas.microsoft.com/office/drawing/2014/main" id="{0E326215-1810-DC8C-220F-8C6313394A4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84352" y="2966720"/>
                <a:ext cx="1704852" cy="1704852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89" name="Group 288">
            <a:extLst>
              <a:ext uri="{FF2B5EF4-FFF2-40B4-BE49-F238E27FC236}">
                <a16:creationId xmlns:a16="http://schemas.microsoft.com/office/drawing/2014/main" id="{21324F6C-C498-983A-3217-E5C8D9B6FDCB}"/>
              </a:ext>
            </a:extLst>
          </p:cNvPr>
          <p:cNvGrpSpPr/>
          <p:nvPr/>
        </p:nvGrpSpPr>
        <p:grpSpPr>
          <a:xfrm>
            <a:off x="487680" y="86082"/>
            <a:ext cx="11094720" cy="822960"/>
            <a:chOff x="864" y="1008"/>
            <a:chExt cx="17472" cy="1296"/>
          </a:xfrm>
        </p:grpSpPr>
        <p:sp>
          <p:nvSpPr>
            <p:cNvPr id="290" name="Chevron 22">
              <a:extLst>
                <a:ext uri="{FF2B5EF4-FFF2-40B4-BE49-F238E27FC236}">
                  <a16:creationId xmlns:a16="http://schemas.microsoft.com/office/drawing/2014/main" id="{C8810573-563D-9E54-664B-4172080E8FC3}"/>
                </a:ext>
              </a:extLst>
            </p:cNvPr>
            <p:cNvSpPr/>
            <p:nvPr/>
          </p:nvSpPr>
          <p:spPr>
            <a:xfrm>
              <a:off x="864" y="1008"/>
              <a:ext cx="17472" cy="1296"/>
            </a:xfrm>
            <a:prstGeom prst="chevron">
              <a:avLst/>
            </a:prstGeom>
            <a:solidFill>
              <a:srgbClr val="106BC6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1" name="Rectangle 4">
              <a:extLst>
                <a:ext uri="{FF2B5EF4-FFF2-40B4-BE49-F238E27FC236}">
                  <a16:creationId xmlns:a16="http://schemas.microsoft.com/office/drawing/2014/main" id="{5E4D52E0-9BE6-29CC-D0F5-C423AE72C150}"/>
                </a:ext>
              </a:extLst>
            </p:cNvPr>
            <p:cNvSpPr/>
            <p:nvPr/>
          </p:nvSpPr>
          <p:spPr>
            <a:xfrm>
              <a:off x="17328" y="1037"/>
              <a:ext cx="864" cy="1267"/>
            </a:xfrm>
            <a:prstGeom prst="rect">
              <a:avLst/>
            </a:prstGeom>
            <a:solidFill>
              <a:srgbClr val="002864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2" name="TextBox 5">
              <a:extLst>
                <a:ext uri="{FF2B5EF4-FFF2-40B4-BE49-F238E27FC236}">
                  <a16:creationId xmlns:a16="http://schemas.microsoft.com/office/drawing/2014/main" id="{BEB628B1-3E12-CEBD-92D6-916DFA701EBE}"/>
                </a:ext>
              </a:extLst>
            </p:cNvPr>
            <p:cNvSpPr txBox="1"/>
            <p:nvPr/>
          </p:nvSpPr>
          <p:spPr>
            <a:xfrm>
              <a:off x="6038" y="1210"/>
              <a:ext cx="7123" cy="92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>
                <a:defRPr sz="4000" b="1">
                  <a:solidFill>
                    <a:srgbClr val="122B5E"/>
                  </a:solidFill>
                </a:defRPr>
              </a:pPr>
              <a:r>
                <a:rPr lang="en-US" sz="3200">
                  <a:solidFill>
                    <a:schemeClr val="bg1"/>
                  </a:solidFill>
                  <a:sym typeface="+mn-ea"/>
                </a:rPr>
                <a:t>3 – EXPERIMENT RESULTS</a:t>
              </a:r>
              <a:endParaRPr lang="en-US" sz="3200" dirty="0">
                <a:solidFill>
                  <a:schemeClr val="bg1"/>
                </a:solidFill>
                <a:sym typeface="+mn-ea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split orient="vert"/>
      </p:transition>
    </mc:Choice>
    <mc:Fallback xmlns="">
      <p:transition spd="med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981F0-CEEC-4607-B96F-8D3CAAFAB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471B55D-2CBE-36F9-720C-3847712F0C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0180860"/>
              </p:ext>
            </p:extLst>
          </p:nvPr>
        </p:nvGraphicFramePr>
        <p:xfrm>
          <a:off x="164249" y="1481597"/>
          <a:ext cx="6686143" cy="330843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58724">
                  <a:extLst>
                    <a:ext uri="{9D8B030D-6E8A-4147-A177-3AD203B41FA5}">
                      <a16:colId xmlns:a16="http://schemas.microsoft.com/office/drawing/2014/main" val="4620301"/>
                    </a:ext>
                  </a:extLst>
                </a:gridCol>
                <a:gridCol w="767103">
                  <a:extLst>
                    <a:ext uri="{9D8B030D-6E8A-4147-A177-3AD203B41FA5}">
                      <a16:colId xmlns:a16="http://schemas.microsoft.com/office/drawing/2014/main" val="2966750978"/>
                    </a:ext>
                  </a:extLst>
                </a:gridCol>
                <a:gridCol w="1058976">
                  <a:extLst>
                    <a:ext uri="{9D8B030D-6E8A-4147-A177-3AD203B41FA5}">
                      <a16:colId xmlns:a16="http://schemas.microsoft.com/office/drawing/2014/main" val="4093263602"/>
                    </a:ext>
                  </a:extLst>
                </a:gridCol>
                <a:gridCol w="1058976">
                  <a:extLst>
                    <a:ext uri="{9D8B030D-6E8A-4147-A177-3AD203B41FA5}">
                      <a16:colId xmlns:a16="http://schemas.microsoft.com/office/drawing/2014/main" val="927238363"/>
                    </a:ext>
                  </a:extLst>
                </a:gridCol>
                <a:gridCol w="1058976">
                  <a:extLst>
                    <a:ext uri="{9D8B030D-6E8A-4147-A177-3AD203B41FA5}">
                      <a16:colId xmlns:a16="http://schemas.microsoft.com/office/drawing/2014/main" val="1432213106"/>
                    </a:ext>
                  </a:extLst>
                </a:gridCol>
                <a:gridCol w="983388">
                  <a:extLst>
                    <a:ext uri="{9D8B030D-6E8A-4147-A177-3AD203B41FA5}">
                      <a16:colId xmlns:a16="http://schemas.microsoft.com/office/drawing/2014/main" val="1640663769"/>
                    </a:ext>
                  </a:extLst>
                </a:gridCol>
              </a:tblGrid>
              <a:tr h="487413">
                <a:tc rowSpan="2"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Models</a:t>
                      </a:r>
                      <a:endParaRPr lang="vi-V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9186" marR="89186" marT="44593" marB="44593" anchor="ctr"/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MMLU</a:t>
                      </a:r>
                      <a:endParaRPr lang="vi-V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9186" marR="89186" marT="44593" marB="44593" anchor="ctr"/>
                </a:tc>
                <a:tc gridSpan="4"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MusicTheoryBench</a:t>
                      </a:r>
                      <a:endParaRPr lang="vi-V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9186" marR="89186" marT="44593" marB="44593" anchor="ctr"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0500344"/>
                  </a:ext>
                </a:extLst>
              </a:tr>
              <a:tr h="622230">
                <a:tc v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Zero-Shot Knowledge</a:t>
                      </a:r>
                      <a:endParaRPr lang="vi-V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890" marR="6689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Zero-Shot Reasoning</a:t>
                      </a:r>
                      <a:endParaRPr lang="vi-V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890" marR="6689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Few-Shot Knowledge</a:t>
                      </a:r>
                      <a:endParaRPr lang="vi-V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890" marR="6689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Few-Shot Reasoning</a:t>
                      </a:r>
                      <a:endParaRPr lang="vi-V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890" marR="66890" marT="0" marB="0" anchor="ctr"/>
                </a:tc>
                <a:extLst>
                  <a:ext uri="{0D108BD9-81ED-4DB2-BD59-A6C34878D82A}">
                    <a16:rowId xmlns:a16="http://schemas.microsoft.com/office/drawing/2014/main" val="1824401237"/>
                  </a:ext>
                </a:extLst>
              </a:tr>
              <a:tr h="273081">
                <a:tc>
                  <a:txBody>
                    <a:bodyPr/>
                    <a:lstStyle/>
                    <a:p>
                      <a:pPr>
                        <a:spcAft>
                          <a:spcPts val="4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ChatMusician</a:t>
                      </a:r>
                      <a:endParaRPr lang="vi-V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890" marR="6689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41.58</a:t>
                      </a:r>
                      <a:endParaRPr lang="vi-V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890" marR="6689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41.26</a:t>
                      </a:r>
                      <a:endParaRPr lang="vi-V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890" marR="6689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22.45</a:t>
                      </a:r>
                      <a:endParaRPr lang="vi-V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890" marR="6689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41.64</a:t>
                      </a:r>
                      <a:endParaRPr lang="vi-V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890" marR="6689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26.53</a:t>
                      </a:r>
                      <a:endParaRPr lang="vi-V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890" marR="66890" marT="0" marB="0" anchor="ctr"/>
                </a:tc>
                <a:extLst>
                  <a:ext uri="{0D108BD9-81ED-4DB2-BD59-A6C34878D82A}">
                    <a16:rowId xmlns:a16="http://schemas.microsoft.com/office/drawing/2014/main" val="2590250654"/>
                  </a:ext>
                </a:extLst>
              </a:tr>
              <a:tr h="283502">
                <a:tc>
                  <a:txBody>
                    <a:bodyPr/>
                    <a:lstStyle/>
                    <a:p>
                      <a:pPr>
                        <a:spcAft>
                          <a:spcPts val="4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ChatMusician-Base</a:t>
                      </a:r>
                      <a:endParaRPr lang="vi-V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890" marR="6689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43.54</a:t>
                      </a:r>
                      <a:endParaRPr lang="vi-V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890" marR="6689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41.26</a:t>
                      </a:r>
                      <a:endParaRPr lang="vi-V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890" marR="6689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25.51</a:t>
                      </a:r>
                      <a:endParaRPr lang="vi-V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890" marR="6689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42.75</a:t>
                      </a:r>
                      <a:endParaRPr lang="vi-V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890" marR="6689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26.53</a:t>
                      </a:r>
                      <a:endParaRPr lang="vi-V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890" marR="66890" marT="0" marB="0" anchor="ctr"/>
                </a:tc>
                <a:extLst>
                  <a:ext uri="{0D108BD9-81ED-4DB2-BD59-A6C34878D82A}">
                    <a16:rowId xmlns:a16="http://schemas.microsoft.com/office/drawing/2014/main" val="2061447891"/>
                  </a:ext>
                </a:extLst>
              </a:tr>
              <a:tr h="273081">
                <a:tc>
                  <a:txBody>
                    <a:bodyPr/>
                    <a:lstStyle/>
                    <a:p>
                      <a:pPr>
                        <a:spcAft>
                          <a:spcPts val="4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Qwen3 1.7B</a:t>
                      </a:r>
                      <a:endParaRPr lang="vi-V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890" marR="6689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sz="1800" b="0" u="none">
                          <a:effectLst/>
                        </a:rPr>
                        <a:t>53.99</a:t>
                      </a:r>
                      <a:endParaRPr lang="vi-VN" sz="1600" b="0" u="none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890" marR="6689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sz="1800" b="0" u="sng">
                          <a:effectLst/>
                        </a:rPr>
                        <a:t>56.88</a:t>
                      </a:r>
                      <a:endParaRPr lang="vi-VN" sz="1600" b="0" u="sng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890" marR="6689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sz="1800" b="0" u="none">
                          <a:effectLst/>
                        </a:rPr>
                        <a:t>26.53</a:t>
                      </a:r>
                      <a:endParaRPr lang="vi-VN" sz="1600" b="0" u="none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890" marR="6689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sz="1800" b="0" u="none">
                          <a:effectLst/>
                        </a:rPr>
                        <a:t>54.64</a:t>
                      </a:r>
                      <a:endParaRPr lang="vi-VN" sz="1600" b="0" u="none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890" marR="6689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sz="1800" b="0" u="none">
                          <a:effectLst/>
                        </a:rPr>
                        <a:t>31.63</a:t>
                      </a:r>
                      <a:endParaRPr lang="vi-VN" sz="1600" b="0" u="none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890" marR="66890" marT="0" marB="0" anchor="ctr"/>
                </a:tc>
                <a:extLst>
                  <a:ext uri="{0D108BD9-81ED-4DB2-BD59-A6C34878D82A}">
                    <a16:rowId xmlns:a16="http://schemas.microsoft.com/office/drawing/2014/main" val="724948203"/>
                  </a:ext>
                </a:extLst>
              </a:tr>
              <a:tr h="273081">
                <a:tc>
                  <a:txBody>
                    <a:bodyPr/>
                    <a:lstStyle/>
                    <a:p>
                      <a:pPr>
                        <a:spcAft>
                          <a:spcPts val="4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Qwen3 4B</a:t>
                      </a:r>
                      <a:endParaRPr lang="vi-V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890" marR="6689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sz="1800" b="0" u="none">
                          <a:effectLst/>
                          <a:latin typeface="Calibri (Body)"/>
                        </a:rPr>
                        <a:t>66.81</a:t>
                      </a:r>
                      <a:endParaRPr lang="vi-VN" sz="1800" b="0" u="none">
                        <a:effectLst/>
                        <a:latin typeface="Calibri (Body)"/>
                        <a:ea typeface="Times New Roman" panose="02020603050405020304" pitchFamily="18" charset="0"/>
                      </a:endParaRPr>
                    </a:p>
                  </a:txBody>
                  <a:tcPr marL="66890" marR="6689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sz="1800" b="1" u="none">
                          <a:effectLst/>
                          <a:latin typeface="Calibri (Body)"/>
                        </a:rPr>
                        <a:t>58.36</a:t>
                      </a:r>
                      <a:endParaRPr lang="vi-VN" sz="1800" b="1" u="none">
                        <a:effectLst/>
                        <a:latin typeface="Calibri (Body)"/>
                        <a:ea typeface="Times New Roman" panose="02020603050405020304" pitchFamily="18" charset="0"/>
                      </a:endParaRPr>
                    </a:p>
                  </a:txBody>
                  <a:tcPr marL="66890" marR="6689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sz="1800" b="0" u="sng">
                          <a:effectLst/>
                          <a:latin typeface="Calibri (Body)"/>
                        </a:rPr>
                        <a:t>28.57</a:t>
                      </a:r>
                      <a:endParaRPr lang="vi-VN" sz="1800" b="0" u="sng">
                        <a:effectLst/>
                        <a:latin typeface="Calibri (Body)"/>
                        <a:ea typeface="Times New Roman" panose="02020603050405020304" pitchFamily="18" charset="0"/>
                      </a:endParaRPr>
                    </a:p>
                  </a:txBody>
                  <a:tcPr marL="66890" marR="6689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sz="1800" b="0" u="none">
                          <a:effectLst/>
                          <a:latin typeface="Calibri (Body)"/>
                        </a:rPr>
                        <a:t>56.13</a:t>
                      </a:r>
                      <a:endParaRPr lang="vi-VN" sz="1800" b="0" u="none">
                        <a:effectLst/>
                        <a:latin typeface="Calibri (Body)"/>
                        <a:ea typeface="Times New Roman" panose="02020603050405020304" pitchFamily="18" charset="0"/>
                      </a:endParaRPr>
                    </a:p>
                  </a:txBody>
                  <a:tcPr marL="66890" marR="6689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sz="1800" b="0" u="sng">
                          <a:effectLst/>
                          <a:latin typeface="Calibri (Body)"/>
                        </a:rPr>
                        <a:t>33.67</a:t>
                      </a:r>
                      <a:endParaRPr lang="vi-VN" sz="1800" b="0" u="sng">
                        <a:effectLst/>
                        <a:latin typeface="Calibri (Body)"/>
                        <a:ea typeface="Times New Roman" panose="02020603050405020304" pitchFamily="18" charset="0"/>
                      </a:endParaRPr>
                    </a:p>
                  </a:txBody>
                  <a:tcPr marL="66890" marR="66890" marT="0" marB="0" anchor="ctr"/>
                </a:tc>
                <a:extLst>
                  <a:ext uri="{0D108BD9-81ED-4DB2-BD59-A6C34878D82A}">
                    <a16:rowId xmlns:a16="http://schemas.microsoft.com/office/drawing/2014/main" val="3024175209"/>
                  </a:ext>
                </a:extLst>
              </a:tr>
              <a:tr h="546163">
                <a:tc>
                  <a:txBody>
                    <a:bodyPr/>
                    <a:lstStyle/>
                    <a:p>
                      <a:pPr>
                        <a:spcAft>
                          <a:spcPts val="4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Qwen3 4B 2507 Instruct</a:t>
                      </a:r>
                      <a:endParaRPr lang="vi-V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890" marR="6689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sz="1800" b="1" u="none">
                          <a:effectLst/>
                          <a:latin typeface="Calibri (Body)"/>
                        </a:rPr>
                        <a:t>68.87</a:t>
                      </a:r>
                      <a:endParaRPr lang="vi-VN" sz="1800" b="1" u="none">
                        <a:effectLst/>
                        <a:latin typeface="Calibri (Body)"/>
                        <a:ea typeface="Times New Roman" panose="02020603050405020304" pitchFamily="18" charset="0"/>
                      </a:endParaRPr>
                    </a:p>
                  </a:txBody>
                  <a:tcPr marL="66890" marR="6689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sz="1800" b="1" u="none">
                          <a:effectLst/>
                          <a:latin typeface="Calibri (Body)"/>
                        </a:rPr>
                        <a:t>58.36</a:t>
                      </a:r>
                      <a:endParaRPr lang="vi-VN" sz="1800" b="1" u="none">
                        <a:effectLst/>
                        <a:latin typeface="Calibri (Body)"/>
                        <a:ea typeface="Times New Roman" panose="02020603050405020304" pitchFamily="18" charset="0"/>
                      </a:endParaRPr>
                    </a:p>
                  </a:txBody>
                  <a:tcPr marL="66890" marR="6689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sz="1800" b="1" u="none">
                          <a:effectLst/>
                          <a:latin typeface="Calibri (Body)"/>
                        </a:rPr>
                        <a:t>32.65</a:t>
                      </a:r>
                      <a:endParaRPr lang="vi-VN" sz="1800" b="1" u="none">
                        <a:effectLst/>
                        <a:latin typeface="Calibri (Body)"/>
                        <a:ea typeface="Times New Roman" panose="02020603050405020304" pitchFamily="18" charset="0"/>
                      </a:endParaRPr>
                    </a:p>
                  </a:txBody>
                  <a:tcPr marL="66890" marR="6689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sz="1800" b="0" u="sng">
                          <a:effectLst/>
                          <a:latin typeface="Calibri (Body)"/>
                        </a:rPr>
                        <a:t>56.88</a:t>
                      </a:r>
                      <a:endParaRPr lang="vi-VN" sz="1800" b="0" u="sng">
                        <a:effectLst/>
                        <a:latin typeface="Calibri (Body)"/>
                        <a:ea typeface="Times New Roman" panose="02020603050405020304" pitchFamily="18" charset="0"/>
                      </a:endParaRPr>
                    </a:p>
                  </a:txBody>
                  <a:tcPr marL="66890" marR="6689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sz="1800" b="1" u="none">
                          <a:effectLst/>
                          <a:latin typeface="Calibri (Body)"/>
                        </a:rPr>
                        <a:t>34.69</a:t>
                      </a:r>
                      <a:endParaRPr lang="vi-VN" sz="1800" b="1" u="none">
                        <a:effectLst/>
                        <a:latin typeface="Calibri (Body)"/>
                        <a:ea typeface="Times New Roman" panose="02020603050405020304" pitchFamily="18" charset="0"/>
                      </a:endParaRPr>
                    </a:p>
                  </a:txBody>
                  <a:tcPr marL="66890" marR="66890" marT="0" marB="0" anchor="ctr"/>
                </a:tc>
                <a:extLst>
                  <a:ext uri="{0D108BD9-81ED-4DB2-BD59-A6C34878D82A}">
                    <a16:rowId xmlns:a16="http://schemas.microsoft.com/office/drawing/2014/main" val="516113414"/>
                  </a:ext>
                </a:extLst>
              </a:tr>
              <a:tr h="54616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effectLst/>
                        </a:rPr>
                        <a:t>Qwen3 4B 2507 Thinking</a:t>
                      </a:r>
                      <a:endParaRPr lang="vi-V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6890" marR="6689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sz="1800" b="0" u="sng">
                          <a:effectLst/>
                          <a:latin typeface="Calibri (Body)"/>
                          <a:ea typeface="Times New Roman" panose="02020603050405020304" pitchFamily="18" charset="0"/>
                        </a:rPr>
                        <a:t>67.13</a:t>
                      </a:r>
                      <a:endParaRPr lang="vi-VN" sz="1800" b="0" u="sng">
                        <a:effectLst/>
                        <a:latin typeface="Calibri (Body)"/>
                        <a:ea typeface="Times New Roman" panose="02020603050405020304" pitchFamily="18" charset="0"/>
                      </a:endParaRPr>
                    </a:p>
                  </a:txBody>
                  <a:tcPr marL="66890" marR="6689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sz="1800" b="1" u="none">
                          <a:effectLst/>
                          <a:latin typeface="Calibri (Body)"/>
                          <a:ea typeface="Times New Roman" panose="02020603050405020304" pitchFamily="18" charset="0"/>
                        </a:rPr>
                        <a:t>58.36</a:t>
                      </a:r>
                      <a:endParaRPr lang="vi-VN" sz="1800" b="1" u="none">
                        <a:effectLst/>
                        <a:latin typeface="Calibri (Body)"/>
                        <a:ea typeface="Times New Roman" panose="02020603050405020304" pitchFamily="18" charset="0"/>
                      </a:endParaRPr>
                    </a:p>
                  </a:txBody>
                  <a:tcPr marL="66890" marR="6689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sz="1800" b="0" u="none">
                          <a:effectLst/>
                          <a:latin typeface="Calibri (Body)"/>
                          <a:ea typeface="Times New Roman" panose="02020603050405020304" pitchFamily="18" charset="0"/>
                        </a:rPr>
                        <a:t>27.55</a:t>
                      </a:r>
                      <a:endParaRPr lang="vi-VN" sz="1800" b="0" u="none">
                        <a:effectLst/>
                        <a:latin typeface="Calibri (Body)"/>
                        <a:ea typeface="Times New Roman" panose="02020603050405020304" pitchFamily="18" charset="0"/>
                      </a:endParaRPr>
                    </a:p>
                  </a:txBody>
                  <a:tcPr marL="66890" marR="6689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sz="1800" b="1" u="none">
                          <a:effectLst/>
                          <a:latin typeface="Calibri (Body)"/>
                          <a:ea typeface="Times New Roman" panose="02020603050405020304" pitchFamily="18" charset="0"/>
                        </a:rPr>
                        <a:t>59.85</a:t>
                      </a:r>
                      <a:endParaRPr lang="vi-VN" sz="1800" b="1" u="none">
                        <a:effectLst/>
                        <a:latin typeface="Calibri (Body)"/>
                        <a:ea typeface="Times New Roman" panose="02020603050405020304" pitchFamily="18" charset="0"/>
                      </a:endParaRPr>
                    </a:p>
                  </a:txBody>
                  <a:tcPr marL="66890" marR="6689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sz="1800" b="1" u="none">
                          <a:effectLst/>
                          <a:latin typeface="Calibri (Body)"/>
                          <a:ea typeface="Times New Roman" panose="02020603050405020304" pitchFamily="18" charset="0"/>
                        </a:rPr>
                        <a:t>34.69</a:t>
                      </a:r>
                      <a:endParaRPr lang="vi-VN" sz="1800" b="1" u="none">
                        <a:effectLst/>
                        <a:latin typeface="Calibri (Body)"/>
                        <a:ea typeface="Times New Roman" panose="02020603050405020304" pitchFamily="18" charset="0"/>
                      </a:endParaRPr>
                    </a:p>
                  </a:txBody>
                  <a:tcPr marL="66890" marR="66890" marT="0" marB="0" anchor="ctr"/>
                </a:tc>
                <a:extLst>
                  <a:ext uri="{0D108BD9-81ED-4DB2-BD59-A6C34878D82A}">
                    <a16:rowId xmlns:a16="http://schemas.microsoft.com/office/drawing/2014/main" val="2296621127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47B5B37-10E0-1106-140C-E3EE0498A7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0886032"/>
              </p:ext>
            </p:extLst>
          </p:nvPr>
        </p:nvGraphicFramePr>
        <p:xfrm>
          <a:off x="6929560" y="2618931"/>
          <a:ext cx="5188955" cy="235170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86402">
                  <a:extLst>
                    <a:ext uri="{9D8B030D-6E8A-4147-A177-3AD203B41FA5}">
                      <a16:colId xmlns:a16="http://schemas.microsoft.com/office/drawing/2014/main" val="2163914978"/>
                    </a:ext>
                  </a:extLst>
                </a:gridCol>
                <a:gridCol w="901896">
                  <a:extLst>
                    <a:ext uri="{9D8B030D-6E8A-4147-A177-3AD203B41FA5}">
                      <a16:colId xmlns:a16="http://schemas.microsoft.com/office/drawing/2014/main" val="1825133722"/>
                    </a:ext>
                  </a:extLst>
                </a:gridCol>
                <a:gridCol w="799902">
                  <a:extLst>
                    <a:ext uri="{9D8B030D-6E8A-4147-A177-3AD203B41FA5}">
                      <a16:colId xmlns:a16="http://schemas.microsoft.com/office/drawing/2014/main" val="175313338"/>
                    </a:ext>
                  </a:extLst>
                </a:gridCol>
                <a:gridCol w="1183775">
                  <a:extLst>
                    <a:ext uri="{9D8B030D-6E8A-4147-A177-3AD203B41FA5}">
                      <a16:colId xmlns:a16="http://schemas.microsoft.com/office/drawing/2014/main" val="1438566977"/>
                    </a:ext>
                  </a:extLst>
                </a:gridCol>
                <a:gridCol w="916980">
                  <a:extLst>
                    <a:ext uri="{9D8B030D-6E8A-4147-A177-3AD203B41FA5}">
                      <a16:colId xmlns:a16="http://schemas.microsoft.com/office/drawing/2014/main" val="593465628"/>
                    </a:ext>
                  </a:extLst>
                </a:gridCol>
              </a:tblGrid>
              <a:tr h="470341">
                <a:tc>
                  <a:txBody>
                    <a:bodyPr/>
                    <a:lstStyle/>
                    <a:p>
                      <a:pPr>
                        <a:spcAft>
                          <a:spcPts val="4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Models</a:t>
                      </a:r>
                      <a:endParaRPr lang="vi-V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THD ↓</a:t>
                      </a:r>
                      <a:endParaRPr lang="vi-V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SF ↓</a:t>
                      </a:r>
                      <a:endParaRPr lang="vi-V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SCV ↑</a:t>
                      </a:r>
                      <a:endParaRPr lang="vi-V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ZCR ↓</a:t>
                      </a:r>
                      <a:endParaRPr lang="vi-V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00283254"/>
                  </a:ext>
                </a:extLst>
              </a:tr>
              <a:tr h="470341">
                <a:tc>
                  <a:txBody>
                    <a:bodyPr/>
                    <a:lstStyle/>
                    <a:p>
                      <a:pPr>
                        <a:spcAft>
                          <a:spcPts val="400"/>
                        </a:spcAft>
                        <a:buNone/>
                      </a:pPr>
                      <a:r>
                        <a:rPr lang="en-US" sz="1600">
                          <a:effectLst/>
                          <a:latin typeface="Calibri (Body)"/>
                        </a:rPr>
                        <a:t>GroundTruth</a:t>
                      </a:r>
                      <a:endParaRPr lang="vi-VN" sz="1400">
                        <a:effectLst/>
                        <a:latin typeface="Calibri (Body)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vi-VN" sz="1800" b="0" u="sng">
                          <a:effectLst/>
                          <a:latin typeface="Calibri (Body)"/>
                          <a:ea typeface="Times New Roman" panose="02020603050405020304" pitchFamily="18" charset="0"/>
                        </a:rPr>
                        <a:t>0.1577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vi-VN" sz="1800" b="0">
                          <a:effectLst/>
                          <a:latin typeface="Calibri (Body)"/>
                          <a:ea typeface="Times New Roman" panose="02020603050405020304" pitchFamily="18" charset="0"/>
                        </a:rPr>
                        <a:t>0.0163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vi-VN" sz="1800" b="0" u="sng">
                          <a:effectLst/>
                          <a:latin typeface="Calibri (Body)"/>
                          <a:ea typeface="Times New Roman" panose="02020603050405020304" pitchFamily="18" charset="0"/>
                        </a:rPr>
                        <a:t>707.7187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vi-VN" sz="1800" b="0" u="sng">
                          <a:effectLst/>
                          <a:latin typeface="Calibri (Body)"/>
                          <a:ea typeface="Times New Roman" panose="02020603050405020304" pitchFamily="18" charset="0"/>
                        </a:rPr>
                        <a:t>0.0635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10812057"/>
                  </a:ext>
                </a:extLst>
              </a:tr>
              <a:tr h="470341">
                <a:tc>
                  <a:txBody>
                    <a:bodyPr/>
                    <a:lstStyle/>
                    <a:p>
                      <a:pPr>
                        <a:spcAft>
                          <a:spcPts val="400"/>
                        </a:spcAft>
                        <a:buNone/>
                      </a:pPr>
                      <a:r>
                        <a:rPr lang="en-US" sz="1600">
                          <a:effectLst/>
                          <a:latin typeface="Calibri (Body)"/>
                        </a:rPr>
                        <a:t>GVMGen [2]</a:t>
                      </a:r>
                      <a:endParaRPr lang="vi-VN" sz="1400">
                        <a:effectLst/>
                        <a:latin typeface="Calibri (Body)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vi-VN" sz="1800" b="1">
                          <a:effectLst/>
                          <a:latin typeface="Calibri (Body)"/>
                          <a:ea typeface="Times New Roman" panose="02020603050405020304" pitchFamily="18" charset="0"/>
                        </a:rPr>
                        <a:t>0.1320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vi-VN" sz="1800" b="1">
                          <a:effectLst/>
                          <a:latin typeface="Calibri (Body)"/>
                          <a:ea typeface="Times New Roman" panose="02020603050405020304" pitchFamily="18" charset="0"/>
                        </a:rPr>
                        <a:t>0.0132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vi-VN" sz="1800" b="1">
                          <a:effectLst/>
                          <a:latin typeface="Calibri (Body)"/>
                          <a:ea typeface="Times New Roman" panose="02020603050405020304" pitchFamily="18" charset="0"/>
                        </a:rPr>
                        <a:t>714.7862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vi-VN" sz="1800" b="1">
                          <a:effectLst/>
                          <a:latin typeface="Calibri (Body)"/>
                          <a:ea typeface="Times New Roman" panose="02020603050405020304" pitchFamily="18" charset="0"/>
                        </a:rPr>
                        <a:t>0.0633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03968990"/>
                  </a:ext>
                </a:extLst>
              </a:tr>
              <a:tr h="470341">
                <a:tc>
                  <a:txBody>
                    <a:bodyPr/>
                    <a:lstStyle/>
                    <a:p>
                      <a:pPr>
                        <a:spcAft>
                          <a:spcPts val="400"/>
                        </a:spcAft>
                        <a:buNone/>
                      </a:pPr>
                      <a:r>
                        <a:rPr lang="en-US" sz="1600">
                          <a:effectLst/>
                          <a:latin typeface="Calibri (Body)"/>
                        </a:rPr>
                        <a:t>V1</a:t>
                      </a:r>
                      <a:endParaRPr lang="vi-VN" sz="1400">
                        <a:effectLst/>
                        <a:latin typeface="Calibri (Body)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sz="1800" b="0">
                          <a:effectLst/>
                          <a:latin typeface="Calibri (Body)"/>
                        </a:rPr>
                        <a:t>0.23</a:t>
                      </a:r>
                      <a:r>
                        <a:rPr lang="vi-VN" sz="1800" b="0">
                          <a:effectLst/>
                          <a:latin typeface="Calibri (Body)"/>
                        </a:rPr>
                        <a:t>45</a:t>
                      </a:r>
                      <a:endParaRPr lang="vi-VN" sz="1800" b="0">
                        <a:effectLst/>
                        <a:latin typeface="Calibri (Body)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vi-VN" sz="1800" b="0" u="sng">
                          <a:effectLst/>
                          <a:latin typeface="Calibri (Body)"/>
                          <a:ea typeface="Times New Roman" panose="02020603050405020304" pitchFamily="18" charset="0"/>
                        </a:rPr>
                        <a:t>0.0137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sz="1800" b="0">
                          <a:effectLst/>
                          <a:latin typeface="Calibri (Body)"/>
                        </a:rPr>
                        <a:t>56</a:t>
                      </a:r>
                      <a:r>
                        <a:rPr lang="vi-VN" sz="1800" b="0">
                          <a:effectLst/>
                          <a:latin typeface="Calibri (Body)"/>
                        </a:rPr>
                        <a:t>1.9450</a:t>
                      </a:r>
                      <a:endParaRPr lang="vi-VN" sz="1800" b="0">
                        <a:effectLst/>
                        <a:latin typeface="Calibri (Body)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vi-VN" sz="1800" b="0">
                          <a:effectLst/>
                          <a:latin typeface="Calibri (Body)"/>
                          <a:ea typeface="Times New Roman" panose="02020603050405020304" pitchFamily="18" charset="0"/>
                        </a:rPr>
                        <a:t>0.0671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52710297"/>
                  </a:ext>
                </a:extLst>
              </a:tr>
              <a:tr h="470341">
                <a:tc>
                  <a:txBody>
                    <a:bodyPr/>
                    <a:lstStyle/>
                    <a:p>
                      <a:pPr>
                        <a:spcAft>
                          <a:spcPts val="400"/>
                        </a:spcAft>
                        <a:buNone/>
                      </a:pPr>
                      <a:r>
                        <a:rPr lang="en-US" sz="1600">
                          <a:effectLst/>
                          <a:latin typeface="Calibri (Body)"/>
                          <a:ea typeface="Times New Roman" panose="02020603050405020304" pitchFamily="18" charset="0"/>
                        </a:rPr>
                        <a:t>V2</a:t>
                      </a:r>
                      <a:endParaRPr lang="vi-VN" sz="1600">
                        <a:effectLst/>
                        <a:latin typeface="Calibri (Body)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vi-VN" sz="1800" b="0">
                          <a:effectLst/>
                          <a:latin typeface="Calibri (Body)"/>
                          <a:ea typeface="Times New Roman" panose="02020603050405020304" pitchFamily="18" charset="0"/>
                        </a:rPr>
                        <a:t>0.2025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vi-VN" sz="1800" b="0">
                          <a:effectLst/>
                          <a:latin typeface="Calibri (Body)"/>
                          <a:ea typeface="Times New Roman" panose="02020603050405020304" pitchFamily="18" charset="0"/>
                        </a:rPr>
                        <a:t>0.0195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vi-VN" sz="1800" b="0">
                          <a:effectLst/>
                          <a:latin typeface="Calibri (Body)"/>
                          <a:ea typeface="Times New Roman" panose="02020603050405020304" pitchFamily="18" charset="0"/>
                        </a:rPr>
                        <a:t>627.6425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vi-VN" sz="1800" b="0">
                          <a:effectLst/>
                          <a:latin typeface="Calibri (Body)"/>
                          <a:ea typeface="Times New Roman" panose="02020603050405020304" pitchFamily="18" charset="0"/>
                        </a:rPr>
                        <a:t>0.0757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21889499"/>
                  </a:ext>
                </a:extLst>
              </a:tr>
            </a:tbl>
          </a:graphicData>
        </a:graphic>
      </p:graphicFrame>
      <p:sp>
        <p:nvSpPr>
          <p:cNvPr id="4" name="Text Box 4">
            <a:extLst>
              <a:ext uri="{FF2B5EF4-FFF2-40B4-BE49-F238E27FC236}">
                <a16:creationId xmlns:a16="http://schemas.microsoft.com/office/drawing/2014/main" id="{21CB17AC-1148-7CB1-F182-E2279AFEDE36}"/>
              </a:ext>
            </a:extLst>
          </p:cNvPr>
          <p:cNvSpPr txBox="1"/>
          <p:nvPr/>
        </p:nvSpPr>
        <p:spPr>
          <a:xfrm>
            <a:off x="164250" y="4757752"/>
            <a:ext cx="6686143" cy="7078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rPr lang="en-US" sz="2000">
                <a:solidFill>
                  <a:schemeClr val="accent1">
                    <a:lumMod val="75000"/>
                  </a:schemeClr>
                </a:solidFill>
                <a:sym typeface="+mn-ea"/>
              </a:rPr>
              <a:t>Table 1: Comparation between ChatMusician [3] variant and Qwen3 [5] variant in music theory understanding</a:t>
            </a: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A5C2C5B5-4BF2-CF3F-3FDD-DF18E88ED9FC}"/>
              </a:ext>
            </a:extLst>
          </p:cNvPr>
          <p:cNvSpPr txBox="1"/>
          <p:nvPr/>
        </p:nvSpPr>
        <p:spPr>
          <a:xfrm>
            <a:off x="7003046" y="4987975"/>
            <a:ext cx="4873522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rPr lang="en-US" sz="2000">
                <a:solidFill>
                  <a:schemeClr val="accent1">
                    <a:lumMod val="75000"/>
                  </a:schemeClr>
                </a:solidFill>
                <a:sym typeface="+mn-ea"/>
              </a:rPr>
              <a:t>Table 2: Music quality evaluation results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760F99-7FA4-25A4-1A23-76A91ABB3F62}"/>
              </a:ext>
            </a:extLst>
          </p:cNvPr>
          <p:cNvSpPr txBox="1"/>
          <p:nvPr/>
        </p:nvSpPr>
        <p:spPr>
          <a:xfrm>
            <a:off x="164250" y="5960640"/>
            <a:ext cx="113976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chemeClr val="accent1"/>
                </a:solidFill>
              </a:rPr>
              <a:t>[5] Yang, An, Anfeng Li, Baosong Yang, et al, "Qwen3 technical report," arXiv preprint, 2025.</a:t>
            </a:r>
            <a:endParaRPr lang="vi-VN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323A77E-48AC-AC56-C969-AF61C9A434FB}"/>
              </a:ext>
            </a:extLst>
          </p:cNvPr>
          <p:cNvGrpSpPr/>
          <p:nvPr/>
        </p:nvGrpSpPr>
        <p:grpSpPr>
          <a:xfrm>
            <a:off x="487680" y="86082"/>
            <a:ext cx="11094720" cy="822960"/>
            <a:chOff x="864" y="1008"/>
            <a:chExt cx="17472" cy="1296"/>
          </a:xfrm>
        </p:grpSpPr>
        <p:sp>
          <p:nvSpPr>
            <p:cNvPr id="9" name="Chevron 22">
              <a:extLst>
                <a:ext uri="{FF2B5EF4-FFF2-40B4-BE49-F238E27FC236}">
                  <a16:creationId xmlns:a16="http://schemas.microsoft.com/office/drawing/2014/main" id="{7AF3E501-97AD-70F6-18F6-39D06547F5E8}"/>
                </a:ext>
              </a:extLst>
            </p:cNvPr>
            <p:cNvSpPr/>
            <p:nvPr/>
          </p:nvSpPr>
          <p:spPr>
            <a:xfrm>
              <a:off x="864" y="1008"/>
              <a:ext cx="17472" cy="1296"/>
            </a:xfrm>
            <a:prstGeom prst="chevron">
              <a:avLst/>
            </a:prstGeom>
            <a:solidFill>
              <a:srgbClr val="106BC6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C3C87864-2E06-EE42-A43E-8026B05FACA5}"/>
                </a:ext>
              </a:extLst>
            </p:cNvPr>
            <p:cNvSpPr/>
            <p:nvPr/>
          </p:nvSpPr>
          <p:spPr>
            <a:xfrm>
              <a:off x="17328" y="1037"/>
              <a:ext cx="864" cy="1267"/>
            </a:xfrm>
            <a:prstGeom prst="rect">
              <a:avLst/>
            </a:prstGeom>
            <a:solidFill>
              <a:srgbClr val="002864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5">
              <a:extLst>
                <a:ext uri="{FF2B5EF4-FFF2-40B4-BE49-F238E27FC236}">
                  <a16:creationId xmlns:a16="http://schemas.microsoft.com/office/drawing/2014/main" id="{513A4404-6E97-2A50-840B-109F35D7CD93}"/>
                </a:ext>
              </a:extLst>
            </p:cNvPr>
            <p:cNvSpPr txBox="1"/>
            <p:nvPr/>
          </p:nvSpPr>
          <p:spPr>
            <a:xfrm>
              <a:off x="6038" y="1210"/>
              <a:ext cx="7123" cy="92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>
                <a:defRPr sz="4000" b="1">
                  <a:solidFill>
                    <a:srgbClr val="122B5E"/>
                  </a:solidFill>
                </a:defRPr>
              </a:pPr>
              <a:r>
                <a:rPr lang="en-US" sz="3200">
                  <a:solidFill>
                    <a:schemeClr val="bg1"/>
                  </a:solidFill>
                  <a:sym typeface="+mn-ea"/>
                </a:rPr>
                <a:t>3 – EXPERIMENT RESULTS</a:t>
              </a:r>
              <a:endParaRPr lang="en-US" sz="3200" dirty="0">
                <a:solidFill>
                  <a:schemeClr val="bg1"/>
                </a:solidFill>
                <a:sym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98713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14:reveal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9CB92-8B07-16CF-DBC3-5109DD66D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">
            <a:extLst>
              <a:ext uri="{FF2B5EF4-FFF2-40B4-BE49-F238E27FC236}">
                <a16:creationId xmlns:a16="http://schemas.microsoft.com/office/drawing/2014/main" id="{8C535F45-2DC4-2B5E-44B5-101E4B3B0CC8}"/>
              </a:ext>
            </a:extLst>
          </p:cNvPr>
          <p:cNvSpPr txBox="1"/>
          <p:nvPr/>
        </p:nvSpPr>
        <p:spPr>
          <a:xfrm>
            <a:off x="241257" y="3794892"/>
            <a:ext cx="5704213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rPr lang="en-US" sz="2000">
                <a:solidFill>
                  <a:schemeClr val="accent1">
                    <a:lumMod val="75000"/>
                  </a:schemeClr>
                </a:solidFill>
                <a:sym typeface="+mn-ea"/>
              </a:rPr>
              <a:t>Table 3: Video-Music relationship evaluation results</a:t>
            </a: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82BB0B26-AA69-6217-4EA5-49C853CA6589}"/>
              </a:ext>
            </a:extLst>
          </p:cNvPr>
          <p:cNvSpPr txBox="1"/>
          <p:nvPr/>
        </p:nvSpPr>
        <p:spPr>
          <a:xfrm>
            <a:off x="6708878" y="4044278"/>
            <a:ext cx="4873522" cy="7078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rPr lang="en-US" sz="2000">
                <a:solidFill>
                  <a:schemeClr val="accent1">
                    <a:lumMod val="75000"/>
                  </a:schemeClr>
                </a:solidFill>
                <a:sym typeface="+mn-ea"/>
              </a:rPr>
              <a:t>Table 4: Computational cost comparation between 2 systems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86574F-9FB9-F1B3-51D3-380FADC1CA8F}"/>
              </a:ext>
            </a:extLst>
          </p:cNvPr>
          <p:cNvSpPr txBox="1"/>
          <p:nvPr/>
        </p:nvSpPr>
        <p:spPr>
          <a:xfrm>
            <a:off x="164250" y="5960640"/>
            <a:ext cx="113976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chemeClr val="accent1"/>
                </a:solidFill>
              </a:rPr>
              <a:t>[5] Yang, An, Anfeng Li, Baosong Yang, et al, "Qwen3 technical report," arXiv preprint, 2025.</a:t>
            </a:r>
            <a:endParaRPr lang="vi-VN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05F8E67-A14B-C927-8F80-526F06CC76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6296760"/>
              </p:ext>
            </p:extLst>
          </p:nvPr>
        </p:nvGraphicFramePr>
        <p:xfrm>
          <a:off x="487678" y="1711852"/>
          <a:ext cx="5211370" cy="20830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09992">
                  <a:extLst>
                    <a:ext uri="{9D8B030D-6E8A-4147-A177-3AD203B41FA5}">
                      <a16:colId xmlns:a16="http://schemas.microsoft.com/office/drawing/2014/main" val="1453766229"/>
                    </a:ext>
                  </a:extLst>
                </a:gridCol>
                <a:gridCol w="954411">
                  <a:extLst>
                    <a:ext uri="{9D8B030D-6E8A-4147-A177-3AD203B41FA5}">
                      <a16:colId xmlns:a16="http://schemas.microsoft.com/office/drawing/2014/main" val="4139818148"/>
                    </a:ext>
                  </a:extLst>
                </a:gridCol>
                <a:gridCol w="945811">
                  <a:extLst>
                    <a:ext uri="{9D8B030D-6E8A-4147-A177-3AD203B41FA5}">
                      <a16:colId xmlns:a16="http://schemas.microsoft.com/office/drawing/2014/main" val="3398527632"/>
                    </a:ext>
                  </a:extLst>
                </a:gridCol>
                <a:gridCol w="1025168">
                  <a:extLst>
                    <a:ext uri="{9D8B030D-6E8A-4147-A177-3AD203B41FA5}">
                      <a16:colId xmlns:a16="http://schemas.microsoft.com/office/drawing/2014/main" val="3404377332"/>
                    </a:ext>
                  </a:extLst>
                </a:gridCol>
                <a:gridCol w="875988">
                  <a:extLst>
                    <a:ext uri="{9D8B030D-6E8A-4147-A177-3AD203B41FA5}">
                      <a16:colId xmlns:a16="http://schemas.microsoft.com/office/drawing/2014/main" val="3572304475"/>
                    </a:ext>
                  </a:extLst>
                </a:gridCol>
              </a:tblGrid>
              <a:tr h="404048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Models</a:t>
                      </a:r>
                      <a:endParaRPr lang="vi-V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CMEC ↑</a:t>
                      </a:r>
                      <a:endParaRPr lang="vi-V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BMS ↑</a:t>
                      </a:r>
                      <a:endParaRPr lang="vi-V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CMSA ↑</a:t>
                      </a:r>
                      <a:endParaRPr lang="vi-V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SSM ↑</a:t>
                      </a:r>
                      <a:endParaRPr lang="vi-V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57913917"/>
                  </a:ext>
                </a:extLst>
              </a:tr>
              <a:tr h="404048">
                <a:tc>
                  <a:txBody>
                    <a:bodyPr/>
                    <a:lstStyle/>
                    <a:p>
                      <a:pPr>
                        <a:spcAft>
                          <a:spcPts val="4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GroundTruth</a:t>
                      </a:r>
                      <a:endParaRPr lang="vi-V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vi-VN" sz="1800" b="1">
                          <a:effectLst/>
                          <a:latin typeface="Calibri (Body)"/>
                          <a:ea typeface="Times New Roman" panose="02020603050405020304" pitchFamily="18" charset="0"/>
                        </a:rPr>
                        <a:t>0.2864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vi-VN" sz="1800" b="1">
                          <a:effectLst/>
                          <a:latin typeface="Calibri (Body)"/>
                          <a:ea typeface="Times New Roman" panose="02020603050405020304" pitchFamily="18" charset="0"/>
                        </a:rPr>
                        <a:t>0.2367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vi-VN" sz="1800" b="1">
                          <a:effectLst/>
                          <a:latin typeface="Calibri (Body)"/>
                          <a:ea typeface="Times New Roman" panose="02020603050405020304" pitchFamily="18" charset="0"/>
                        </a:rPr>
                        <a:t>0.1683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vi-VN" sz="1800" b="1">
                          <a:effectLst/>
                          <a:latin typeface="Calibri (Body)"/>
                          <a:ea typeface="Times New Roman" panose="02020603050405020304" pitchFamily="18" charset="0"/>
                        </a:rPr>
                        <a:t>0.2608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55945562"/>
                  </a:ext>
                </a:extLst>
              </a:tr>
              <a:tr h="404048">
                <a:tc>
                  <a:txBody>
                    <a:bodyPr/>
                    <a:lstStyle/>
                    <a:p>
                      <a:pPr>
                        <a:spcAft>
                          <a:spcPts val="4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GVMGen</a:t>
                      </a:r>
                      <a:endParaRPr lang="vi-V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vi-VN" sz="1800" b="0">
                          <a:effectLst/>
                          <a:latin typeface="Calibri (Body)"/>
                          <a:ea typeface="Times New Roman" panose="02020603050405020304" pitchFamily="18" charset="0"/>
                        </a:rPr>
                        <a:t> 0.1450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vi-VN" sz="1800" b="0">
                          <a:effectLst/>
                          <a:latin typeface="Calibri (Body)"/>
                          <a:ea typeface="Times New Roman" panose="02020603050405020304" pitchFamily="18" charset="0"/>
                        </a:rPr>
                        <a:t>0.0963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vi-VN" sz="1800" b="0">
                          <a:effectLst/>
                          <a:latin typeface="Calibri (Body)"/>
                          <a:ea typeface="Times New Roman" panose="02020603050405020304" pitchFamily="18" charset="0"/>
                        </a:rPr>
                        <a:t>0.1447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vi-VN" sz="1800" b="0">
                          <a:effectLst/>
                          <a:latin typeface="Calibri (Body)"/>
                          <a:ea typeface="Times New Roman" panose="02020603050405020304" pitchFamily="18" charset="0"/>
                        </a:rPr>
                        <a:t>0.1164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92238250"/>
                  </a:ext>
                </a:extLst>
              </a:tr>
              <a:tr h="435448">
                <a:tc>
                  <a:txBody>
                    <a:bodyPr/>
                    <a:lstStyle/>
                    <a:p>
                      <a:pPr>
                        <a:spcAft>
                          <a:spcPts val="4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V1</a:t>
                      </a:r>
                      <a:endParaRPr lang="vi-V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800" b="0" i="0" u="sng" kern="1200">
                          <a:solidFill>
                            <a:schemeClr val="dk1"/>
                          </a:solidFill>
                          <a:effectLst/>
                          <a:latin typeface="Calibri (Body)"/>
                          <a:ea typeface="+mn-ea"/>
                          <a:cs typeface="+mn-cs"/>
                        </a:rPr>
                        <a:t>0.231</a:t>
                      </a:r>
                      <a:r>
                        <a:rPr lang="vi-VN" sz="1800" b="0" u="sng">
                          <a:effectLst/>
                          <a:latin typeface="Calibri (Body)"/>
                          <a:ea typeface="Times New Roman" panose="02020603050405020304" pitchFamily="18" charset="0"/>
                        </a:rPr>
                        <a:t>7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800" b="0" i="0" kern="1200">
                          <a:solidFill>
                            <a:schemeClr val="dk1"/>
                          </a:solidFill>
                          <a:effectLst/>
                          <a:latin typeface="Calibri (Body)"/>
                          <a:ea typeface="+mn-ea"/>
                          <a:cs typeface="+mn-cs"/>
                        </a:rPr>
                        <a:t>0.0427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800" b="0" i="0" u="sng" kern="1200">
                          <a:solidFill>
                            <a:schemeClr val="dk1"/>
                          </a:solidFill>
                          <a:effectLst/>
                          <a:latin typeface="Calibri (Body)"/>
                          <a:ea typeface="+mn-ea"/>
                          <a:cs typeface="+mn-cs"/>
                        </a:rPr>
                        <a:t>0.1727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vi-VN" sz="1800" b="0">
                          <a:effectLst/>
                          <a:latin typeface="Calibri (Body)"/>
                          <a:ea typeface="Times New Roman" panose="02020603050405020304" pitchFamily="18" charset="0"/>
                        </a:rPr>
                        <a:t>0.1303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67182017"/>
                  </a:ext>
                </a:extLst>
              </a:tr>
              <a:tr h="435448">
                <a:tc>
                  <a:txBody>
                    <a:bodyPr/>
                    <a:lstStyle/>
                    <a:p>
                      <a:pPr>
                        <a:spcAft>
                          <a:spcPts val="400"/>
                        </a:spcAft>
                        <a:buNone/>
                      </a:pPr>
                      <a:r>
                        <a:rPr lang="en-US" sz="1600">
                          <a:effectLst/>
                          <a:latin typeface="Calibri (Body)"/>
                          <a:ea typeface="Times New Roman" panose="02020603050405020304" pitchFamily="18" charset="0"/>
                        </a:rPr>
                        <a:t>V2</a:t>
                      </a:r>
                      <a:endParaRPr lang="vi-VN" sz="1600">
                        <a:effectLst/>
                        <a:latin typeface="Calibri (Body)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sz="1800" b="0">
                          <a:effectLst/>
                          <a:latin typeface="Calibri (Body)"/>
                          <a:ea typeface="Times New Roman" panose="02020603050405020304" pitchFamily="18" charset="0"/>
                        </a:rPr>
                        <a:t>0.2122</a:t>
                      </a:r>
                      <a:endParaRPr lang="vi-VN" sz="1800" b="0">
                        <a:effectLst/>
                        <a:latin typeface="Calibri (Body)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sz="1800" b="0" u="sng">
                          <a:effectLst/>
                          <a:latin typeface="Calibri (Body)"/>
                          <a:ea typeface="Times New Roman" panose="02020603050405020304" pitchFamily="18" charset="0"/>
                        </a:rPr>
                        <a:t>0.1033</a:t>
                      </a:r>
                      <a:endParaRPr lang="vi-VN" sz="1800" b="0" u="sng">
                        <a:effectLst/>
                        <a:latin typeface="Calibri (Body)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vi-VN" sz="1800" b="0">
                          <a:effectLst/>
                          <a:latin typeface="Calibri (Body)"/>
                          <a:ea typeface="Times New Roman" panose="02020603050405020304" pitchFamily="18" charset="0"/>
                        </a:rPr>
                        <a:t>0.1615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sz="1800" b="0" u="sng">
                          <a:effectLst/>
                          <a:latin typeface="Calibri (Body)"/>
                          <a:ea typeface="Times New Roman" panose="02020603050405020304" pitchFamily="18" charset="0"/>
                        </a:rPr>
                        <a:t>0.1405</a:t>
                      </a:r>
                      <a:endParaRPr lang="vi-VN" sz="1800" b="0" u="sng">
                        <a:effectLst/>
                        <a:latin typeface="Calibri (Body)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20645493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3A62514-47EA-E467-6FC0-E3D5A3D096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0783026"/>
              </p:ext>
            </p:extLst>
          </p:nvPr>
        </p:nvGraphicFramePr>
        <p:xfrm>
          <a:off x="6586895" y="1908313"/>
          <a:ext cx="5117426" cy="211330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91050">
                  <a:extLst>
                    <a:ext uri="{9D8B030D-6E8A-4147-A177-3AD203B41FA5}">
                      <a16:colId xmlns:a16="http://schemas.microsoft.com/office/drawing/2014/main" val="412693069"/>
                    </a:ext>
                  </a:extLst>
                </a:gridCol>
                <a:gridCol w="1147872">
                  <a:extLst>
                    <a:ext uri="{9D8B030D-6E8A-4147-A177-3AD203B41FA5}">
                      <a16:colId xmlns:a16="http://schemas.microsoft.com/office/drawing/2014/main" val="2441692590"/>
                    </a:ext>
                  </a:extLst>
                </a:gridCol>
                <a:gridCol w="1278504">
                  <a:extLst>
                    <a:ext uri="{9D8B030D-6E8A-4147-A177-3AD203B41FA5}">
                      <a16:colId xmlns:a16="http://schemas.microsoft.com/office/drawing/2014/main" val="2496584307"/>
                    </a:ext>
                  </a:extLst>
                </a:gridCol>
              </a:tblGrid>
              <a:tr h="529105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Average values of test set</a:t>
                      </a:r>
                      <a:endParaRPr lang="vi-V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GVMGen</a:t>
                      </a:r>
                      <a:endParaRPr lang="vi-V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Proposed pipeline</a:t>
                      </a:r>
                      <a:endParaRPr lang="vi-V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53386537"/>
                  </a:ext>
                </a:extLst>
              </a:tr>
              <a:tr h="400049">
                <a:tc>
                  <a:txBody>
                    <a:bodyPr/>
                    <a:lstStyle/>
                    <a:p>
                      <a:pPr>
                        <a:spcAft>
                          <a:spcPts val="4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Video duration</a:t>
                      </a:r>
                      <a:endParaRPr lang="vi-V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198.54</a:t>
                      </a: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6443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4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Computational time (seconds)</a:t>
                      </a:r>
                      <a:endParaRPr lang="vi-V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8197.75</a:t>
                      </a:r>
                      <a:endParaRPr lang="vi-V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sz="1800" b="1">
                          <a:effectLst/>
                        </a:rPr>
                        <a:t>2245.19</a:t>
                      </a:r>
                      <a:endParaRPr lang="vi-VN" sz="16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66895729"/>
                  </a:ext>
                </a:extLst>
              </a:tr>
              <a:tr h="402619">
                <a:tc>
                  <a:txBody>
                    <a:bodyPr/>
                    <a:lstStyle/>
                    <a:p>
                      <a:pPr>
                        <a:spcAft>
                          <a:spcPts val="4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Memory usage (GB VRAM)</a:t>
                      </a:r>
                      <a:endParaRPr lang="vi-V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20.93</a:t>
                      </a:r>
                      <a:endParaRPr lang="vi-V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sz="1800" b="1">
                          <a:effectLst/>
                        </a:rPr>
                        <a:t>10.57</a:t>
                      </a:r>
                      <a:endParaRPr lang="vi-VN" sz="16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636639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4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Number of parameters (Billions)</a:t>
                      </a:r>
                      <a:endParaRPr lang="vi-V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en-US" sz="1800" b="1">
                          <a:effectLst/>
                        </a:rPr>
                        <a:t>2.2</a:t>
                      </a:r>
                      <a:endParaRPr lang="vi-VN" sz="16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lang="vi-VN" sz="1800">
                          <a:effectLst/>
                        </a:rPr>
                        <a:t>12.9</a:t>
                      </a:r>
                      <a:endParaRPr lang="vi-V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89142267"/>
                  </a:ext>
                </a:extLst>
              </a:tr>
            </a:tbl>
          </a:graphicData>
        </a:graphic>
      </p:graphicFrame>
      <p:grpSp>
        <p:nvGrpSpPr>
          <p:cNvPr id="9" name="Group 8">
            <a:extLst>
              <a:ext uri="{FF2B5EF4-FFF2-40B4-BE49-F238E27FC236}">
                <a16:creationId xmlns:a16="http://schemas.microsoft.com/office/drawing/2014/main" id="{53603920-9DF2-8CD4-A706-8302644D623F}"/>
              </a:ext>
            </a:extLst>
          </p:cNvPr>
          <p:cNvGrpSpPr/>
          <p:nvPr/>
        </p:nvGrpSpPr>
        <p:grpSpPr>
          <a:xfrm>
            <a:off x="487680" y="86082"/>
            <a:ext cx="11094720" cy="822960"/>
            <a:chOff x="864" y="1008"/>
            <a:chExt cx="17472" cy="1296"/>
          </a:xfrm>
        </p:grpSpPr>
        <p:sp>
          <p:nvSpPr>
            <p:cNvPr id="10" name="Chevron 22">
              <a:extLst>
                <a:ext uri="{FF2B5EF4-FFF2-40B4-BE49-F238E27FC236}">
                  <a16:creationId xmlns:a16="http://schemas.microsoft.com/office/drawing/2014/main" id="{E9D68D1C-78F1-6E40-7E3B-0A11A82D29F2}"/>
                </a:ext>
              </a:extLst>
            </p:cNvPr>
            <p:cNvSpPr/>
            <p:nvPr/>
          </p:nvSpPr>
          <p:spPr>
            <a:xfrm>
              <a:off x="864" y="1008"/>
              <a:ext cx="17472" cy="1296"/>
            </a:xfrm>
            <a:prstGeom prst="chevron">
              <a:avLst/>
            </a:prstGeom>
            <a:solidFill>
              <a:srgbClr val="106BC6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4">
              <a:extLst>
                <a:ext uri="{FF2B5EF4-FFF2-40B4-BE49-F238E27FC236}">
                  <a16:creationId xmlns:a16="http://schemas.microsoft.com/office/drawing/2014/main" id="{EB2CA912-8FEB-7392-C741-CB58D98BC191}"/>
                </a:ext>
              </a:extLst>
            </p:cNvPr>
            <p:cNvSpPr/>
            <p:nvPr/>
          </p:nvSpPr>
          <p:spPr>
            <a:xfrm>
              <a:off x="17328" y="1037"/>
              <a:ext cx="864" cy="1267"/>
            </a:xfrm>
            <a:prstGeom prst="rect">
              <a:avLst/>
            </a:prstGeom>
            <a:solidFill>
              <a:srgbClr val="002864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5">
              <a:extLst>
                <a:ext uri="{FF2B5EF4-FFF2-40B4-BE49-F238E27FC236}">
                  <a16:creationId xmlns:a16="http://schemas.microsoft.com/office/drawing/2014/main" id="{B4939676-B8D1-E209-BF45-F95AC9B9109F}"/>
                </a:ext>
              </a:extLst>
            </p:cNvPr>
            <p:cNvSpPr txBox="1"/>
            <p:nvPr/>
          </p:nvSpPr>
          <p:spPr>
            <a:xfrm>
              <a:off x="6038" y="1210"/>
              <a:ext cx="7123" cy="92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>
                <a:defRPr sz="4000" b="1">
                  <a:solidFill>
                    <a:srgbClr val="122B5E"/>
                  </a:solidFill>
                </a:defRPr>
              </a:pPr>
              <a:r>
                <a:rPr lang="en-US" sz="3200">
                  <a:solidFill>
                    <a:schemeClr val="bg1"/>
                  </a:solidFill>
                  <a:sym typeface="+mn-ea"/>
                </a:rPr>
                <a:t>3 – EXPERIMENT RESULTS</a:t>
              </a:r>
              <a:endParaRPr lang="en-US" sz="3200" dirty="0">
                <a:solidFill>
                  <a:schemeClr val="bg1"/>
                </a:solidFill>
                <a:sym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17959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randomBar dir="vert"/>
      </p:transition>
    </mc:Choice>
    <mc:Fallback xmlns="">
      <p:transition spd="med">
        <p:randomBar dir="vert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487680" y="86082"/>
            <a:ext cx="11094720" cy="822960"/>
            <a:chOff x="864" y="1008"/>
            <a:chExt cx="17472" cy="1296"/>
          </a:xfrm>
        </p:grpSpPr>
        <p:sp>
          <p:nvSpPr>
            <p:cNvPr id="5" name="Chevron 22"/>
            <p:cNvSpPr/>
            <p:nvPr/>
          </p:nvSpPr>
          <p:spPr>
            <a:xfrm>
              <a:off x="864" y="1008"/>
              <a:ext cx="17472" cy="1296"/>
            </a:xfrm>
            <a:prstGeom prst="chevron">
              <a:avLst/>
            </a:prstGeom>
            <a:solidFill>
              <a:srgbClr val="106BC6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4"/>
            <p:cNvSpPr/>
            <p:nvPr/>
          </p:nvSpPr>
          <p:spPr>
            <a:xfrm>
              <a:off x="17328" y="1037"/>
              <a:ext cx="864" cy="1267"/>
            </a:xfrm>
            <a:prstGeom prst="rect">
              <a:avLst/>
            </a:prstGeom>
            <a:solidFill>
              <a:srgbClr val="002864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5"/>
            <p:cNvSpPr txBox="1"/>
            <p:nvPr/>
          </p:nvSpPr>
          <p:spPr>
            <a:xfrm>
              <a:off x="3006" y="1213"/>
              <a:ext cx="13379" cy="9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2600" b="1">
                  <a:solidFill>
                    <a:srgbClr val="FFFFFF"/>
                  </a:solidFill>
                </a:defRPr>
              </a:pPr>
              <a:r>
                <a:rPr lang="en-US" sz="3200">
                  <a:solidFill>
                    <a:schemeClr val="bg1"/>
                  </a:solidFill>
                  <a:sym typeface="+mn-ea"/>
                </a:rPr>
                <a:t>4 </a:t>
              </a:r>
              <a:r>
                <a:rPr lang="en-US" sz="3200" dirty="0">
                  <a:solidFill>
                    <a:schemeClr val="bg1"/>
                  </a:solidFill>
                  <a:sym typeface="+mn-ea"/>
                </a:rPr>
                <a:t>– </a:t>
              </a:r>
              <a:r>
                <a:rPr lang="en-US" sz="3200" dirty="0"/>
                <a:t>CONCLUSION AND FUTURE WORK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DE6FA84-44E7-75D1-0A59-939C6D4B5E44}"/>
              </a:ext>
            </a:extLst>
          </p:cNvPr>
          <p:cNvSpPr txBox="1"/>
          <p:nvPr/>
        </p:nvSpPr>
        <p:spPr>
          <a:xfrm>
            <a:off x="502324" y="3561222"/>
            <a:ext cx="515419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000" b="1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/>
              <a:t>Proposed a language-mediated video-to-music framework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/>
              <a:t>Demonstrated improved semantic alignment and interpretability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/>
              <a:t>Fully open-source and suitable for web-based deployment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218B3A-99BE-5068-80ED-CF999840656C}"/>
              </a:ext>
            </a:extLst>
          </p:cNvPr>
          <p:cNvSpPr txBox="1"/>
          <p:nvPr/>
        </p:nvSpPr>
        <p:spPr>
          <a:xfrm>
            <a:off x="1754372" y="2506599"/>
            <a:ext cx="2302875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3000" b="1">
                <a:solidFill>
                  <a:srgbClr val="FFFFFF"/>
                </a:solidFill>
              </a:defRPr>
            </a:pPr>
            <a:r>
              <a:rPr lang="en-US">
                <a:solidFill>
                  <a:schemeClr val="accent1">
                    <a:lumMod val="75000"/>
                  </a:schemeClr>
                </a:solidFill>
              </a:rPr>
              <a:t>CONCLUSION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807510-C02B-B5A8-31B9-41A9DC9786CB}"/>
              </a:ext>
            </a:extLst>
          </p:cNvPr>
          <p:cNvSpPr txBox="1"/>
          <p:nvPr/>
        </p:nvSpPr>
        <p:spPr>
          <a:xfrm>
            <a:off x="7719237" y="2506599"/>
            <a:ext cx="2057551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3000" b="1">
                <a:solidFill>
                  <a:srgbClr val="FFFFFF"/>
                </a:solidFill>
              </a:defRPr>
            </a:pPr>
            <a:r>
              <a:rPr lang="en-US">
                <a:solidFill>
                  <a:schemeClr val="accent1">
                    <a:lumMod val="75000"/>
                  </a:schemeClr>
                </a:solidFill>
              </a:rPr>
              <a:t>LIMITATION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0C6B3F-0E1C-06DF-1E93-E3300102C0BB}"/>
              </a:ext>
            </a:extLst>
          </p:cNvPr>
          <p:cNvSpPr txBox="1"/>
          <p:nvPr/>
        </p:nvSpPr>
        <p:spPr>
          <a:xfrm>
            <a:off x="6372205" y="3429000"/>
            <a:ext cx="515419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000" b="1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/>
              <a:t>Limited beat-level synchronization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/>
              <a:t>Dependence on language models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/>
              <a:t>Limited controll over low-level musical elements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/>
              <a:t>Rely on embedding-based and signal-level metrics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ACDD4-ABA1-D2A1-A74A-FA5B48330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C189B61-26F4-E522-384C-16A1C11B6E51}"/>
              </a:ext>
            </a:extLst>
          </p:cNvPr>
          <p:cNvGrpSpPr/>
          <p:nvPr/>
        </p:nvGrpSpPr>
        <p:grpSpPr>
          <a:xfrm>
            <a:off x="487680" y="86082"/>
            <a:ext cx="11094720" cy="822960"/>
            <a:chOff x="864" y="1008"/>
            <a:chExt cx="17472" cy="1296"/>
          </a:xfrm>
        </p:grpSpPr>
        <p:sp>
          <p:nvSpPr>
            <p:cNvPr id="3" name="Chevron 22">
              <a:extLst>
                <a:ext uri="{FF2B5EF4-FFF2-40B4-BE49-F238E27FC236}">
                  <a16:creationId xmlns:a16="http://schemas.microsoft.com/office/drawing/2014/main" id="{7F8A0557-75DD-DF9C-330B-101B0478933A}"/>
                </a:ext>
              </a:extLst>
            </p:cNvPr>
            <p:cNvSpPr/>
            <p:nvPr/>
          </p:nvSpPr>
          <p:spPr>
            <a:xfrm>
              <a:off x="864" y="1008"/>
              <a:ext cx="17472" cy="1296"/>
            </a:xfrm>
            <a:prstGeom prst="chevron">
              <a:avLst/>
            </a:prstGeom>
            <a:solidFill>
              <a:srgbClr val="106BC6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AD4A622B-918C-F6D8-D899-929F907334FB}"/>
                </a:ext>
              </a:extLst>
            </p:cNvPr>
            <p:cNvSpPr/>
            <p:nvPr/>
          </p:nvSpPr>
          <p:spPr>
            <a:xfrm>
              <a:off x="17328" y="1037"/>
              <a:ext cx="864" cy="1267"/>
            </a:xfrm>
            <a:prstGeom prst="rect">
              <a:avLst/>
            </a:prstGeom>
            <a:solidFill>
              <a:srgbClr val="002864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TextBox 5">
              <a:extLst>
                <a:ext uri="{FF2B5EF4-FFF2-40B4-BE49-F238E27FC236}">
                  <a16:creationId xmlns:a16="http://schemas.microsoft.com/office/drawing/2014/main" id="{9FF31F11-AE69-67AB-0936-6EC100F1D368}"/>
                </a:ext>
              </a:extLst>
            </p:cNvPr>
            <p:cNvSpPr txBox="1"/>
            <p:nvPr/>
          </p:nvSpPr>
          <p:spPr>
            <a:xfrm>
              <a:off x="3006" y="1213"/>
              <a:ext cx="13379" cy="9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2600" b="1">
                  <a:solidFill>
                    <a:srgbClr val="FFFFFF"/>
                  </a:solidFill>
                </a:defRPr>
              </a:pPr>
              <a:r>
                <a:rPr lang="en-US" sz="3200">
                  <a:solidFill>
                    <a:schemeClr val="bg1"/>
                  </a:solidFill>
                  <a:sym typeface="+mn-ea"/>
                </a:rPr>
                <a:t>4 </a:t>
              </a:r>
              <a:r>
                <a:rPr lang="en-US" sz="3200" dirty="0">
                  <a:solidFill>
                    <a:schemeClr val="bg1"/>
                  </a:solidFill>
                  <a:sym typeface="+mn-ea"/>
                </a:rPr>
                <a:t>– </a:t>
              </a:r>
              <a:r>
                <a:rPr lang="en-US" sz="3200" dirty="0"/>
                <a:t>CONCLUSION AND FUTURE WORK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FBC1FF8F-8B1C-A8FE-4C68-0DF3E521990F}"/>
              </a:ext>
            </a:extLst>
          </p:cNvPr>
          <p:cNvSpPr txBox="1"/>
          <p:nvPr/>
        </p:nvSpPr>
        <p:spPr>
          <a:xfrm>
            <a:off x="4432502" y="1455039"/>
            <a:ext cx="2576475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3000" b="1">
                <a:solidFill>
                  <a:srgbClr val="FFFFFF"/>
                </a:solidFill>
              </a:defRPr>
            </a:pPr>
            <a:r>
              <a:rPr lang="en-US">
                <a:solidFill>
                  <a:schemeClr val="accent1">
                    <a:lumMod val="75000"/>
                  </a:schemeClr>
                </a:solidFill>
              </a:rPr>
              <a:t>FUTURE WORK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07E812-4164-3D5F-3B24-A6013EA13168}"/>
              </a:ext>
            </a:extLst>
          </p:cNvPr>
          <p:cNvSpPr/>
          <p:nvPr/>
        </p:nvSpPr>
        <p:spPr>
          <a:xfrm>
            <a:off x="4020435" y="2042514"/>
            <a:ext cx="3400608" cy="84101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71D669A-1556-022F-7E02-D278ECE49DEB}"/>
              </a:ext>
            </a:extLst>
          </p:cNvPr>
          <p:cNvSpPr txBox="1"/>
          <p:nvPr/>
        </p:nvSpPr>
        <p:spPr>
          <a:xfrm>
            <a:off x="2363489" y="2258202"/>
            <a:ext cx="746438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000" b="1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800" b="0"/>
              <a:t>Incorporating human-in-the-loop interaction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0"/>
              <a:t>Low-level musical constraints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0"/>
              <a:t>Improved temporal and rhythmic alignment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0"/>
              <a:t>User interactive prompt editing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0"/>
              <a:t>Integration with diffusion-based music models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b="0"/>
          </a:p>
        </p:txBody>
      </p:sp>
    </p:spTree>
    <p:extLst>
      <p:ext uri="{BB962C8B-B14F-4D97-AF65-F5344CB8AC3E}">
        <p14:creationId xmlns:p14="http://schemas.microsoft.com/office/powerpoint/2010/main" val="2954912876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138CE-E192-1CA9-192F-EB8D619C2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228217D-55FB-801E-A79F-B0031E091AB6}"/>
              </a:ext>
            </a:extLst>
          </p:cNvPr>
          <p:cNvGrpSpPr/>
          <p:nvPr/>
        </p:nvGrpSpPr>
        <p:grpSpPr>
          <a:xfrm>
            <a:off x="487680" y="86082"/>
            <a:ext cx="11094720" cy="822960"/>
            <a:chOff x="864" y="1008"/>
            <a:chExt cx="17472" cy="1296"/>
          </a:xfrm>
        </p:grpSpPr>
        <p:sp>
          <p:nvSpPr>
            <p:cNvPr id="3" name="Chevron 22">
              <a:extLst>
                <a:ext uri="{FF2B5EF4-FFF2-40B4-BE49-F238E27FC236}">
                  <a16:creationId xmlns:a16="http://schemas.microsoft.com/office/drawing/2014/main" id="{C7510A41-10CB-80E6-7808-5A58F50BC58A}"/>
                </a:ext>
              </a:extLst>
            </p:cNvPr>
            <p:cNvSpPr/>
            <p:nvPr/>
          </p:nvSpPr>
          <p:spPr>
            <a:xfrm>
              <a:off x="864" y="1008"/>
              <a:ext cx="17472" cy="1296"/>
            </a:xfrm>
            <a:prstGeom prst="chevron">
              <a:avLst/>
            </a:prstGeom>
            <a:solidFill>
              <a:srgbClr val="106BC6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51C68F33-D835-0BA0-3F02-10648C29F08E}"/>
                </a:ext>
              </a:extLst>
            </p:cNvPr>
            <p:cNvSpPr/>
            <p:nvPr/>
          </p:nvSpPr>
          <p:spPr>
            <a:xfrm>
              <a:off x="17328" y="1037"/>
              <a:ext cx="864" cy="1267"/>
            </a:xfrm>
            <a:prstGeom prst="rect">
              <a:avLst/>
            </a:prstGeom>
            <a:solidFill>
              <a:srgbClr val="002864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TextBox 5">
              <a:extLst>
                <a:ext uri="{FF2B5EF4-FFF2-40B4-BE49-F238E27FC236}">
                  <a16:creationId xmlns:a16="http://schemas.microsoft.com/office/drawing/2014/main" id="{CFB3E16F-FB5F-6E7C-AF0A-1984A2D07904}"/>
                </a:ext>
              </a:extLst>
            </p:cNvPr>
            <p:cNvSpPr txBox="1"/>
            <p:nvPr/>
          </p:nvSpPr>
          <p:spPr>
            <a:xfrm>
              <a:off x="3006" y="1213"/>
              <a:ext cx="13379" cy="9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2600" b="1">
                  <a:solidFill>
                    <a:srgbClr val="FFFFFF"/>
                  </a:solidFill>
                </a:defRPr>
              </a:pPr>
              <a:r>
                <a:rPr lang="en-US" sz="3200">
                  <a:solidFill>
                    <a:schemeClr val="bg1"/>
                  </a:solidFill>
                  <a:sym typeface="+mn-ea"/>
                </a:rPr>
                <a:t>5 – </a:t>
              </a:r>
              <a:r>
                <a:rPr lang="en-US" sz="3200"/>
                <a:t>DEMOSTRATION</a:t>
              </a:r>
              <a:endParaRPr lang="en-US" sz="3200" dirty="0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23B7B7CD-CB0F-6673-BFE2-FF4341F5A5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4434" y="1039217"/>
            <a:ext cx="7262496" cy="5291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584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push dir="u"/>
      </p:transition>
    </mc:Choice>
    <mc:Fallback xmlns="">
      <p:transition spd="med">
        <p:push dir="u"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38721" y="1773238"/>
            <a:ext cx="10029565" cy="1655762"/>
          </a:xfrm>
        </p:spPr>
        <p:txBody>
          <a:bodyPr/>
          <a:lstStyle/>
          <a:p>
            <a:r>
              <a:rPr lang="en-US" dirty="0"/>
              <a:t>Thank you for your listening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vi-VN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487680" y="86082"/>
            <a:ext cx="11094720" cy="822960"/>
            <a:chOff x="864" y="1008"/>
            <a:chExt cx="17472" cy="1296"/>
          </a:xfrm>
        </p:grpSpPr>
        <p:sp>
          <p:nvSpPr>
            <p:cNvPr id="23" name="Chevron 22"/>
            <p:cNvSpPr/>
            <p:nvPr/>
          </p:nvSpPr>
          <p:spPr>
            <a:xfrm>
              <a:off x="864" y="1008"/>
              <a:ext cx="17472" cy="1296"/>
            </a:xfrm>
            <a:prstGeom prst="chevron">
              <a:avLst/>
            </a:prstGeom>
            <a:solidFill>
              <a:srgbClr val="106BC6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Rectangle 4"/>
            <p:cNvSpPr/>
            <p:nvPr/>
          </p:nvSpPr>
          <p:spPr>
            <a:xfrm>
              <a:off x="17328" y="1037"/>
              <a:ext cx="864" cy="1267"/>
            </a:xfrm>
            <a:prstGeom prst="rect">
              <a:avLst/>
            </a:prstGeom>
            <a:solidFill>
              <a:srgbClr val="002864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TextBox 5"/>
            <p:cNvSpPr txBox="1"/>
            <p:nvPr/>
          </p:nvSpPr>
          <p:spPr>
            <a:xfrm>
              <a:off x="5473" y="1224"/>
              <a:ext cx="8066" cy="92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>
                <a:defRPr sz="4000" b="1">
                  <a:solidFill>
                    <a:srgbClr val="122B5E"/>
                  </a:solidFill>
                </a:defRPr>
              </a:pPr>
              <a:r>
                <a:rPr lang="en-US" sz="3200" dirty="0">
                  <a:solidFill>
                    <a:schemeClr val="bg1"/>
                  </a:solidFill>
                  <a:sym typeface="+mn-ea"/>
                </a:rPr>
                <a:t>CHAPTER 3 - METHODOLOGY</a:t>
              </a:r>
            </a:p>
          </p:txBody>
        </p:sp>
      </p:grpSp>
      <p:sp>
        <p:nvSpPr>
          <p:cNvPr id="28" name="Rounded Rectangle 27"/>
          <p:cNvSpPr/>
          <p:nvPr/>
        </p:nvSpPr>
        <p:spPr>
          <a:xfrm>
            <a:off x="-1" y="988556"/>
            <a:ext cx="5212079" cy="80010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>
              <a:sym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13734"/>
            <a:ext cx="3067050" cy="553085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3000" b="1">
                <a:solidFill>
                  <a:srgbClr val="FFFFFF"/>
                </a:solidFill>
              </a:defRPr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3.2 Backend &amp; API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rcRect r="53262"/>
          <a:stretch>
            <a:fillRect/>
          </a:stretch>
        </p:blipFill>
        <p:spPr>
          <a:xfrm>
            <a:off x="1655233" y="1920475"/>
            <a:ext cx="3879266" cy="382379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rcRect r="57274"/>
          <a:stretch>
            <a:fillRect/>
          </a:stretch>
        </p:blipFill>
        <p:spPr>
          <a:xfrm>
            <a:off x="5975350" y="2200993"/>
            <a:ext cx="3879266" cy="354327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vi-VN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vi-VN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vi-VN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lowchart: Delay 15"/>
          <p:cNvSpPr/>
          <p:nvPr/>
        </p:nvSpPr>
        <p:spPr>
          <a:xfrm>
            <a:off x="0" y="5026660"/>
            <a:ext cx="2449195" cy="1285875"/>
          </a:xfrm>
          <a:prstGeom prst="flowChartDelay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Placeholder 17" descr="image-removebg-preview"/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l="-651" t="2616" b="-1881"/>
          <a:stretch>
            <a:fillRect/>
          </a:stretch>
        </p:blipFill>
        <p:spPr>
          <a:xfrm>
            <a:off x="2823210" y="1536065"/>
            <a:ext cx="1574165" cy="1552575"/>
          </a:xfrm>
        </p:spPr>
      </p:pic>
      <p:sp>
        <p:nvSpPr>
          <p:cNvPr id="7" name="Rounded Rectangle 6"/>
          <p:cNvSpPr/>
          <p:nvPr/>
        </p:nvSpPr>
        <p:spPr>
          <a:xfrm>
            <a:off x="5026025" y="1878330"/>
            <a:ext cx="4554220" cy="1005840"/>
          </a:xfrm>
          <a:prstGeom prst="roundRect">
            <a:avLst/>
          </a:prstGeom>
          <a:solidFill>
            <a:srgbClr val="E9F2FD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just">
              <a:defRPr sz="2100" b="0">
                <a:solidFill>
                  <a:srgbClr val="152539"/>
                </a:solidFill>
              </a:defRPr>
            </a:pPr>
            <a:r>
              <a:rPr lang="en-US" altLang="en-US"/>
              <a:t>Development of a </a:t>
            </a:r>
            <a:r>
              <a:rPr lang="en-US" altLang="en-US" b="1"/>
              <a:t>bilingual</a:t>
            </a:r>
            <a:r>
              <a:rPr lang="en-US" altLang="en-US"/>
              <a:t> STI chatbot.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2475865" y="5037455"/>
            <a:ext cx="9646285" cy="1188720"/>
            <a:chOff x="1801" y="6624"/>
            <a:chExt cx="15191" cy="1872"/>
          </a:xfrm>
        </p:grpSpPr>
        <p:sp>
          <p:nvSpPr>
            <p:cNvPr id="9" name="Rounded Rectangle 8"/>
            <p:cNvSpPr/>
            <p:nvPr/>
          </p:nvSpPr>
          <p:spPr>
            <a:xfrm>
              <a:off x="1801" y="6624"/>
              <a:ext cx="5328" cy="1872"/>
            </a:xfrm>
            <a:prstGeom prst="roundRect">
              <a:avLst/>
            </a:prstGeom>
            <a:solidFill>
              <a:srgbClr val="E9F2FD"/>
            </a:solidFill>
            <a:ln w="9525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just">
                <a:defRPr sz="2000" b="0">
                  <a:solidFill>
                    <a:srgbClr val="152539"/>
                  </a:solidFill>
                </a:defRPr>
              </a:pPr>
              <a:r>
                <a:rPr lang="en-US" altLang="en-US"/>
                <a:t>Target audience: users aged 16–35 years who need to ask about sexually transmitted infections (STIs).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7452" y="6624"/>
              <a:ext cx="4608" cy="1872"/>
            </a:xfrm>
            <a:prstGeom prst="roundRect">
              <a:avLst/>
            </a:prstGeom>
            <a:solidFill>
              <a:srgbClr val="E9F2FD"/>
            </a:solidFill>
            <a:ln w="9525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2000" b="0">
                  <a:solidFill>
                    <a:srgbClr val="152539"/>
                  </a:solidFill>
                </a:defRPr>
              </a:pPr>
              <a:r>
                <a:rPr lang="en-US" altLang="en-US"/>
                <a:t>Location: Vietnam (Vietnamese preferred), English supported.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12384" y="6624"/>
              <a:ext cx="4608" cy="1872"/>
            </a:xfrm>
            <a:prstGeom prst="roundRect">
              <a:avLst/>
            </a:prstGeom>
            <a:solidFill>
              <a:srgbClr val="E9F2FD"/>
            </a:solidFill>
            <a:ln w="9525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2000" b="0">
                  <a:solidFill>
                    <a:srgbClr val="152539"/>
                  </a:solidFill>
                </a:defRPr>
              </a:pPr>
              <a:r>
                <a:rPr lang="en-US" altLang="en-US" dirty="0"/>
                <a:t>Time: 2025; data updated periodically according to CDC/WHO/NHS/Vinmec.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174625" y="1878330"/>
            <a:ext cx="2019935" cy="1076325"/>
            <a:chOff x="1622" y="-1198"/>
            <a:chExt cx="3181" cy="1695"/>
          </a:xfrm>
        </p:grpSpPr>
        <p:sp>
          <p:nvSpPr>
            <p:cNvPr id="6" name="TextBox 5"/>
            <p:cNvSpPr txBox="1"/>
            <p:nvPr/>
          </p:nvSpPr>
          <p:spPr>
            <a:xfrm>
              <a:off x="1622" y="-1198"/>
              <a:ext cx="3181" cy="169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>
                <a:defRPr sz="3200" b="1">
                  <a:solidFill>
                    <a:srgbClr val="FFFFFF"/>
                  </a:solidFill>
                </a:defRPr>
              </a:pPr>
              <a:r>
                <a:rPr>
                  <a:solidFill>
                    <a:schemeClr val="accent1">
                      <a:lumMod val="75000"/>
                    </a:schemeClr>
                  </a:solidFill>
                </a:rPr>
                <a:t>1.2 </a:t>
              </a:r>
              <a:r>
                <a:rPr lang="en-US">
                  <a:solidFill>
                    <a:schemeClr val="accent1">
                      <a:lumMod val="75000"/>
                    </a:schemeClr>
                  </a:solidFill>
                </a:rPr>
                <a:t> Target </a:t>
              </a:r>
            </a:p>
            <a:p>
              <a:pPr algn="l">
                <a:defRPr sz="3200" b="1">
                  <a:solidFill>
                    <a:srgbClr val="FFFFFF"/>
                  </a:solidFill>
                </a:defRPr>
              </a:pPr>
              <a:r>
                <a:rPr lang="en-US">
                  <a:solidFill>
                    <a:schemeClr val="accent1">
                      <a:lumMod val="75000"/>
                    </a:schemeClr>
                  </a:solidFill>
                </a:rPr>
                <a:t>research</a:t>
              </a:r>
              <a:r>
                <a:rPr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endParaRPr lang="en-US" altLang="en-US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25" name="Oval 24"/>
            <p:cNvSpPr/>
            <p:nvPr/>
          </p:nvSpPr>
          <p:spPr>
            <a:xfrm>
              <a:off x="1622" y="-1198"/>
              <a:ext cx="1128" cy="998"/>
            </a:xfrm>
            <a:prstGeom prst="ellipse">
              <a:avLst/>
            </a:prstGeom>
            <a:noFill/>
            <a:ln w="28575"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0"/>
              </a:gra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Text Box 14"/>
          <p:cNvSpPr txBox="1"/>
          <p:nvPr/>
        </p:nvSpPr>
        <p:spPr>
          <a:xfrm>
            <a:off x="174625" y="5102225"/>
            <a:ext cx="4721860" cy="9321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 lang="en-US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Object and </a:t>
            </a:r>
          </a:p>
          <a:p>
            <a:pPr algn="l">
              <a:defRPr sz="3200" b="1">
                <a:solidFill>
                  <a:srgbClr val="FFFFFF"/>
                </a:solidFill>
              </a:defRPr>
            </a:pPr>
            <a:r>
              <a:rPr lang="en-US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scope</a:t>
            </a:r>
          </a:p>
        </p:txBody>
      </p:sp>
      <p:sp>
        <p:nvSpPr>
          <p:cNvPr id="13" name="Oval 12"/>
          <p:cNvSpPr/>
          <p:nvPr/>
        </p:nvSpPr>
        <p:spPr>
          <a:xfrm>
            <a:off x="0" y="4606290"/>
            <a:ext cx="716280" cy="633730"/>
          </a:xfrm>
          <a:prstGeom prst="ellipse">
            <a:avLst/>
          </a:prstGeom>
          <a:solidFill>
            <a:schemeClr val="bg1"/>
          </a:solidFill>
          <a:ln w="28575">
            <a:gradFill>
              <a:gsLst>
                <a:gs pos="50000">
                  <a:schemeClr val="accent1"/>
                </a:gs>
                <a:gs pos="0">
                  <a:schemeClr val="accent1">
                    <a:lumMod val="25000"/>
                    <a:lumOff val="75000"/>
                  </a:schemeClr>
                </a:gs>
                <a:gs pos="100000">
                  <a:schemeClr val="accent1">
                    <a:lumMod val="8500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Box 21"/>
          <p:cNvSpPr txBox="1"/>
          <p:nvPr/>
        </p:nvSpPr>
        <p:spPr>
          <a:xfrm>
            <a:off x="0" y="4606290"/>
            <a:ext cx="92202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32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1.3</a:t>
            </a:r>
            <a:endParaRPr lang="en-US">
              <a:solidFill>
                <a:schemeClr val="accent1">
                  <a:lumMod val="75000"/>
                </a:schemeClr>
              </a:solidFill>
              <a:sym typeface="+mn-ea"/>
            </a:endParaRPr>
          </a:p>
        </p:txBody>
      </p:sp>
      <p:grpSp>
        <p:nvGrpSpPr>
          <p:cNvPr id="31" name="Group 30"/>
          <p:cNvGrpSpPr/>
          <p:nvPr/>
        </p:nvGrpSpPr>
        <p:grpSpPr>
          <a:xfrm>
            <a:off x="548640" y="640080"/>
            <a:ext cx="11094720" cy="822960"/>
            <a:chOff x="864" y="1008"/>
            <a:chExt cx="17472" cy="1296"/>
          </a:xfrm>
        </p:grpSpPr>
        <p:sp>
          <p:nvSpPr>
            <p:cNvPr id="32" name="Chevron 31"/>
            <p:cNvSpPr/>
            <p:nvPr/>
          </p:nvSpPr>
          <p:spPr>
            <a:xfrm>
              <a:off x="864" y="1008"/>
              <a:ext cx="17472" cy="1296"/>
            </a:xfrm>
            <a:prstGeom prst="chevron">
              <a:avLst/>
            </a:prstGeom>
            <a:solidFill>
              <a:srgbClr val="106BC6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Rectangle 4"/>
            <p:cNvSpPr/>
            <p:nvPr/>
          </p:nvSpPr>
          <p:spPr>
            <a:xfrm>
              <a:off x="17328" y="1037"/>
              <a:ext cx="864" cy="1267"/>
            </a:xfrm>
            <a:prstGeom prst="rect">
              <a:avLst/>
            </a:prstGeom>
            <a:solidFill>
              <a:srgbClr val="002864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TextBox 5"/>
            <p:cNvSpPr txBox="1"/>
            <p:nvPr/>
          </p:nvSpPr>
          <p:spPr>
            <a:xfrm>
              <a:off x="5473" y="1224"/>
              <a:ext cx="8611" cy="91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3200" b="1">
                  <a:solidFill>
                    <a:srgbClr val="FFFFFF"/>
                  </a:solidFill>
                </a:defRPr>
              </a:pPr>
              <a:r>
                <a:rPr lang="en-US"/>
                <a:t>CHAPTER </a:t>
              </a:r>
              <a:r>
                <a:t>01 — </a:t>
              </a:r>
              <a:r>
                <a:rPr lang="en-US"/>
                <a:t>INTRODUCTION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127000" y="1532255"/>
            <a:ext cx="12061190" cy="1908810"/>
            <a:chOff x="112" y="1170"/>
            <a:chExt cx="18994" cy="3006"/>
          </a:xfrm>
        </p:grpSpPr>
        <p:sp>
          <p:nvSpPr>
            <p:cNvPr id="4" name="Chevron 3"/>
            <p:cNvSpPr/>
            <p:nvPr/>
          </p:nvSpPr>
          <p:spPr>
            <a:xfrm>
              <a:off x="954" y="1170"/>
              <a:ext cx="7290" cy="1296"/>
            </a:xfrm>
            <a:prstGeom prst="chevron">
              <a:avLst>
                <a:gd name="adj" fmla="val 33641"/>
              </a:avLst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106BC6"/>
                  </a:solidFill>
                </a14:hiddenFill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21" name="Group 20"/>
            <p:cNvGrpSpPr/>
            <p:nvPr/>
          </p:nvGrpSpPr>
          <p:grpSpPr>
            <a:xfrm>
              <a:off x="112" y="1364"/>
              <a:ext cx="18994" cy="2812"/>
              <a:chOff x="112" y="1364"/>
              <a:chExt cx="18994" cy="2812"/>
            </a:xfrm>
          </p:grpSpPr>
          <p:sp>
            <p:nvSpPr>
              <p:cNvPr id="6" name="TextBox 5"/>
              <p:cNvSpPr txBox="1"/>
              <p:nvPr/>
            </p:nvSpPr>
            <p:spPr>
              <a:xfrm>
                <a:off x="1530" y="1364"/>
                <a:ext cx="3856" cy="919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l">
                  <a:defRPr sz="3200" b="1">
                    <a:solidFill>
                      <a:srgbClr val="FFFFFF"/>
                    </a:solidFill>
                  </a:defRPr>
                </a:pPr>
                <a:r>
                  <a:rPr>
                    <a:solidFill>
                      <a:schemeClr val="accent1">
                        <a:lumMod val="75000"/>
                      </a:schemeClr>
                    </a:solidFill>
                  </a:rPr>
                  <a:t>1.4 </a:t>
                </a:r>
                <a:r>
                  <a:rPr lang="en-US">
                    <a:solidFill>
                      <a:schemeClr val="accent1">
                        <a:lumMod val="75000"/>
                      </a:schemeClr>
                    </a:solidFill>
                  </a:rPr>
                  <a:t>	Method</a:t>
                </a:r>
                <a:endParaRPr lang="en-US" altLang="en-US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7" name="Rounded Rectangle 6"/>
              <p:cNvSpPr/>
              <p:nvPr/>
            </p:nvSpPr>
            <p:spPr>
              <a:xfrm>
                <a:off x="112" y="2736"/>
                <a:ext cx="3744" cy="1440"/>
              </a:xfrm>
              <a:prstGeom prst="roundRect">
                <a:avLst/>
              </a:prstGeom>
              <a:solidFill>
                <a:srgbClr val="E9F2FD"/>
              </a:solidFill>
              <a:ln w="9525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>
                  <a:defRPr sz="1800" b="0">
                    <a:solidFill>
                      <a:srgbClr val="152539"/>
                    </a:solidFill>
                  </a:defRPr>
                </a:pPr>
                <a:r>
                  <a:rPr lang="en-US" altLang="en-US" dirty="0"/>
                  <a:t>Data preprocessing (CDC/WHO/NHS/Vinmec)</a:t>
                </a:r>
              </a:p>
            </p:txBody>
          </p:sp>
          <p:sp>
            <p:nvSpPr>
              <p:cNvPr id="8" name="Rounded Rectangle 7"/>
              <p:cNvSpPr/>
              <p:nvPr/>
            </p:nvSpPr>
            <p:spPr>
              <a:xfrm>
                <a:off x="4178" y="2736"/>
                <a:ext cx="3744" cy="1440"/>
              </a:xfrm>
              <a:prstGeom prst="roundRect">
                <a:avLst/>
              </a:prstGeom>
              <a:solidFill>
                <a:srgbClr val="E9F2FD"/>
              </a:solidFill>
              <a:ln w="9525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>
                  <a:defRPr sz="1800" b="0">
                    <a:solidFill>
                      <a:srgbClr val="152539"/>
                    </a:solidFill>
                  </a:defRPr>
                </a:pPr>
                <a:r>
                  <a:rPr lang="en-US" altLang="en-US"/>
                  <a:t>Recall BM25 + FAISS</a:t>
                </a:r>
              </a:p>
            </p:txBody>
          </p:sp>
          <p:sp>
            <p:nvSpPr>
              <p:cNvPr id="9" name="Rounded Rectangle 8"/>
              <p:cNvSpPr/>
              <p:nvPr/>
            </p:nvSpPr>
            <p:spPr>
              <a:xfrm>
                <a:off x="8244" y="2736"/>
                <a:ext cx="3744" cy="1440"/>
              </a:xfrm>
              <a:prstGeom prst="roundRect">
                <a:avLst/>
              </a:prstGeom>
              <a:solidFill>
                <a:srgbClr val="E9F2FD"/>
              </a:solidFill>
              <a:ln w="9525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>
                  <a:defRPr sz="1800" b="0">
                    <a:solidFill>
                      <a:srgbClr val="152539"/>
                    </a:solidFill>
                  </a:defRPr>
                </a:pPr>
                <a:r>
                  <a:rPr lang="en-US" altLang="en-US"/>
                  <a:t>RRF Fusion Top-K Context</a:t>
                </a:r>
              </a:p>
            </p:txBody>
          </p:sp>
          <p:sp>
            <p:nvSpPr>
              <p:cNvPr id="10" name="Rounded Rectangle 9"/>
              <p:cNvSpPr/>
              <p:nvPr/>
            </p:nvSpPr>
            <p:spPr>
              <a:xfrm>
                <a:off x="12310" y="2736"/>
                <a:ext cx="3744" cy="1440"/>
              </a:xfrm>
              <a:prstGeom prst="roundRect">
                <a:avLst/>
              </a:prstGeom>
              <a:solidFill>
                <a:srgbClr val="E9F2FD"/>
              </a:solidFill>
              <a:ln w="9525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>
                  <a:defRPr sz="1800" b="0">
                    <a:solidFill>
                      <a:srgbClr val="152539"/>
                    </a:solidFill>
                  </a:defRPr>
                </a:pPr>
                <a:r>
                  <a:rPr lang="en-US" altLang="en-US" dirty="0"/>
                  <a:t>GraphRAG (optional) Concept extension</a:t>
                </a:r>
              </a:p>
            </p:txBody>
          </p:sp>
          <p:sp>
            <p:nvSpPr>
              <p:cNvPr id="11" name="Rounded Rectangle 10"/>
              <p:cNvSpPr/>
              <p:nvPr/>
            </p:nvSpPr>
            <p:spPr>
              <a:xfrm>
                <a:off x="16376" y="2736"/>
                <a:ext cx="2730" cy="1440"/>
              </a:xfrm>
              <a:prstGeom prst="roundRect">
                <a:avLst/>
              </a:prstGeom>
              <a:solidFill>
                <a:srgbClr val="E9F2FD"/>
              </a:solidFill>
              <a:ln w="9525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>
                  <a:defRPr sz="1600" b="0">
                    <a:solidFill>
                      <a:srgbClr val="152539"/>
                    </a:solidFill>
                  </a:defRPr>
                </a:pPr>
                <a:r>
                  <a:rPr lang="en-US" altLang="en-US" sz="1800"/>
                  <a:t>Evaluation</a:t>
                </a:r>
              </a:p>
            </p:txBody>
          </p:sp>
        </p:grpSp>
      </p:grpSp>
      <p:grpSp>
        <p:nvGrpSpPr>
          <p:cNvPr id="18" name="Group 17"/>
          <p:cNvGrpSpPr/>
          <p:nvPr/>
        </p:nvGrpSpPr>
        <p:grpSpPr>
          <a:xfrm>
            <a:off x="604520" y="5276215"/>
            <a:ext cx="10607039" cy="1143000"/>
            <a:chOff x="1152" y="6624"/>
            <a:chExt cx="16704" cy="1800"/>
          </a:xfrm>
        </p:grpSpPr>
        <p:sp>
          <p:nvSpPr>
            <p:cNvPr id="12" name="Rounded Rectangle 11"/>
            <p:cNvSpPr/>
            <p:nvPr/>
          </p:nvSpPr>
          <p:spPr>
            <a:xfrm>
              <a:off x="1152" y="6624"/>
              <a:ext cx="5328" cy="1800"/>
            </a:xfrm>
            <a:prstGeom prst="roundRect">
              <a:avLst/>
            </a:prstGeom>
            <a:solidFill>
              <a:srgbClr val="E9F2FD"/>
            </a:solidFill>
            <a:ln w="9525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800" b="0">
                  <a:solidFill>
                    <a:srgbClr val="152539"/>
                  </a:solidFill>
                </a:defRPr>
              </a:pPr>
              <a:r>
                <a:rPr lang="en-US" altLang="en-US"/>
                <a:t>Contribute to </a:t>
              </a:r>
              <a:r>
                <a:rPr lang="en-US" altLang="en-US" b="1"/>
                <a:t>standardizing </a:t>
              </a:r>
              <a:r>
                <a:rPr lang="en-US" altLang="en-US"/>
                <a:t>STI information in Vietnamese, increasing accessibility and reducing incorrect self-treatment.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6912" y="6624"/>
              <a:ext cx="5328" cy="1800"/>
            </a:xfrm>
            <a:prstGeom prst="roundRect">
              <a:avLst/>
            </a:prstGeom>
            <a:solidFill>
              <a:srgbClr val="E9F2FD"/>
            </a:solidFill>
            <a:ln w="9525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800" b="0">
                  <a:solidFill>
                    <a:srgbClr val="152539"/>
                  </a:solidFill>
                </a:defRPr>
              </a:pPr>
              <a:r>
                <a:rPr lang="en-US" altLang="en-US" dirty="0"/>
                <a:t>Provide reusable </a:t>
              </a:r>
              <a:r>
                <a:rPr lang="en-US" altLang="en-US" b="1" dirty="0"/>
                <a:t>technical solutions</a:t>
              </a:r>
              <a:r>
                <a:rPr lang="en-US" altLang="en-US" dirty="0"/>
                <a:t>: hybrid retrieval + GraphRAG, source citation, security policy.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12528" y="6624"/>
              <a:ext cx="5328" cy="1800"/>
            </a:xfrm>
            <a:prstGeom prst="roundRect">
              <a:avLst/>
            </a:prstGeom>
            <a:solidFill>
              <a:srgbClr val="E9F2FD"/>
            </a:solidFill>
            <a:ln w="9525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800" b="0">
                  <a:solidFill>
                    <a:srgbClr val="152539"/>
                  </a:solidFill>
                </a:defRPr>
              </a:pPr>
              <a:r>
                <a:rPr lang="en-US" altLang="en-US"/>
                <a:t>Create a foundation for </a:t>
              </a:r>
              <a:r>
                <a:rPr lang="en-US" altLang="en-US" b="1"/>
                <a:t>real-world implementation</a:t>
              </a:r>
              <a:r>
                <a:rPr lang="en-US" altLang="en-US"/>
                <a:t> at school/local level, expanding to other health consulting.</a:t>
              </a:r>
            </a:p>
          </p:txBody>
        </p:sp>
      </p:grpSp>
      <p:pic>
        <p:nvPicPr>
          <p:cNvPr id="23" name="Picture 22"/>
          <p:cNvPicPr/>
          <p:nvPr/>
        </p:nvPicPr>
        <p:blipFill>
          <a:blip/>
          <a:stretch>
            <a:fillRect/>
          </a:stretch>
        </p:blipFill>
        <p:spPr>
          <a:xfrm>
            <a:off x="5905500" y="3787140"/>
            <a:ext cx="381000" cy="381000"/>
          </a:xfrm>
          <a:prstGeom prst="rect">
            <a:avLst/>
          </a:prstGeom>
        </p:spPr>
      </p:pic>
      <p:grpSp>
        <p:nvGrpSpPr>
          <p:cNvPr id="27" name="Group 26"/>
          <p:cNvGrpSpPr/>
          <p:nvPr/>
        </p:nvGrpSpPr>
        <p:grpSpPr>
          <a:xfrm>
            <a:off x="3343275" y="4072890"/>
            <a:ext cx="6272530" cy="817880"/>
            <a:chOff x="1842" y="5867"/>
            <a:chExt cx="9878" cy="1288"/>
          </a:xfrm>
        </p:grpSpPr>
        <p:sp>
          <p:nvSpPr>
            <p:cNvPr id="26" name="Flowchart: Terminator 25"/>
            <p:cNvSpPr/>
            <p:nvPr/>
          </p:nvSpPr>
          <p:spPr>
            <a:xfrm>
              <a:off x="1842" y="5867"/>
              <a:ext cx="9879" cy="1288"/>
            </a:xfrm>
            <a:prstGeom prst="flowChartTerminator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106BC6"/>
                  </a:solidFill>
                </a14:hiddenFill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l">
                <a:buClrTx/>
                <a:buSzTx/>
                <a:buFontTx/>
              </a:pPr>
              <a:endParaRPr sz="3200" b="1">
                <a:solidFill>
                  <a:srgbClr val="FFFFFF"/>
                </a:solidFill>
                <a:sym typeface="+mn-ea"/>
              </a:endParaRPr>
            </a:p>
            <a:p>
              <a:pPr lvl="0" algn="l">
                <a:buClrTx/>
                <a:buSzTx/>
                <a:buFontTx/>
              </a:pPr>
              <a:r>
                <a:rPr sz="3200" b="1">
                  <a:solidFill>
                    <a:schemeClr val="accent1">
                      <a:lumMod val="75000"/>
                    </a:schemeClr>
                  </a:solidFill>
                  <a:sym typeface="+mn-ea"/>
                </a:rPr>
                <a:t>1.5 </a:t>
              </a:r>
              <a:r>
                <a:rPr lang="en-US" sz="3200" b="1">
                  <a:solidFill>
                    <a:schemeClr val="accent1">
                      <a:lumMod val="75000"/>
                    </a:schemeClr>
                  </a:solidFill>
                  <a:sym typeface="+mn-ea"/>
                </a:rPr>
                <a:t>	</a:t>
              </a:r>
              <a:r>
                <a:rPr sz="3200" b="1">
                  <a:solidFill>
                    <a:schemeClr val="accent1">
                      <a:lumMod val="75000"/>
                    </a:schemeClr>
                  </a:solidFill>
                  <a:sym typeface="+mn-ea"/>
                </a:rPr>
                <a:t>Practical significance</a:t>
              </a:r>
            </a:p>
            <a:p>
              <a:pPr lvl="0" algn="l">
                <a:buClrTx/>
                <a:buSzTx/>
                <a:buFontTx/>
              </a:pPr>
              <a:endParaRPr sz="3200" b="1">
                <a:solidFill>
                  <a:schemeClr val="accent1">
                    <a:lumMod val="75000"/>
                  </a:schemeClr>
                </a:solidFill>
                <a:sym typeface="+mn-ea"/>
              </a:endParaRPr>
            </a:p>
          </p:txBody>
        </p:sp>
        <p:sp>
          <p:nvSpPr>
            <p:cNvPr id="24" name="Oval 23"/>
            <p:cNvSpPr/>
            <p:nvPr/>
          </p:nvSpPr>
          <p:spPr>
            <a:xfrm>
              <a:off x="2285" y="6012"/>
              <a:ext cx="1128" cy="998"/>
            </a:xfrm>
            <a:prstGeom prst="ellipse">
              <a:avLst/>
            </a:prstGeom>
            <a:noFill/>
            <a:ln w="28575"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0"/>
              </a:gra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9" name="Picture 28"/>
          <p:cNvPicPr/>
          <p:nvPr/>
        </p:nvPicPr>
        <p:blipFill>
          <a:blip r:embed="rId2"/>
          <a:stretch>
            <a:fillRect/>
          </a:stretch>
        </p:blipFill>
        <p:spPr>
          <a:xfrm>
            <a:off x="1743710" y="3728720"/>
            <a:ext cx="1503045" cy="1259205"/>
          </a:xfrm>
          <a:prstGeom prst="rect">
            <a:avLst/>
          </a:prstGeom>
        </p:spPr>
      </p:pic>
      <p:grpSp>
        <p:nvGrpSpPr>
          <p:cNvPr id="31" name="Group 30"/>
          <p:cNvGrpSpPr/>
          <p:nvPr/>
        </p:nvGrpSpPr>
        <p:grpSpPr>
          <a:xfrm>
            <a:off x="548640" y="640080"/>
            <a:ext cx="11094720" cy="822960"/>
            <a:chOff x="864" y="1008"/>
            <a:chExt cx="17472" cy="1296"/>
          </a:xfrm>
        </p:grpSpPr>
        <p:sp>
          <p:nvSpPr>
            <p:cNvPr id="32" name="Chevron 31"/>
            <p:cNvSpPr/>
            <p:nvPr/>
          </p:nvSpPr>
          <p:spPr>
            <a:xfrm>
              <a:off x="864" y="1008"/>
              <a:ext cx="17472" cy="1296"/>
            </a:xfrm>
            <a:prstGeom prst="chevron">
              <a:avLst/>
            </a:prstGeom>
            <a:solidFill>
              <a:srgbClr val="106BC6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Rectangle 4"/>
            <p:cNvSpPr/>
            <p:nvPr/>
          </p:nvSpPr>
          <p:spPr>
            <a:xfrm>
              <a:off x="17328" y="1037"/>
              <a:ext cx="864" cy="1267"/>
            </a:xfrm>
            <a:prstGeom prst="rect">
              <a:avLst/>
            </a:prstGeom>
            <a:solidFill>
              <a:srgbClr val="002864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TextBox 5"/>
            <p:cNvSpPr txBox="1"/>
            <p:nvPr/>
          </p:nvSpPr>
          <p:spPr>
            <a:xfrm>
              <a:off x="5473" y="1224"/>
              <a:ext cx="8611" cy="91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3200" b="1">
                  <a:solidFill>
                    <a:srgbClr val="FFFFFF"/>
                  </a:solidFill>
                </a:defRPr>
              </a:pPr>
              <a:r>
                <a:rPr lang="en-US"/>
                <a:t>CHAPTER </a:t>
              </a:r>
              <a:r>
                <a:t>01 — </a:t>
              </a:r>
              <a:r>
                <a:rPr lang="en-US"/>
                <a:t>INTRODUCTION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0.8,&quot;left&quot;:114.3,&quot;top&quot;:46.2,&quot;width&quot;:749.7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0.8,&quot;left&quot;:114.3,&quot;top&quot;:46.2,&quot;width&quot;:749.7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0.8,&quot;left&quot;:114.3,&quot;top&quot;:46.2,&quot;width&quot;:749.7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0.8,&quot;left&quot;:114.3,&quot;top&quot;:46.2,&quot;width&quot;:749.7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0.8,&quot;left&quot;:114.3,&quot;top&quot;:46.2,&quot;width&quot;:749.7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0.8,&quot;left&quot;:114.3,&quot;top&quot;:46.2,&quot;width&quot;:749.7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0.8,&quot;left&quot;:114.3,&quot;top&quot;:46.2,&quot;width&quot;:749.7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0.8,&quot;left&quot;:114.3,&quot;top&quot;:46.2,&quot;width&quot;:749.7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0.8,&quot;left&quot;:114.3,&quot;top&quot;:46.2,&quot;width&quot;:749.7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0.8,&quot;left&quot;:114.3,&quot;top&quot;:46.2,&quot;width&quot;:749.7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60.8,&quot;left&quot;:114.3,&quot;top&quot;:46.2,&quot;width&quot;:749.7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8.84984251968507,&quot;left&quot;:-7.874015748031496e-05,&quot;top&quot;:6.778110236220472,&quot;width&quot;:912.000078740157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437</TotalTime>
  <Words>3901</Words>
  <Application>Microsoft Office PowerPoint</Application>
  <PresentationFormat>Widescreen</PresentationFormat>
  <Paragraphs>584</Paragraphs>
  <Slides>26</Slides>
  <Notes>11</Notes>
  <HiddenSlides>3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6" baseType="lpstr">
      <vt:lpstr>Times New Roman</vt:lpstr>
      <vt:lpstr>Readex Pro</vt:lpstr>
      <vt:lpstr>Calibri (Body)</vt:lpstr>
      <vt:lpstr>Cambria Math</vt:lpstr>
      <vt:lpstr>Aptos</vt:lpstr>
      <vt:lpstr>K2D</vt:lpstr>
      <vt:lpstr>Calibri</vt:lpstr>
      <vt:lpstr>Barlow</vt:lpstr>
      <vt:lpstr>Arial</vt:lpstr>
      <vt:lpstr>Office Theme</vt:lpstr>
      <vt:lpstr>DEVELOPING A WEB APPLICATION FOR MUSIC GENERATION FROM VIDEO USING NATURAL LANGUAGE AS INTERMEDIARY USING OPEN SOURCE AI MODELS</vt:lpstr>
      <vt:lpstr>DEVELOPING A WEB APPLICATION FOR MUSIC GENERATION FROM VIDEO USING NATURAL LANGUAGE AS INTERMEDIARY USING OPEN SOURCE AI MODELS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for your listening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Can Tho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PowerPointTemplate_Blank</dc:title>
  <dc:creator>CTU Media</dc:creator>
  <cp:lastModifiedBy>Thuận Phan</cp:lastModifiedBy>
  <cp:revision>273</cp:revision>
  <dcterms:created xsi:type="dcterms:W3CDTF">2022-07-01T08:15:00Z</dcterms:created>
  <dcterms:modified xsi:type="dcterms:W3CDTF">2026-01-27T13:52:59Z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365C1CCE83484E2DBA316D777B0C0D0B_12</vt:lpwstr>
  </property>
  <property fmtid="{D5CDD505-2E9C-101B-9397-08002B2CF9AE}" pid="3" name="KSOProductBuildVer">
    <vt:lpwstr>1033-12.2.0.23196</vt:lpwstr>
  </property>
</Properties>
</file>